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pitch: if you pick the fastest sampling setup on your GPU at a given image quality, is it still the right choice on mine? Caching and 8-bit kernels change the cost of a network call without changing the step count, and their speedups are measured on one GPU. The figure is a cartoon of diffusion and flow-matching sampling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speedups are reported on one GPU and are fragile; FORA gave 0.99× (no speedup) on an RTX 5090 at batch 1. H1 is the baseline: if each GPU only scales latency by a constant, the best choice transfers. H2 explains departures with a small cost model (compute, memory, fixed overhead) checked on held-out configurations. H3 is exploratory: does feature-reuse error predict how much caching hurts FID? I deliberately make no claim that flow matching tolerates caching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 = 2 models × 2 samplers each × 3 step counts × 4 execution modes (FP16, FORA-style caching, INT8, FP8), all public checkpoints, nothing trained. Kernels a GPU lacks, such as FP8 on the T4, are reported separately and excluded from transfer comparisons. Transfer penalty: for each pair of GPUs and an FID ceiling, take the fastest eligible configuration on the source, measure it on the target, divide by the target's own fastest eligible latency, minus one. Images are generated on the RTX 5080 (about 6 GPU-hours for the pilot), with a subset regenerated on the other GPUs to confirm quality transfers. Stable choices with small penalties are also a useful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457200" y="411480"/>
            <a:ext cx="8229600" cy="201168"/>
          </a:xfrm>
          <a:prstGeom prst="rect">
            <a:avLst/>
          </a:prstGeom>
          <a:noFill/>
          <a:ln/>
        </p:spPr>
        <p:txBody>
          <a:bodyPr wrap="square" lIns="0" tIns="0" rIns="0" bIns="0" rtlCol="0" anchor="t"/>
          <a:lstStyle/>
          <a:p>
            <a:pPr indent="0" marL="0">
              <a:buNone/>
            </a:pPr>
            <a:r>
              <a:rPr lang="en-US" sz="850" dirty="0">
                <a:solidFill>
                  <a:srgbClr val="D9482B"/>
                </a:solidFill>
                <a:latin typeface="Courier New" pitchFamily="34" charset="0"/>
                <a:ea typeface="Courier New" pitchFamily="34" charset="-122"/>
                <a:cs typeface="Courier New" pitchFamily="34" charset="-120"/>
              </a:rPr>
              <a:t>PROJECT PROPOSAL  ·  ADVANCED TOPICS IN ARTIFICIAL INTELLIGENCE  ·  2026–27</a:t>
            </a:r>
            <a:endParaRPr lang="en-US" sz="850" dirty="0"/>
          </a:p>
        </p:txBody>
      </p:sp>
      <p:sp>
        <p:nvSpPr>
          <p:cNvPr id="3" name="Text 1"/>
          <p:cNvSpPr/>
          <p:nvPr/>
        </p:nvSpPr>
        <p:spPr>
          <a:xfrm>
            <a:off x="457200" y="868680"/>
            <a:ext cx="4846320" cy="2011680"/>
          </a:xfrm>
          <a:prstGeom prst="rect">
            <a:avLst/>
          </a:prstGeom>
          <a:noFill/>
          <a:ln/>
        </p:spPr>
        <p:txBody>
          <a:bodyPr wrap="square" lIns="0" tIns="0" rIns="0" bIns="0" rtlCol="0" anchor="t"/>
          <a:lstStyle/>
          <a:p>
            <a:pPr indent="0" marL="0">
              <a:buNone/>
            </a:pPr>
            <a:r>
              <a:rPr lang="en-US" sz="3000" dirty="0">
                <a:solidFill>
                  <a:srgbClr val="1C1B19"/>
                </a:solidFill>
                <a:latin typeface="Georgia" pitchFamily="34" charset="0"/>
                <a:ea typeface="Georgia" pitchFamily="34" charset="-122"/>
                <a:cs typeface="Georgia" pitchFamily="34" charset="-120"/>
              </a:rPr>
              <a:t>Do efficient generative sampling choices transfer across GPUs?</a:t>
            </a:r>
            <a:endParaRPr lang="en-US" sz="3000" dirty="0"/>
          </a:p>
        </p:txBody>
      </p:sp>
      <p:sp>
        <p:nvSpPr>
          <p:cNvPr id="4" name="Text 2"/>
          <p:cNvSpPr/>
          <p:nvPr/>
        </p:nvSpPr>
        <p:spPr>
          <a:xfrm>
            <a:off x="457200" y="3108960"/>
            <a:ext cx="4389120" cy="548640"/>
          </a:xfrm>
          <a:prstGeom prst="rect">
            <a:avLst/>
          </a:prstGeom>
          <a:noFill/>
          <a:ln/>
        </p:spPr>
        <p:txBody>
          <a:bodyPr wrap="square" lIns="0" tIns="0" rIns="0" bIns="0" rtlCol="0" anchor="t"/>
          <a:lstStyle/>
          <a:p>
            <a:pPr indent="0" marL="0">
              <a:buNone/>
            </a:pPr>
            <a:r>
              <a:rPr lang="en-US" sz="1400" i="1" dirty="0">
                <a:solidFill>
                  <a:srgbClr val="6B665C"/>
                </a:solidFill>
                <a:latin typeface="Georgia" pitchFamily="34" charset="0"/>
                <a:ea typeface="Georgia" pitchFamily="34" charset="-122"/>
                <a:cs typeface="Georgia" pitchFamily="34" charset="-120"/>
              </a:rPr>
              <a:t>Training-free acceleration of diffusion and flow-matching transformers, measured on three GPU platforms.</a:t>
            </a:r>
            <a:endParaRPr lang="en-US" sz="1400" dirty="0"/>
          </a:p>
        </p:txBody>
      </p:sp>
      <p:sp>
        <p:nvSpPr>
          <p:cNvPr id="5" name="Shape 3"/>
          <p:cNvSpPr/>
          <p:nvPr/>
        </p:nvSpPr>
        <p:spPr>
          <a:xfrm>
            <a:off x="457200" y="4160520"/>
            <a:ext cx="4389120" cy="0"/>
          </a:xfrm>
          <a:prstGeom prst="line">
            <a:avLst/>
          </a:prstGeom>
          <a:noFill/>
          <a:ln w="9525">
            <a:solidFill>
              <a:srgbClr val="1C1B19"/>
            </a:solidFill>
            <a:prstDash val="solid"/>
          </a:ln>
        </p:spPr>
      </p:sp>
      <p:sp>
        <p:nvSpPr>
          <p:cNvPr id="6" name="Text 4"/>
          <p:cNvSpPr/>
          <p:nvPr/>
        </p:nvSpPr>
        <p:spPr>
          <a:xfrm>
            <a:off x="457200" y="4251960"/>
            <a:ext cx="3657600" cy="228600"/>
          </a:xfrm>
          <a:prstGeom prst="rect">
            <a:avLst/>
          </a:prstGeom>
          <a:noFill/>
          <a:ln/>
        </p:spPr>
        <p:txBody>
          <a:bodyPr wrap="square" lIns="0" tIns="0" rIns="0" bIns="0" rtlCol="0" anchor="t"/>
          <a:lstStyle/>
          <a:p>
            <a:pPr indent="0" marL="0">
              <a:buNone/>
            </a:pPr>
            <a:r>
              <a:rPr lang="en-US" sz="1200" b="1" dirty="0">
                <a:solidFill>
                  <a:srgbClr val="1C1B19"/>
                </a:solidFill>
                <a:latin typeface="Arial" pitchFamily="34" charset="0"/>
                <a:ea typeface="Arial" pitchFamily="34" charset="-122"/>
                <a:cs typeface="Arial" pitchFamily="34" charset="-120"/>
              </a:rPr>
              <a:t>Iason-Daniil Zakynthinos</a:t>
            </a:r>
            <a:endParaRPr lang="en-US" sz="1200" dirty="0"/>
          </a:p>
        </p:txBody>
      </p:sp>
      <p:sp>
        <p:nvSpPr>
          <p:cNvPr id="7" name="Text 5"/>
          <p:cNvSpPr/>
          <p:nvPr/>
        </p:nvSpPr>
        <p:spPr>
          <a:xfrm>
            <a:off x="457200" y="4498848"/>
            <a:ext cx="3657600" cy="201168"/>
          </a:xfrm>
          <a:prstGeom prst="rect">
            <a:avLst/>
          </a:prstGeom>
          <a:noFill/>
          <a:ln/>
        </p:spPr>
        <p:txBody>
          <a:bodyPr wrap="square" lIns="0" tIns="0" rIns="0" bIns="0" rtlCol="0" anchor="t"/>
          <a:lstStyle/>
          <a:p>
            <a:pPr indent="0" marL="0">
              <a:buNone/>
            </a:pPr>
            <a:r>
              <a:rPr lang="en-US" sz="900" dirty="0">
                <a:solidFill>
                  <a:srgbClr val="6B665C"/>
                </a:solidFill>
                <a:latin typeface="Courier New" pitchFamily="34" charset="0"/>
                <a:ea typeface="Courier New" pitchFamily="34" charset="-122"/>
                <a:cs typeface="Courier New" pitchFamily="34" charset="-120"/>
              </a:rPr>
              <a:t>NTUA · ECE · October 2026</a:t>
            </a:r>
            <a:endParaRPr lang="en-US" sz="900" dirty="0"/>
          </a:p>
        </p:txBody>
      </p:sp>
      <p:sp>
        <p:nvSpPr>
          <p:cNvPr id="8" name="Shape 6"/>
          <p:cNvSpPr/>
          <p:nvPr/>
        </p:nvSpPr>
        <p:spPr>
          <a:xfrm>
            <a:off x="5532120" y="914400"/>
            <a:ext cx="0" cy="3246120"/>
          </a:xfrm>
          <a:prstGeom prst="line">
            <a:avLst/>
          </a:prstGeom>
          <a:noFill/>
          <a:ln w="6350">
            <a:solidFill>
              <a:srgbClr val="C9C2B4"/>
            </a:solidFill>
            <a:prstDash val="solid"/>
          </a:ln>
        </p:spPr>
      </p:sp>
      <p:sp>
        <p:nvSpPr>
          <p:cNvPr id="9" name="Shape 7"/>
          <p:cNvSpPr/>
          <p:nvPr/>
        </p:nvSpPr>
        <p:spPr>
          <a:xfrm>
            <a:off x="5733288" y="3904488"/>
            <a:ext cx="54864" cy="54864"/>
          </a:xfrm>
          <a:prstGeom prst="ellipse">
            <a:avLst/>
          </a:prstGeom>
          <a:solidFill>
            <a:srgbClr val="2F5D62"/>
          </a:solidFill>
          <a:ln w="12700">
            <a:solidFill>
              <a:srgbClr val="2F5D62"/>
            </a:solidFill>
            <a:prstDash val="solid"/>
          </a:ln>
        </p:spPr>
      </p:sp>
      <p:sp>
        <p:nvSpPr>
          <p:cNvPr id="10" name="Shape 8"/>
          <p:cNvSpPr/>
          <p:nvPr/>
        </p:nvSpPr>
        <p:spPr>
          <a:xfrm>
            <a:off x="5733288" y="3904488"/>
            <a:ext cx="54864" cy="54864"/>
          </a:xfrm>
          <a:prstGeom prst="ellipse">
            <a:avLst/>
          </a:prstGeom>
          <a:solidFill>
            <a:srgbClr val="D9482B"/>
          </a:solidFill>
          <a:ln w="12700">
            <a:solidFill>
              <a:srgbClr val="D9482B"/>
            </a:solidFill>
            <a:prstDash val="solid"/>
          </a:ln>
        </p:spPr>
      </p:sp>
      <p:sp>
        <p:nvSpPr>
          <p:cNvPr id="11" name="Shape 9"/>
          <p:cNvSpPr/>
          <p:nvPr/>
        </p:nvSpPr>
        <p:spPr>
          <a:xfrm>
            <a:off x="5853823" y="3775641"/>
            <a:ext cx="54864" cy="54864"/>
          </a:xfrm>
          <a:prstGeom prst="ellipse">
            <a:avLst/>
          </a:prstGeom>
          <a:solidFill>
            <a:srgbClr val="2F5D62"/>
          </a:solidFill>
          <a:ln w="12700">
            <a:solidFill>
              <a:srgbClr val="2F5D62"/>
            </a:solidFill>
            <a:prstDash val="solid"/>
          </a:ln>
        </p:spPr>
      </p:sp>
      <p:sp>
        <p:nvSpPr>
          <p:cNvPr id="12" name="Shape 10"/>
          <p:cNvSpPr/>
          <p:nvPr/>
        </p:nvSpPr>
        <p:spPr>
          <a:xfrm>
            <a:off x="5900488" y="3819110"/>
            <a:ext cx="54864" cy="54864"/>
          </a:xfrm>
          <a:prstGeom prst="ellipse">
            <a:avLst/>
          </a:prstGeom>
          <a:solidFill>
            <a:srgbClr val="D9482B"/>
          </a:solidFill>
          <a:ln w="12700">
            <a:solidFill>
              <a:srgbClr val="D9482B"/>
            </a:solidFill>
            <a:prstDash val="solid"/>
          </a:ln>
        </p:spPr>
      </p:sp>
      <p:sp>
        <p:nvSpPr>
          <p:cNvPr id="13" name="Shape 11"/>
          <p:cNvSpPr/>
          <p:nvPr/>
        </p:nvSpPr>
        <p:spPr>
          <a:xfrm>
            <a:off x="5974357" y="3646793"/>
            <a:ext cx="54864" cy="54864"/>
          </a:xfrm>
          <a:prstGeom prst="ellipse">
            <a:avLst/>
          </a:prstGeom>
          <a:solidFill>
            <a:srgbClr val="2F5D62"/>
          </a:solidFill>
          <a:ln w="12700">
            <a:solidFill>
              <a:srgbClr val="2F5D62"/>
            </a:solidFill>
            <a:prstDash val="solid"/>
          </a:ln>
        </p:spPr>
      </p:sp>
      <p:sp>
        <p:nvSpPr>
          <p:cNvPr id="14" name="Shape 12"/>
          <p:cNvSpPr/>
          <p:nvPr/>
        </p:nvSpPr>
        <p:spPr>
          <a:xfrm>
            <a:off x="6095152" y="3759315"/>
            <a:ext cx="54864" cy="54864"/>
          </a:xfrm>
          <a:prstGeom prst="ellipse">
            <a:avLst/>
          </a:prstGeom>
          <a:solidFill>
            <a:srgbClr val="D9482B"/>
          </a:solidFill>
          <a:ln w="12700">
            <a:solidFill>
              <a:srgbClr val="D9482B"/>
            </a:solidFill>
            <a:prstDash val="solid"/>
          </a:ln>
        </p:spPr>
      </p:sp>
      <p:sp>
        <p:nvSpPr>
          <p:cNvPr id="15" name="Shape 13"/>
          <p:cNvSpPr/>
          <p:nvPr/>
        </p:nvSpPr>
        <p:spPr>
          <a:xfrm>
            <a:off x="6094892" y="3517946"/>
            <a:ext cx="54864" cy="54864"/>
          </a:xfrm>
          <a:prstGeom prst="ellipse">
            <a:avLst/>
          </a:prstGeom>
          <a:solidFill>
            <a:srgbClr val="2F5D62"/>
          </a:solidFill>
          <a:ln w="12700">
            <a:solidFill>
              <a:srgbClr val="2F5D62"/>
            </a:solidFill>
            <a:prstDash val="solid"/>
          </a:ln>
        </p:spPr>
      </p:sp>
      <p:sp>
        <p:nvSpPr>
          <p:cNvPr id="16" name="Shape 14"/>
          <p:cNvSpPr/>
          <p:nvPr/>
        </p:nvSpPr>
        <p:spPr>
          <a:xfrm>
            <a:off x="6297465" y="3706645"/>
            <a:ext cx="54864" cy="54864"/>
          </a:xfrm>
          <a:prstGeom prst="ellipse">
            <a:avLst/>
          </a:prstGeom>
          <a:solidFill>
            <a:srgbClr val="D9482B"/>
          </a:solidFill>
          <a:ln w="12700">
            <a:solidFill>
              <a:srgbClr val="D9482B"/>
            </a:solidFill>
            <a:prstDash val="solid"/>
          </a:ln>
        </p:spPr>
      </p:sp>
      <p:sp>
        <p:nvSpPr>
          <p:cNvPr id="17" name="Shape 15"/>
          <p:cNvSpPr/>
          <p:nvPr/>
        </p:nvSpPr>
        <p:spPr>
          <a:xfrm>
            <a:off x="6215426" y="3389099"/>
            <a:ext cx="54864" cy="54864"/>
          </a:xfrm>
          <a:prstGeom prst="ellipse">
            <a:avLst/>
          </a:prstGeom>
          <a:solidFill>
            <a:srgbClr val="2F5D62"/>
          </a:solidFill>
          <a:ln w="12700">
            <a:solidFill>
              <a:srgbClr val="2F5D62"/>
            </a:solidFill>
            <a:prstDash val="solid"/>
          </a:ln>
        </p:spPr>
      </p:sp>
      <p:sp>
        <p:nvSpPr>
          <p:cNvPr id="18" name="Shape 16"/>
          <p:cNvSpPr/>
          <p:nvPr/>
        </p:nvSpPr>
        <p:spPr>
          <a:xfrm>
            <a:off x="6485093" y="3640295"/>
            <a:ext cx="54864" cy="54864"/>
          </a:xfrm>
          <a:prstGeom prst="ellipse">
            <a:avLst/>
          </a:prstGeom>
          <a:solidFill>
            <a:srgbClr val="D9482B"/>
          </a:solidFill>
          <a:ln w="12700">
            <a:solidFill>
              <a:srgbClr val="D9482B"/>
            </a:solidFill>
            <a:prstDash val="solid"/>
          </a:ln>
        </p:spPr>
      </p:sp>
      <p:sp>
        <p:nvSpPr>
          <p:cNvPr id="19" name="Shape 17"/>
          <p:cNvSpPr/>
          <p:nvPr/>
        </p:nvSpPr>
        <p:spPr>
          <a:xfrm>
            <a:off x="6335961" y="3260252"/>
            <a:ext cx="54864" cy="54864"/>
          </a:xfrm>
          <a:prstGeom prst="ellipse">
            <a:avLst/>
          </a:prstGeom>
          <a:solidFill>
            <a:srgbClr val="2F5D62"/>
          </a:solidFill>
          <a:ln w="12700">
            <a:solidFill>
              <a:srgbClr val="2F5D62"/>
            </a:solidFill>
            <a:prstDash val="solid"/>
          </a:ln>
        </p:spPr>
      </p:sp>
      <p:sp>
        <p:nvSpPr>
          <p:cNvPr id="20" name="Shape 18"/>
          <p:cNvSpPr/>
          <p:nvPr/>
        </p:nvSpPr>
        <p:spPr>
          <a:xfrm>
            <a:off x="6637926" y="3541535"/>
            <a:ext cx="54864" cy="54864"/>
          </a:xfrm>
          <a:prstGeom prst="ellipse">
            <a:avLst/>
          </a:prstGeom>
          <a:solidFill>
            <a:srgbClr val="D9482B"/>
          </a:solidFill>
          <a:ln w="12700">
            <a:solidFill>
              <a:srgbClr val="D9482B"/>
            </a:solidFill>
            <a:prstDash val="solid"/>
          </a:ln>
        </p:spPr>
      </p:sp>
      <p:sp>
        <p:nvSpPr>
          <p:cNvPr id="21" name="Shape 19"/>
          <p:cNvSpPr/>
          <p:nvPr/>
        </p:nvSpPr>
        <p:spPr>
          <a:xfrm>
            <a:off x="6456495" y="3131404"/>
            <a:ext cx="54864" cy="54864"/>
          </a:xfrm>
          <a:prstGeom prst="ellipse">
            <a:avLst/>
          </a:prstGeom>
          <a:solidFill>
            <a:srgbClr val="2F5D62"/>
          </a:solidFill>
          <a:ln w="12700">
            <a:solidFill>
              <a:srgbClr val="2F5D62"/>
            </a:solidFill>
            <a:prstDash val="solid"/>
          </a:ln>
        </p:spPr>
      </p:sp>
      <p:sp>
        <p:nvSpPr>
          <p:cNvPr id="22" name="Shape 20"/>
          <p:cNvSpPr/>
          <p:nvPr/>
        </p:nvSpPr>
        <p:spPr>
          <a:xfrm>
            <a:off x="6742396" y="3397723"/>
            <a:ext cx="54864" cy="54864"/>
          </a:xfrm>
          <a:prstGeom prst="ellipse">
            <a:avLst/>
          </a:prstGeom>
          <a:solidFill>
            <a:srgbClr val="D9482B"/>
          </a:solidFill>
          <a:ln w="12700">
            <a:solidFill>
              <a:srgbClr val="D9482B"/>
            </a:solidFill>
            <a:prstDash val="solid"/>
          </a:ln>
        </p:spPr>
      </p:sp>
      <p:sp>
        <p:nvSpPr>
          <p:cNvPr id="23" name="Shape 21"/>
          <p:cNvSpPr/>
          <p:nvPr/>
        </p:nvSpPr>
        <p:spPr>
          <a:xfrm>
            <a:off x="6577030" y="3002557"/>
            <a:ext cx="54864" cy="54864"/>
          </a:xfrm>
          <a:prstGeom prst="ellipse">
            <a:avLst/>
          </a:prstGeom>
          <a:solidFill>
            <a:srgbClr val="2F5D62"/>
          </a:solidFill>
          <a:ln w="12700">
            <a:solidFill>
              <a:srgbClr val="2F5D62"/>
            </a:solidFill>
            <a:prstDash val="solid"/>
          </a:ln>
        </p:spPr>
      </p:sp>
      <p:sp>
        <p:nvSpPr>
          <p:cNvPr id="24" name="Shape 22"/>
          <p:cNvSpPr/>
          <p:nvPr/>
        </p:nvSpPr>
        <p:spPr>
          <a:xfrm>
            <a:off x="6794458" y="3205093"/>
            <a:ext cx="54864" cy="54864"/>
          </a:xfrm>
          <a:prstGeom prst="ellipse">
            <a:avLst/>
          </a:prstGeom>
          <a:solidFill>
            <a:srgbClr val="D9482B"/>
          </a:solidFill>
          <a:ln w="12700">
            <a:solidFill>
              <a:srgbClr val="D9482B"/>
            </a:solidFill>
            <a:prstDash val="solid"/>
          </a:ln>
        </p:spPr>
      </p:sp>
      <p:sp>
        <p:nvSpPr>
          <p:cNvPr id="25" name="Shape 23"/>
          <p:cNvSpPr/>
          <p:nvPr/>
        </p:nvSpPr>
        <p:spPr>
          <a:xfrm>
            <a:off x="6697564" y="2873710"/>
            <a:ext cx="54864" cy="54864"/>
          </a:xfrm>
          <a:prstGeom prst="ellipse">
            <a:avLst/>
          </a:prstGeom>
          <a:solidFill>
            <a:srgbClr val="2F5D62"/>
          </a:solidFill>
          <a:ln w="12700">
            <a:solidFill>
              <a:srgbClr val="2F5D62"/>
            </a:solidFill>
            <a:prstDash val="solid"/>
          </a:ln>
        </p:spPr>
      </p:sp>
      <p:sp>
        <p:nvSpPr>
          <p:cNvPr id="26" name="Shape 24"/>
          <p:cNvSpPr/>
          <p:nvPr/>
        </p:nvSpPr>
        <p:spPr>
          <a:xfrm>
            <a:off x="6800638" y="2969724"/>
            <a:ext cx="54864" cy="54864"/>
          </a:xfrm>
          <a:prstGeom prst="ellipse">
            <a:avLst/>
          </a:prstGeom>
          <a:solidFill>
            <a:srgbClr val="D9482B"/>
          </a:solidFill>
          <a:ln w="12700">
            <a:solidFill>
              <a:srgbClr val="D9482B"/>
            </a:solidFill>
            <a:prstDash val="solid"/>
          </a:ln>
        </p:spPr>
      </p:sp>
      <p:sp>
        <p:nvSpPr>
          <p:cNvPr id="27" name="Shape 25"/>
          <p:cNvSpPr/>
          <p:nvPr/>
        </p:nvSpPr>
        <p:spPr>
          <a:xfrm>
            <a:off x="6818099" y="2744863"/>
            <a:ext cx="54864" cy="54864"/>
          </a:xfrm>
          <a:prstGeom prst="ellipse">
            <a:avLst/>
          </a:prstGeom>
          <a:solidFill>
            <a:srgbClr val="2F5D62"/>
          </a:solidFill>
          <a:ln w="12700">
            <a:solidFill>
              <a:srgbClr val="2F5D62"/>
            </a:solidFill>
            <a:prstDash val="solid"/>
          </a:ln>
        </p:spPr>
      </p:sp>
      <p:sp>
        <p:nvSpPr>
          <p:cNvPr id="28" name="Shape 26"/>
          <p:cNvSpPr/>
          <p:nvPr/>
        </p:nvSpPr>
        <p:spPr>
          <a:xfrm>
            <a:off x="6776916" y="2706500"/>
            <a:ext cx="54864" cy="54864"/>
          </a:xfrm>
          <a:prstGeom prst="ellipse">
            <a:avLst/>
          </a:prstGeom>
          <a:solidFill>
            <a:srgbClr val="D9482B"/>
          </a:solidFill>
          <a:ln w="12700">
            <a:solidFill>
              <a:srgbClr val="D9482B"/>
            </a:solidFill>
            <a:prstDash val="solid"/>
          </a:ln>
        </p:spPr>
      </p:sp>
      <p:sp>
        <p:nvSpPr>
          <p:cNvPr id="29" name="Shape 27"/>
          <p:cNvSpPr/>
          <p:nvPr/>
        </p:nvSpPr>
        <p:spPr>
          <a:xfrm>
            <a:off x="6938633" y="2616015"/>
            <a:ext cx="54864" cy="54864"/>
          </a:xfrm>
          <a:prstGeom prst="ellipse">
            <a:avLst/>
          </a:prstGeom>
          <a:solidFill>
            <a:srgbClr val="2F5D62"/>
          </a:solidFill>
          <a:ln w="12700">
            <a:solidFill>
              <a:srgbClr val="2F5D62"/>
            </a:solidFill>
            <a:prstDash val="solid"/>
          </a:ln>
        </p:spPr>
      </p:sp>
      <p:sp>
        <p:nvSpPr>
          <p:cNvPr id="30" name="Shape 28"/>
          <p:cNvSpPr/>
          <p:nvPr/>
        </p:nvSpPr>
        <p:spPr>
          <a:xfrm>
            <a:off x="6745662" y="2436261"/>
            <a:ext cx="54864" cy="54864"/>
          </a:xfrm>
          <a:prstGeom prst="ellipse">
            <a:avLst/>
          </a:prstGeom>
          <a:solidFill>
            <a:srgbClr val="D9482B"/>
          </a:solidFill>
          <a:ln w="12700">
            <a:solidFill>
              <a:srgbClr val="D9482B"/>
            </a:solidFill>
            <a:prstDash val="solid"/>
          </a:ln>
        </p:spPr>
      </p:sp>
      <p:sp>
        <p:nvSpPr>
          <p:cNvPr id="31" name="Shape 29"/>
          <p:cNvSpPr/>
          <p:nvPr/>
        </p:nvSpPr>
        <p:spPr>
          <a:xfrm>
            <a:off x="7059168" y="2487168"/>
            <a:ext cx="54864" cy="54864"/>
          </a:xfrm>
          <a:prstGeom prst="ellipse">
            <a:avLst/>
          </a:prstGeom>
          <a:solidFill>
            <a:srgbClr val="2F5D62"/>
          </a:solidFill>
          <a:ln w="12700">
            <a:solidFill>
              <a:srgbClr val="2F5D62"/>
            </a:solidFill>
            <a:prstDash val="solid"/>
          </a:ln>
        </p:spPr>
      </p:sp>
      <p:sp>
        <p:nvSpPr>
          <p:cNvPr id="32" name="Shape 30"/>
          <p:cNvSpPr/>
          <p:nvPr/>
        </p:nvSpPr>
        <p:spPr>
          <a:xfrm>
            <a:off x="6731262" y="2181721"/>
            <a:ext cx="54864" cy="54864"/>
          </a:xfrm>
          <a:prstGeom prst="ellipse">
            <a:avLst/>
          </a:prstGeom>
          <a:solidFill>
            <a:srgbClr val="D9482B"/>
          </a:solidFill>
          <a:ln w="12700">
            <a:solidFill>
              <a:srgbClr val="D9482B"/>
            </a:solidFill>
            <a:prstDash val="solid"/>
          </a:ln>
        </p:spPr>
      </p:sp>
      <p:sp>
        <p:nvSpPr>
          <p:cNvPr id="33" name="Shape 31"/>
          <p:cNvSpPr/>
          <p:nvPr/>
        </p:nvSpPr>
        <p:spPr>
          <a:xfrm>
            <a:off x="7179703" y="2358321"/>
            <a:ext cx="54864" cy="54864"/>
          </a:xfrm>
          <a:prstGeom prst="ellipse">
            <a:avLst/>
          </a:prstGeom>
          <a:solidFill>
            <a:srgbClr val="2F5D62"/>
          </a:solidFill>
          <a:ln w="12700">
            <a:solidFill>
              <a:srgbClr val="2F5D62"/>
            </a:solidFill>
            <a:prstDash val="solid"/>
          </a:ln>
        </p:spPr>
      </p:sp>
      <p:sp>
        <p:nvSpPr>
          <p:cNvPr id="34" name="Shape 32"/>
          <p:cNvSpPr/>
          <p:nvPr/>
        </p:nvSpPr>
        <p:spPr>
          <a:xfrm>
            <a:off x="6755308" y="1962994"/>
            <a:ext cx="54864" cy="54864"/>
          </a:xfrm>
          <a:prstGeom prst="ellipse">
            <a:avLst/>
          </a:prstGeom>
          <a:solidFill>
            <a:srgbClr val="D9482B"/>
          </a:solidFill>
          <a:ln w="12700">
            <a:solidFill>
              <a:srgbClr val="D9482B"/>
            </a:solidFill>
            <a:prstDash val="solid"/>
          </a:ln>
        </p:spPr>
      </p:sp>
      <p:sp>
        <p:nvSpPr>
          <p:cNvPr id="35" name="Shape 33"/>
          <p:cNvSpPr/>
          <p:nvPr/>
        </p:nvSpPr>
        <p:spPr>
          <a:xfrm>
            <a:off x="7300237" y="2229473"/>
            <a:ext cx="54864" cy="54864"/>
          </a:xfrm>
          <a:prstGeom prst="ellipse">
            <a:avLst/>
          </a:prstGeom>
          <a:solidFill>
            <a:srgbClr val="2F5D62"/>
          </a:solidFill>
          <a:ln w="12700">
            <a:solidFill>
              <a:srgbClr val="2F5D62"/>
            </a:solidFill>
            <a:prstDash val="solid"/>
          </a:ln>
        </p:spPr>
      </p:sp>
      <p:sp>
        <p:nvSpPr>
          <p:cNvPr id="36" name="Shape 34"/>
          <p:cNvSpPr/>
          <p:nvPr/>
        </p:nvSpPr>
        <p:spPr>
          <a:xfrm>
            <a:off x="6832348" y="1793632"/>
            <a:ext cx="54864" cy="54864"/>
          </a:xfrm>
          <a:prstGeom prst="ellipse">
            <a:avLst/>
          </a:prstGeom>
          <a:solidFill>
            <a:srgbClr val="D9482B"/>
          </a:solidFill>
          <a:ln w="12700">
            <a:solidFill>
              <a:srgbClr val="D9482B"/>
            </a:solidFill>
            <a:prstDash val="solid"/>
          </a:ln>
        </p:spPr>
      </p:sp>
      <p:sp>
        <p:nvSpPr>
          <p:cNvPr id="37" name="Shape 35"/>
          <p:cNvSpPr/>
          <p:nvPr/>
        </p:nvSpPr>
        <p:spPr>
          <a:xfrm>
            <a:off x="7420772" y="2100626"/>
            <a:ext cx="54864" cy="54864"/>
          </a:xfrm>
          <a:prstGeom prst="ellipse">
            <a:avLst/>
          </a:prstGeom>
          <a:solidFill>
            <a:srgbClr val="2F5D62"/>
          </a:solidFill>
          <a:ln w="12700">
            <a:solidFill>
              <a:srgbClr val="2F5D62"/>
            </a:solidFill>
            <a:prstDash val="solid"/>
          </a:ln>
        </p:spPr>
      </p:sp>
      <p:sp>
        <p:nvSpPr>
          <p:cNvPr id="38" name="Shape 36"/>
          <p:cNvSpPr/>
          <p:nvPr/>
        </p:nvSpPr>
        <p:spPr>
          <a:xfrm>
            <a:off x="6967056" y="1677987"/>
            <a:ext cx="54864" cy="54864"/>
          </a:xfrm>
          <a:prstGeom prst="ellipse">
            <a:avLst/>
          </a:prstGeom>
          <a:solidFill>
            <a:srgbClr val="D9482B"/>
          </a:solidFill>
          <a:ln w="12700">
            <a:solidFill>
              <a:srgbClr val="D9482B"/>
            </a:solidFill>
            <a:prstDash val="solid"/>
          </a:ln>
        </p:spPr>
      </p:sp>
      <p:sp>
        <p:nvSpPr>
          <p:cNvPr id="39" name="Shape 37"/>
          <p:cNvSpPr/>
          <p:nvPr/>
        </p:nvSpPr>
        <p:spPr>
          <a:xfrm>
            <a:off x="7541306" y="1971779"/>
            <a:ext cx="54864" cy="54864"/>
          </a:xfrm>
          <a:prstGeom prst="ellipse">
            <a:avLst/>
          </a:prstGeom>
          <a:solidFill>
            <a:srgbClr val="2F5D62"/>
          </a:solidFill>
          <a:ln w="12700">
            <a:solidFill>
              <a:srgbClr val="2F5D62"/>
            </a:solidFill>
            <a:prstDash val="solid"/>
          </a:ln>
        </p:spPr>
      </p:sp>
      <p:sp>
        <p:nvSpPr>
          <p:cNvPr id="40" name="Shape 38"/>
          <p:cNvSpPr/>
          <p:nvPr/>
        </p:nvSpPr>
        <p:spPr>
          <a:xfrm>
            <a:off x="7153392" y="1610434"/>
            <a:ext cx="54864" cy="54864"/>
          </a:xfrm>
          <a:prstGeom prst="ellipse">
            <a:avLst/>
          </a:prstGeom>
          <a:solidFill>
            <a:srgbClr val="D9482B"/>
          </a:solidFill>
          <a:ln w="12700">
            <a:solidFill>
              <a:srgbClr val="D9482B"/>
            </a:solidFill>
            <a:prstDash val="solid"/>
          </a:ln>
        </p:spPr>
      </p:sp>
      <p:sp>
        <p:nvSpPr>
          <p:cNvPr id="41" name="Shape 39"/>
          <p:cNvSpPr/>
          <p:nvPr/>
        </p:nvSpPr>
        <p:spPr>
          <a:xfrm>
            <a:off x="7661841" y="1842932"/>
            <a:ext cx="54864" cy="54864"/>
          </a:xfrm>
          <a:prstGeom prst="ellipse">
            <a:avLst/>
          </a:prstGeom>
          <a:solidFill>
            <a:srgbClr val="2F5D62"/>
          </a:solidFill>
          <a:ln w="12700">
            <a:solidFill>
              <a:srgbClr val="2F5D62"/>
            </a:solidFill>
            <a:prstDash val="solid"/>
          </a:ln>
        </p:spPr>
      </p:sp>
      <p:sp>
        <p:nvSpPr>
          <p:cNvPr id="42" name="Shape 40"/>
          <p:cNvSpPr/>
          <p:nvPr/>
        </p:nvSpPr>
        <p:spPr>
          <a:xfrm>
            <a:off x="7375940" y="1576613"/>
            <a:ext cx="54864" cy="54864"/>
          </a:xfrm>
          <a:prstGeom prst="ellipse">
            <a:avLst/>
          </a:prstGeom>
          <a:solidFill>
            <a:srgbClr val="D9482B"/>
          </a:solidFill>
          <a:ln w="12700">
            <a:solidFill>
              <a:srgbClr val="D9482B"/>
            </a:solidFill>
            <a:prstDash val="solid"/>
          </a:ln>
        </p:spPr>
      </p:sp>
      <p:sp>
        <p:nvSpPr>
          <p:cNvPr id="43" name="Shape 41"/>
          <p:cNvSpPr/>
          <p:nvPr/>
        </p:nvSpPr>
        <p:spPr>
          <a:xfrm>
            <a:off x="7782375" y="1714084"/>
            <a:ext cx="54864" cy="54864"/>
          </a:xfrm>
          <a:prstGeom prst="ellipse">
            <a:avLst/>
          </a:prstGeom>
          <a:solidFill>
            <a:srgbClr val="2F5D62"/>
          </a:solidFill>
          <a:ln w="12700">
            <a:solidFill>
              <a:srgbClr val="2F5D62"/>
            </a:solidFill>
            <a:prstDash val="solid"/>
          </a:ln>
        </p:spPr>
      </p:sp>
      <p:sp>
        <p:nvSpPr>
          <p:cNvPr id="44" name="Shape 42"/>
          <p:cNvSpPr/>
          <p:nvPr/>
        </p:nvSpPr>
        <p:spPr>
          <a:xfrm>
            <a:off x="7613122" y="1556424"/>
            <a:ext cx="54864" cy="54864"/>
          </a:xfrm>
          <a:prstGeom prst="ellipse">
            <a:avLst/>
          </a:prstGeom>
          <a:solidFill>
            <a:srgbClr val="D9482B"/>
          </a:solidFill>
          <a:ln w="12700">
            <a:solidFill>
              <a:srgbClr val="D9482B"/>
            </a:solidFill>
            <a:prstDash val="solid"/>
          </a:ln>
        </p:spPr>
      </p:sp>
      <p:sp>
        <p:nvSpPr>
          <p:cNvPr id="45" name="Shape 43"/>
          <p:cNvSpPr/>
          <p:nvPr/>
        </p:nvSpPr>
        <p:spPr>
          <a:xfrm>
            <a:off x="7902910" y="1585237"/>
            <a:ext cx="54864" cy="54864"/>
          </a:xfrm>
          <a:prstGeom prst="ellipse">
            <a:avLst/>
          </a:prstGeom>
          <a:solidFill>
            <a:srgbClr val="2F5D62"/>
          </a:solidFill>
          <a:ln w="12700">
            <a:solidFill>
              <a:srgbClr val="2F5D62"/>
            </a:solidFill>
            <a:prstDash val="solid"/>
          </a:ln>
        </p:spPr>
      </p:sp>
      <p:sp>
        <p:nvSpPr>
          <p:cNvPr id="46" name="Shape 44"/>
          <p:cNvSpPr/>
          <p:nvPr/>
        </p:nvSpPr>
        <p:spPr>
          <a:xfrm>
            <a:off x="7841648" y="1528171"/>
            <a:ext cx="54864" cy="54864"/>
          </a:xfrm>
          <a:prstGeom prst="ellipse">
            <a:avLst/>
          </a:prstGeom>
          <a:solidFill>
            <a:srgbClr val="D9482B"/>
          </a:solidFill>
          <a:ln w="12700">
            <a:solidFill>
              <a:srgbClr val="D9482B"/>
            </a:solidFill>
            <a:prstDash val="solid"/>
          </a:ln>
        </p:spPr>
      </p:sp>
      <p:sp>
        <p:nvSpPr>
          <p:cNvPr id="47" name="Shape 45"/>
          <p:cNvSpPr/>
          <p:nvPr/>
        </p:nvSpPr>
        <p:spPr>
          <a:xfrm>
            <a:off x="8023444" y="1456390"/>
            <a:ext cx="54864" cy="54864"/>
          </a:xfrm>
          <a:prstGeom prst="ellipse">
            <a:avLst/>
          </a:prstGeom>
          <a:solidFill>
            <a:srgbClr val="2F5D62"/>
          </a:solidFill>
          <a:ln w="12700">
            <a:solidFill>
              <a:srgbClr val="2F5D62"/>
            </a:solidFill>
            <a:prstDash val="solid"/>
          </a:ln>
        </p:spPr>
      </p:sp>
      <p:sp>
        <p:nvSpPr>
          <p:cNvPr id="48" name="Shape 46"/>
          <p:cNvSpPr/>
          <p:nvPr/>
        </p:nvSpPr>
        <p:spPr>
          <a:xfrm>
            <a:off x="8041275" y="1472999"/>
            <a:ext cx="54864" cy="54864"/>
          </a:xfrm>
          <a:prstGeom prst="ellipse">
            <a:avLst/>
          </a:prstGeom>
          <a:solidFill>
            <a:srgbClr val="D9482B"/>
          </a:solidFill>
          <a:ln w="12700">
            <a:solidFill>
              <a:srgbClr val="D9482B"/>
            </a:solidFill>
            <a:prstDash val="solid"/>
          </a:ln>
        </p:spPr>
      </p:sp>
      <p:sp>
        <p:nvSpPr>
          <p:cNvPr id="49" name="Shape 47"/>
          <p:cNvSpPr/>
          <p:nvPr/>
        </p:nvSpPr>
        <p:spPr>
          <a:xfrm>
            <a:off x="8143979" y="1327543"/>
            <a:ext cx="54864" cy="54864"/>
          </a:xfrm>
          <a:prstGeom prst="ellipse">
            <a:avLst/>
          </a:prstGeom>
          <a:solidFill>
            <a:srgbClr val="2F5D62"/>
          </a:solidFill>
          <a:ln w="12700">
            <a:solidFill>
              <a:srgbClr val="2F5D62"/>
            </a:solidFill>
            <a:prstDash val="solid"/>
          </a:ln>
        </p:spPr>
      </p:sp>
      <p:sp>
        <p:nvSpPr>
          <p:cNvPr id="50" name="Shape 48"/>
          <p:cNvSpPr/>
          <p:nvPr/>
        </p:nvSpPr>
        <p:spPr>
          <a:xfrm>
            <a:off x="8198904" y="1378706"/>
            <a:ext cx="54864" cy="54864"/>
          </a:xfrm>
          <a:prstGeom prst="ellipse">
            <a:avLst/>
          </a:prstGeom>
          <a:solidFill>
            <a:srgbClr val="D9482B"/>
          </a:solidFill>
          <a:ln w="12700">
            <a:solidFill>
              <a:srgbClr val="D9482B"/>
            </a:solidFill>
            <a:prstDash val="solid"/>
          </a:ln>
        </p:spPr>
      </p:sp>
      <p:sp>
        <p:nvSpPr>
          <p:cNvPr id="51" name="Shape 49"/>
          <p:cNvSpPr/>
          <p:nvPr/>
        </p:nvSpPr>
        <p:spPr>
          <a:xfrm>
            <a:off x="8264513" y="1198695"/>
            <a:ext cx="54864" cy="54864"/>
          </a:xfrm>
          <a:prstGeom prst="ellipse">
            <a:avLst/>
          </a:prstGeom>
          <a:solidFill>
            <a:srgbClr val="2F5D62"/>
          </a:solidFill>
          <a:ln w="12700">
            <a:solidFill>
              <a:srgbClr val="2F5D62"/>
            </a:solidFill>
            <a:prstDash val="solid"/>
          </a:ln>
        </p:spPr>
      </p:sp>
      <p:sp>
        <p:nvSpPr>
          <p:cNvPr id="52" name="Shape 50"/>
          <p:cNvSpPr/>
          <p:nvPr/>
        </p:nvSpPr>
        <p:spPr>
          <a:xfrm>
            <a:off x="8311179" y="1242165"/>
            <a:ext cx="54864" cy="54864"/>
          </a:xfrm>
          <a:prstGeom prst="ellipse">
            <a:avLst/>
          </a:prstGeom>
          <a:solidFill>
            <a:srgbClr val="D9482B"/>
          </a:solidFill>
          <a:ln w="12700">
            <a:solidFill>
              <a:srgbClr val="D9482B"/>
            </a:solidFill>
            <a:prstDash val="solid"/>
          </a:ln>
        </p:spPr>
      </p:sp>
      <p:sp>
        <p:nvSpPr>
          <p:cNvPr id="53" name="Shape 51"/>
          <p:cNvSpPr/>
          <p:nvPr/>
        </p:nvSpPr>
        <p:spPr>
          <a:xfrm>
            <a:off x="8385048" y="1069848"/>
            <a:ext cx="54864" cy="54864"/>
          </a:xfrm>
          <a:prstGeom prst="ellipse">
            <a:avLst/>
          </a:prstGeom>
          <a:solidFill>
            <a:srgbClr val="2F5D62"/>
          </a:solidFill>
          <a:ln w="12700">
            <a:solidFill>
              <a:srgbClr val="2F5D62"/>
            </a:solidFill>
            <a:prstDash val="solid"/>
          </a:ln>
        </p:spPr>
      </p:sp>
      <p:sp>
        <p:nvSpPr>
          <p:cNvPr id="54" name="Shape 52"/>
          <p:cNvSpPr/>
          <p:nvPr/>
        </p:nvSpPr>
        <p:spPr>
          <a:xfrm>
            <a:off x="8385048" y="1069848"/>
            <a:ext cx="54864" cy="54864"/>
          </a:xfrm>
          <a:prstGeom prst="ellipse">
            <a:avLst/>
          </a:prstGeom>
          <a:solidFill>
            <a:srgbClr val="D9482B"/>
          </a:solidFill>
          <a:ln w="12700">
            <a:solidFill>
              <a:srgbClr val="D9482B"/>
            </a:solidFill>
            <a:prstDash val="solid"/>
          </a:ln>
        </p:spPr>
      </p:sp>
      <p:sp>
        <p:nvSpPr>
          <p:cNvPr id="55" name="Shape 53"/>
          <p:cNvSpPr/>
          <p:nvPr/>
        </p:nvSpPr>
        <p:spPr>
          <a:xfrm>
            <a:off x="5669280" y="3840480"/>
            <a:ext cx="182880" cy="182880"/>
          </a:xfrm>
          <a:prstGeom prst="ellipse">
            <a:avLst/>
          </a:prstGeom>
          <a:solidFill>
            <a:srgbClr val="1C1B19"/>
          </a:solidFill>
          <a:ln w="12700">
            <a:solidFill>
              <a:srgbClr val="1C1B19"/>
            </a:solidFill>
            <a:prstDash val="solid"/>
          </a:ln>
        </p:spPr>
      </p:sp>
      <p:sp>
        <p:nvSpPr>
          <p:cNvPr id="56" name="Shape 54"/>
          <p:cNvSpPr/>
          <p:nvPr/>
        </p:nvSpPr>
        <p:spPr>
          <a:xfrm>
            <a:off x="8321040" y="1005840"/>
            <a:ext cx="182880" cy="182880"/>
          </a:xfrm>
          <a:prstGeom prst="ellipse">
            <a:avLst/>
          </a:prstGeom>
          <a:ln w="12700">
            <a:solidFill>
              <a:srgbClr val="1C1B19"/>
            </a:solidFill>
            <a:prstDash val="solid"/>
          </a:ln>
        </p:spPr>
      </p:sp>
      <p:sp>
        <p:nvSpPr>
          <p:cNvPr id="57" name="Text 55"/>
          <p:cNvSpPr/>
          <p:nvPr/>
        </p:nvSpPr>
        <p:spPr>
          <a:xfrm>
            <a:off x="5532120" y="4069080"/>
            <a:ext cx="731520" cy="182880"/>
          </a:xfrm>
          <a:prstGeom prst="rect">
            <a:avLst/>
          </a:prstGeom>
          <a:noFill/>
          <a:ln/>
        </p:spPr>
        <p:txBody>
          <a:bodyPr wrap="square" lIns="0" tIns="0" rIns="0" bIns="0" rtlCol="0" anchor="t"/>
          <a:lstStyle/>
          <a:p>
            <a:pPr indent="0" marL="0">
              <a:buNone/>
            </a:pPr>
            <a:r>
              <a:rPr lang="en-US" sz="800" dirty="0">
                <a:solidFill>
                  <a:srgbClr val="6B665C"/>
                </a:solidFill>
                <a:latin typeface="Courier New" pitchFamily="34" charset="0"/>
                <a:ea typeface="Courier New" pitchFamily="34" charset="-122"/>
                <a:cs typeface="Courier New" pitchFamily="34" charset="-120"/>
              </a:rPr>
              <a:t>noise</a:t>
            </a:r>
            <a:endParaRPr lang="en-US" sz="800" dirty="0"/>
          </a:p>
        </p:txBody>
      </p:sp>
      <p:sp>
        <p:nvSpPr>
          <p:cNvPr id="58" name="Text 56"/>
          <p:cNvSpPr/>
          <p:nvPr/>
        </p:nvSpPr>
        <p:spPr>
          <a:xfrm>
            <a:off x="8229600" y="749808"/>
            <a:ext cx="731520" cy="182880"/>
          </a:xfrm>
          <a:prstGeom prst="rect">
            <a:avLst/>
          </a:prstGeom>
          <a:noFill/>
          <a:ln/>
        </p:spPr>
        <p:txBody>
          <a:bodyPr wrap="square" lIns="0" tIns="0" rIns="0" bIns="0" rtlCol="0" anchor="t"/>
          <a:lstStyle/>
          <a:p>
            <a:pPr indent="0" marL="0">
              <a:buNone/>
            </a:pPr>
            <a:r>
              <a:rPr lang="en-US" sz="800" dirty="0">
                <a:solidFill>
                  <a:srgbClr val="6B665C"/>
                </a:solidFill>
                <a:latin typeface="Courier New" pitchFamily="34" charset="0"/>
                <a:ea typeface="Courier New" pitchFamily="34" charset="-122"/>
                <a:cs typeface="Courier New" pitchFamily="34" charset="-120"/>
              </a:rPr>
              <a:t>data</a:t>
            </a:r>
            <a:endParaRPr lang="en-US" sz="800" dirty="0"/>
          </a:p>
        </p:txBody>
      </p:sp>
      <p:sp>
        <p:nvSpPr>
          <p:cNvPr id="59" name="Text 57"/>
          <p:cNvSpPr/>
          <p:nvPr/>
        </p:nvSpPr>
        <p:spPr>
          <a:xfrm>
            <a:off x="5760720" y="4224528"/>
            <a:ext cx="2926080" cy="411480"/>
          </a:xfrm>
          <a:prstGeom prst="rect">
            <a:avLst/>
          </a:prstGeom>
          <a:noFill/>
          <a:ln/>
        </p:spPr>
        <p:txBody>
          <a:bodyPr wrap="square" lIns="0" tIns="0" rIns="0" bIns="0" rtlCol="0" anchor="t"/>
          <a:lstStyle/>
          <a:p>
            <a:pPr indent="0" marL="0">
              <a:buNone/>
            </a:pPr>
            <a:r>
              <a:rPr lang="en-US" sz="800" dirty="0">
                <a:solidFill>
                  <a:srgbClr val="D9482B"/>
                </a:solidFill>
                <a:latin typeface="Courier New" pitchFamily="34" charset="0"/>
                <a:ea typeface="Courier New" pitchFamily="34" charset="-122"/>
                <a:cs typeface="Courier New" pitchFamily="34" charset="-120"/>
              </a:rPr>
              <a:t>● </a:t>
            </a:r>
            <a:pPr indent="0" marL="0">
              <a:buNone/>
            </a:pPr>
            <a:r>
              <a:rPr lang="en-US" sz="800" dirty="0">
                <a:solidFill>
                  <a:srgbClr val="6B665C"/>
                </a:solidFill>
                <a:latin typeface="Courier New" pitchFamily="34" charset="0"/>
                <a:ea typeface="Courier New" pitchFamily="34" charset="-122"/>
                <a:cs typeface="Courier New" pitchFamily="34" charset="-120"/>
              </a:rPr>
              <a:t>curved sampling path</a:t>
            </a:r>
            <a:endParaRPr lang="en-US" sz="800" dirty="0"/>
          </a:p>
          <a:p>
            <a:pPr indent="0" marL="0">
              <a:buNone/>
            </a:pPr>
            <a:r>
              <a:rPr lang="en-US" sz="800" dirty="0">
                <a:solidFill>
                  <a:srgbClr val="2F5D62"/>
                </a:solidFill>
                <a:latin typeface="Courier New" pitchFamily="34" charset="0"/>
                <a:ea typeface="Courier New" pitchFamily="34" charset="-122"/>
                <a:cs typeface="Courier New" pitchFamily="34" charset="-120"/>
              </a:rPr>
              <a:t>● </a:t>
            </a:r>
            <a:pPr indent="0" marL="0">
              <a:buNone/>
            </a:pPr>
            <a:r>
              <a:rPr lang="en-US" sz="800" dirty="0">
                <a:solidFill>
                  <a:srgbClr val="6B665C"/>
                </a:solidFill>
                <a:latin typeface="Courier New" pitchFamily="34" charset="0"/>
                <a:ea typeface="Courier New" pitchFamily="34" charset="-122"/>
                <a:cs typeface="Courier New" pitchFamily="34" charset="-120"/>
              </a:rPr>
              <a:t>straight flow path</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457200" y="292608"/>
            <a:ext cx="5486400" cy="201168"/>
          </a:xfrm>
          <a:prstGeom prst="rect">
            <a:avLst/>
          </a:prstGeom>
          <a:noFill/>
          <a:ln/>
        </p:spPr>
        <p:txBody>
          <a:bodyPr wrap="square" lIns="0" tIns="0" rIns="0" bIns="0" rtlCol="0" anchor="t"/>
          <a:lstStyle/>
          <a:p>
            <a:pPr indent="0" marL="0">
              <a:buNone/>
            </a:pPr>
            <a:r>
              <a:rPr lang="en-US" sz="900" dirty="0">
                <a:solidFill>
                  <a:srgbClr val="D9482B"/>
                </a:solidFill>
                <a:latin typeface="Courier New" pitchFamily="34" charset="0"/>
                <a:ea typeface="Courier New" pitchFamily="34" charset="-122"/>
                <a:cs typeface="Courier New" pitchFamily="34" charset="-120"/>
              </a:rPr>
              <a:t>02  /  RESEARCH QUESTION</a:t>
            </a:r>
            <a:endParaRPr lang="en-US" sz="9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500" dirty="0">
                <a:solidFill>
                  <a:srgbClr val="1C1B19"/>
                </a:solidFill>
                <a:latin typeface="Georgia" pitchFamily="34" charset="0"/>
                <a:ea typeface="Georgia" pitchFamily="34" charset="-122"/>
                <a:cs typeface="Georgia" pitchFamily="34" charset="-120"/>
              </a:rPr>
              <a:t>Speedups are measured on one GPU</a:t>
            </a:r>
            <a:endParaRPr lang="en-US" sz="2500" dirty="0"/>
          </a:p>
        </p:txBody>
      </p:sp>
      <p:sp>
        <p:nvSpPr>
          <p:cNvPr id="4" name="Shape 2"/>
          <p:cNvSpPr/>
          <p:nvPr/>
        </p:nvSpPr>
        <p:spPr>
          <a:xfrm>
            <a:off x="457200" y="1207008"/>
            <a:ext cx="8229600" cy="0"/>
          </a:xfrm>
          <a:prstGeom prst="line">
            <a:avLst/>
          </a:prstGeom>
          <a:noFill/>
          <a:ln w="9525">
            <a:solidFill>
              <a:srgbClr val="1C1B19"/>
            </a:solidFill>
            <a:prstDash val="solid"/>
          </a:ln>
        </p:spPr>
      </p:sp>
      <p:sp>
        <p:nvSpPr>
          <p:cNvPr id="5" name="Shape 3"/>
          <p:cNvSpPr/>
          <p:nvPr/>
        </p:nvSpPr>
        <p:spPr>
          <a:xfrm>
            <a:off x="457200" y="4736592"/>
            <a:ext cx="8229600" cy="0"/>
          </a:xfrm>
          <a:prstGeom prst="line">
            <a:avLst/>
          </a:prstGeom>
          <a:noFill/>
          <a:ln w="6350">
            <a:solidFill>
              <a:srgbClr val="C9C2B4"/>
            </a:solidFill>
            <a:prstDash val="solid"/>
          </a:ln>
        </p:spPr>
      </p:sp>
      <p:sp>
        <p:nvSpPr>
          <p:cNvPr id="6" name="Text 4"/>
          <p:cNvSpPr/>
          <p:nvPr/>
        </p:nvSpPr>
        <p:spPr>
          <a:xfrm>
            <a:off x="457200" y="4791456"/>
            <a:ext cx="5486400" cy="182880"/>
          </a:xfrm>
          <a:prstGeom prst="rect">
            <a:avLst/>
          </a:prstGeom>
          <a:noFill/>
          <a:ln/>
        </p:spPr>
        <p:txBody>
          <a:bodyPr wrap="square" lIns="0" tIns="0" rIns="0" bIns="0" rtlCol="0" anchor="t"/>
          <a:lstStyle/>
          <a:p>
            <a:pPr indent="0" marL="0">
              <a:buNone/>
            </a:pPr>
            <a:r>
              <a:rPr lang="en-US" sz="750" dirty="0">
                <a:solidFill>
                  <a:srgbClr val="6B665C"/>
                </a:solidFill>
                <a:latin typeface="Courier New" pitchFamily="34" charset="0"/>
                <a:ea typeface="Courier New" pitchFamily="34" charset="-122"/>
                <a:cs typeface="Courier New" pitchFamily="34" charset="-120"/>
              </a:rPr>
              <a:t>ZAKYNTHINOS — ADVANCED TOPICS IN AI — PROPOSAL</a:t>
            </a:r>
            <a:endParaRPr lang="en-US" sz="750" dirty="0"/>
          </a:p>
        </p:txBody>
      </p:sp>
      <p:sp>
        <p:nvSpPr>
          <p:cNvPr id="7" name="Text 5"/>
          <p:cNvSpPr/>
          <p:nvPr/>
        </p:nvSpPr>
        <p:spPr>
          <a:xfrm>
            <a:off x="7772400" y="4791456"/>
            <a:ext cx="914400" cy="182880"/>
          </a:xfrm>
          <a:prstGeom prst="rect">
            <a:avLst/>
          </a:prstGeom>
          <a:noFill/>
          <a:ln/>
        </p:spPr>
        <p:txBody>
          <a:bodyPr wrap="square" lIns="0" tIns="0" rIns="0" bIns="0" rtlCol="0" anchor="t"/>
          <a:lstStyle/>
          <a:p>
            <a:pPr algn="r" indent="0" marL="0">
              <a:buNone/>
            </a:pPr>
            <a:r>
              <a:rPr lang="en-US" sz="750" dirty="0">
                <a:solidFill>
                  <a:srgbClr val="6B665C"/>
                </a:solidFill>
                <a:latin typeface="Courier New" pitchFamily="34" charset="0"/>
                <a:ea typeface="Courier New" pitchFamily="34" charset="-122"/>
                <a:cs typeface="Courier New" pitchFamily="34" charset="-120"/>
              </a:rPr>
              <a:t>02 / 03</a:t>
            </a:r>
            <a:endParaRPr lang="en-US" sz="750" dirty="0"/>
          </a:p>
        </p:txBody>
      </p:sp>
      <p:sp>
        <p:nvSpPr>
          <p:cNvPr id="8" name="Text 6"/>
          <p:cNvSpPr/>
          <p:nvPr/>
        </p:nvSpPr>
        <p:spPr>
          <a:xfrm>
            <a:off x="457200" y="1417320"/>
            <a:ext cx="8229600" cy="731520"/>
          </a:xfrm>
          <a:prstGeom prst="rect">
            <a:avLst/>
          </a:prstGeom>
          <a:noFill/>
          <a:ln/>
        </p:spPr>
        <p:txBody>
          <a:bodyPr wrap="square" lIns="0" tIns="0" rIns="0" bIns="0" rtlCol="0" anchor="t"/>
          <a:lstStyle/>
          <a:p>
            <a:pPr indent="0" marL="0">
              <a:buNone/>
            </a:pPr>
            <a:r>
              <a:rPr lang="en-US" sz="1700" i="1" dirty="0">
                <a:solidFill>
                  <a:srgbClr val="1C1B19"/>
                </a:solidFill>
                <a:latin typeface="Georgia" pitchFamily="34" charset="0"/>
                <a:ea typeface="Georgia" pitchFamily="34" charset="-122"/>
                <a:cs typeface="Georgia" pitchFamily="34" charset="-120"/>
              </a:rPr>
              <a:t>“Do quality–efficiency conclusions about diffusion and flow-matching sampling remain valid across GPUs when training-free accelerations are introduced?”</a:t>
            </a:r>
            <a:endParaRPr lang="en-US" sz="1700" dirty="0"/>
          </a:p>
        </p:txBody>
      </p:sp>
      <p:sp>
        <p:nvSpPr>
          <p:cNvPr id="9" name="Text 7"/>
          <p:cNvSpPr/>
          <p:nvPr/>
        </p:nvSpPr>
        <p:spPr>
          <a:xfrm>
            <a:off x="457200" y="2468880"/>
            <a:ext cx="2560320" cy="457200"/>
          </a:xfrm>
          <a:prstGeom prst="rect">
            <a:avLst/>
          </a:prstGeom>
          <a:noFill/>
          <a:ln/>
        </p:spPr>
        <p:txBody>
          <a:bodyPr wrap="square" lIns="0" tIns="0" rIns="0" bIns="0" rtlCol="0" anchor="t"/>
          <a:lstStyle/>
          <a:p>
            <a:pPr indent="0" marL="0">
              <a:buNone/>
            </a:pPr>
            <a:r>
              <a:rPr lang="en-US" sz="2400" b="1" dirty="0">
                <a:solidFill>
                  <a:srgbClr val="D9482B"/>
                </a:solidFill>
                <a:latin typeface="Courier New" pitchFamily="34" charset="0"/>
                <a:ea typeface="Courier New" pitchFamily="34" charset="-122"/>
                <a:cs typeface="Courier New" pitchFamily="34" charset="-120"/>
              </a:rPr>
              <a:t>H1</a:t>
            </a:r>
            <a:endParaRPr lang="en-US" sz="2400" dirty="0"/>
          </a:p>
        </p:txBody>
      </p:sp>
      <p:sp>
        <p:nvSpPr>
          <p:cNvPr id="10" name="Text 8"/>
          <p:cNvSpPr/>
          <p:nvPr/>
        </p:nvSpPr>
        <p:spPr>
          <a:xfrm>
            <a:off x="457200" y="2971800"/>
            <a:ext cx="2560320" cy="320040"/>
          </a:xfrm>
          <a:prstGeom prst="rect">
            <a:avLst/>
          </a:prstGeom>
          <a:noFill/>
          <a:ln/>
        </p:spPr>
        <p:txBody>
          <a:bodyPr wrap="square" lIns="0" tIns="0" rIns="0" bIns="0" rtlCol="0" anchor="t"/>
          <a:lstStyle/>
          <a:p>
            <a:pPr indent="0" marL="0">
              <a:buNone/>
            </a:pPr>
            <a:r>
              <a:rPr lang="en-US" sz="1400" dirty="0">
                <a:solidFill>
                  <a:srgbClr val="1C1B19"/>
                </a:solidFill>
                <a:latin typeface="Georgia" pitchFamily="34" charset="0"/>
                <a:ea typeface="Georgia" pitchFamily="34" charset="-122"/>
                <a:cs typeface="Georgia" pitchFamily="34" charset="-120"/>
              </a:rPr>
              <a:t>Transfer baseline</a:t>
            </a:r>
            <a:endParaRPr lang="en-US" sz="1400" dirty="0"/>
          </a:p>
        </p:txBody>
      </p:sp>
      <p:sp>
        <p:nvSpPr>
          <p:cNvPr id="11" name="Text 9"/>
          <p:cNvSpPr/>
          <p:nvPr/>
        </p:nvSpPr>
        <p:spPr>
          <a:xfrm>
            <a:off x="457200" y="3337560"/>
            <a:ext cx="2514600" cy="1188720"/>
          </a:xfrm>
          <a:prstGeom prst="rect">
            <a:avLst/>
          </a:prstGeom>
          <a:noFill/>
          <a:ln/>
        </p:spPr>
        <p:txBody>
          <a:bodyPr wrap="square" lIns="0" tIns="0" rIns="0" bIns="0" rtlCol="0" anchor="t"/>
          <a:lstStyle/>
          <a:p>
            <a:pPr indent="0" marL="0">
              <a:buNone/>
            </a:pPr>
            <a:r>
              <a:rPr lang="en-US" sz="1100" dirty="0">
                <a:solidFill>
                  <a:srgbClr val="6B665C"/>
                </a:solidFill>
                <a:latin typeface="Arial" pitchFamily="34" charset="0"/>
                <a:ea typeface="Arial" pitchFamily="34" charset="-122"/>
                <a:cs typeface="Arial" pitchFamily="34" charset="-120"/>
              </a:rPr>
              <a:t>Plain sampling differs across GPUs only by one latency factor per device, so the best choice transfers.</a:t>
            </a:r>
            <a:endParaRPr lang="en-US" sz="1100" dirty="0"/>
          </a:p>
        </p:txBody>
      </p:sp>
      <p:sp>
        <p:nvSpPr>
          <p:cNvPr id="12" name="Shape 10"/>
          <p:cNvSpPr/>
          <p:nvPr/>
        </p:nvSpPr>
        <p:spPr>
          <a:xfrm>
            <a:off x="3081528" y="2468880"/>
            <a:ext cx="0" cy="2011680"/>
          </a:xfrm>
          <a:prstGeom prst="line">
            <a:avLst/>
          </a:prstGeom>
          <a:noFill/>
          <a:ln w="6350">
            <a:solidFill>
              <a:srgbClr val="C9C2B4"/>
            </a:solidFill>
            <a:prstDash val="solid"/>
          </a:ln>
        </p:spPr>
      </p:sp>
      <p:sp>
        <p:nvSpPr>
          <p:cNvPr id="13" name="Text 11"/>
          <p:cNvSpPr/>
          <p:nvPr/>
        </p:nvSpPr>
        <p:spPr>
          <a:xfrm>
            <a:off x="3246120" y="2468880"/>
            <a:ext cx="2560320" cy="457200"/>
          </a:xfrm>
          <a:prstGeom prst="rect">
            <a:avLst/>
          </a:prstGeom>
          <a:noFill/>
          <a:ln/>
        </p:spPr>
        <p:txBody>
          <a:bodyPr wrap="square" lIns="0" tIns="0" rIns="0" bIns="0" rtlCol="0" anchor="t"/>
          <a:lstStyle/>
          <a:p>
            <a:pPr indent="0" marL="0">
              <a:buNone/>
            </a:pPr>
            <a:r>
              <a:rPr lang="en-US" sz="2400" b="1" dirty="0">
                <a:solidFill>
                  <a:srgbClr val="D9482B"/>
                </a:solidFill>
                <a:latin typeface="Courier New" pitchFamily="34" charset="0"/>
                <a:ea typeface="Courier New" pitchFamily="34" charset="-122"/>
                <a:cs typeface="Courier New" pitchFamily="34" charset="-120"/>
              </a:rPr>
              <a:t>H2</a:t>
            </a:r>
            <a:endParaRPr lang="en-US" sz="2400" dirty="0"/>
          </a:p>
        </p:txBody>
      </p:sp>
      <p:sp>
        <p:nvSpPr>
          <p:cNvPr id="14" name="Text 12"/>
          <p:cNvSpPr/>
          <p:nvPr/>
        </p:nvSpPr>
        <p:spPr>
          <a:xfrm>
            <a:off x="3246120" y="2971800"/>
            <a:ext cx="2560320" cy="320040"/>
          </a:xfrm>
          <a:prstGeom prst="rect">
            <a:avLst/>
          </a:prstGeom>
          <a:noFill/>
          <a:ln/>
        </p:spPr>
        <p:txBody>
          <a:bodyPr wrap="square" lIns="0" tIns="0" rIns="0" bIns="0" rtlCol="0" anchor="t"/>
          <a:lstStyle/>
          <a:p>
            <a:pPr indent="0" marL="0">
              <a:buNone/>
            </a:pPr>
            <a:r>
              <a:rPr lang="en-US" sz="1400" dirty="0">
                <a:solidFill>
                  <a:srgbClr val="1C1B19"/>
                </a:solidFill>
                <a:latin typeface="Georgia" pitchFamily="34" charset="0"/>
                <a:ea typeface="Georgia" pitchFamily="34" charset="-122"/>
                <a:cs typeface="Georgia" pitchFamily="34" charset="-120"/>
              </a:rPr>
              <a:t>Cost explanation</a:t>
            </a:r>
            <a:endParaRPr lang="en-US" sz="1400" dirty="0"/>
          </a:p>
        </p:txBody>
      </p:sp>
      <p:sp>
        <p:nvSpPr>
          <p:cNvPr id="15" name="Text 13"/>
          <p:cNvSpPr/>
          <p:nvPr/>
        </p:nvSpPr>
        <p:spPr>
          <a:xfrm>
            <a:off x="3246120" y="3337560"/>
            <a:ext cx="2514600" cy="1188720"/>
          </a:xfrm>
          <a:prstGeom prst="rect">
            <a:avLst/>
          </a:prstGeom>
          <a:noFill/>
          <a:ln/>
        </p:spPr>
        <p:txBody>
          <a:bodyPr wrap="square" lIns="0" tIns="0" rIns="0" bIns="0" rtlCol="0" anchor="t"/>
          <a:lstStyle/>
          <a:p>
            <a:pPr indent="0" marL="0">
              <a:buNone/>
            </a:pPr>
            <a:r>
              <a:rPr lang="en-US" sz="1100" dirty="0">
                <a:solidFill>
                  <a:srgbClr val="6B665C"/>
                </a:solidFill>
                <a:latin typeface="Arial" pitchFamily="34" charset="0"/>
                <a:ea typeface="Arial" pitchFamily="34" charset="-122"/>
                <a:cs typeface="Arial" pitchFamily="34" charset="-120"/>
              </a:rPr>
              <a:t>Caching and INT8/FP8 add device-specific effects that NFE and FLOPs miss; a compute–memory–overhead model predicts them.</a:t>
            </a:r>
            <a:endParaRPr lang="en-US" sz="1100" dirty="0"/>
          </a:p>
        </p:txBody>
      </p:sp>
      <p:sp>
        <p:nvSpPr>
          <p:cNvPr id="16" name="Shape 14"/>
          <p:cNvSpPr/>
          <p:nvPr/>
        </p:nvSpPr>
        <p:spPr>
          <a:xfrm>
            <a:off x="5870448" y="2468880"/>
            <a:ext cx="0" cy="2011680"/>
          </a:xfrm>
          <a:prstGeom prst="line">
            <a:avLst/>
          </a:prstGeom>
          <a:noFill/>
          <a:ln w="6350">
            <a:solidFill>
              <a:srgbClr val="C9C2B4"/>
            </a:solidFill>
            <a:prstDash val="solid"/>
          </a:ln>
        </p:spPr>
      </p:sp>
      <p:sp>
        <p:nvSpPr>
          <p:cNvPr id="17" name="Text 15"/>
          <p:cNvSpPr/>
          <p:nvPr/>
        </p:nvSpPr>
        <p:spPr>
          <a:xfrm>
            <a:off x="6035040" y="2468880"/>
            <a:ext cx="2560320" cy="457200"/>
          </a:xfrm>
          <a:prstGeom prst="rect">
            <a:avLst/>
          </a:prstGeom>
          <a:noFill/>
          <a:ln/>
        </p:spPr>
        <p:txBody>
          <a:bodyPr wrap="square" lIns="0" tIns="0" rIns="0" bIns="0" rtlCol="0" anchor="t"/>
          <a:lstStyle/>
          <a:p>
            <a:pPr indent="0" marL="0">
              <a:buNone/>
            </a:pPr>
            <a:r>
              <a:rPr lang="en-US" sz="2400" b="1" dirty="0">
                <a:solidFill>
                  <a:srgbClr val="D9482B"/>
                </a:solidFill>
                <a:latin typeface="Courier New" pitchFamily="34" charset="0"/>
                <a:ea typeface="Courier New" pitchFamily="34" charset="-122"/>
                <a:cs typeface="Courier New" pitchFamily="34" charset="-120"/>
              </a:rPr>
              <a:t>H3</a:t>
            </a:r>
            <a:endParaRPr lang="en-US" sz="2400" dirty="0"/>
          </a:p>
        </p:txBody>
      </p:sp>
      <p:sp>
        <p:nvSpPr>
          <p:cNvPr id="18" name="Text 16"/>
          <p:cNvSpPr/>
          <p:nvPr/>
        </p:nvSpPr>
        <p:spPr>
          <a:xfrm>
            <a:off x="6035040" y="2971800"/>
            <a:ext cx="2560320" cy="320040"/>
          </a:xfrm>
          <a:prstGeom prst="rect">
            <a:avLst/>
          </a:prstGeom>
          <a:noFill/>
          <a:ln/>
        </p:spPr>
        <p:txBody>
          <a:bodyPr wrap="square" lIns="0" tIns="0" rIns="0" bIns="0" rtlCol="0" anchor="t"/>
          <a:lstStyle/>
          <a:p>
            <a:pPr indent="0" marL="0">
              <a:buNone/>
            </a:pPr>
            <a:r>
              <a:rPr lang="en-US" sz="1400" dirty="0">
                <a:solidFill>
                  <a:srgbClr val="1C1B19"/>
                </a:solidFill>
                <a:latin typeface="Georgia" pitchFamily="34" charset="0"/>
                <a:ea typeface="Georgia" pitchFamily="34" charset="-122"/>
                <a:cs typeface="Georgia" pitchFamily="34" charset="-120"/>
              </a:rPr>
              <a:t>Quality mechanism</a:t>
            </a:r>
            <a:endParaRPr lang="en-US" sz="1400" dirty="0"/>
          </a:p>
        </p:txBody>
      </p:sp>
      <p:sp>
        <p:nvSpPr>
          <p:cNvPr id="19" name="Text 17"/>
          <p:cNvSpPr/>
          <p:nvPr/>
        </p:nvSpPr>
        <p:spPr>
          <a:xfrm>
            <a:off x="6035040" y="3337560"/>
            <a:ext cx="2514600" cy="1188720"/>
          </a:xfrm>
          <a:prstGeom prst="rect">
            <a:avLst/>
          </a:prstGeom>
          <a:noFill/>
          <a:ln/>
        </p:spPr>
        <p:txBody>
          <a:bodyPr wrap="square" lIns="0" tIns="0" rIns="0" bIns="0" rtlCol="0" anchor="t"/>
          <a:lstStyle/>
          <a:p>
            <a:pPr indent="0" marL="0">
              <a:buNone/>
            </a:pPr>
            <a:r>
              <a:rPr lang="en-US" sz="1100" dirty="0">
                <a:solidFill>
                  <a:srgbClr val="6B665C"/>
                </a:solidFill>
                <a:latin typeface="Arial" pitchFamily="34" charset="0"/>
                <a:ea typeface="Arial" pitchFamily="34" charset="-122"/>
                <a:cs typeface="Arial" pitchFamily="34" charset="-120"/>
              </a:rPr>
              <a:t>Exploratory: feature-reuse error predicts how much caching hurts quality better than step count. No assumption that flow matching wins.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457200" y="292608"/>
            <a:ext cx="5486400" cy="201168"/>
          </a:xfrm>
          <a:prstGeom prst="rect">
            <a:avLst/>
          </a:prstGeom>
          <a:noFill/>
          <a:ln/>
        </p:spPr>
        <p:txBody>
          <a:bodyPr wrap="square" lIns="0" tIns="0" rIns="0" bIns="0" rtlCol="0" anchor="t"/>
          <a:lstStyle/>
          <a:p>
            <a:pPr indent="0" marL="0">
              <a:buNone/>
            </a:pPr>
            <a:r>
              <a:rPr lang="en-US" sz="900" dirty="0">
                <a:solidFill>
                  <a:srgbClr val="D9482B"/>
                </a:solidFill>
                <a:latin typeface="Courier New" pitchFamily="34" charset="0"/>
                <a:ea typeface="Courier New" pitchFamily="34" charset="-122"/>
                <a:cs typeface="Courier New" pitchFamily="34" charset="-120"/>
              </a:rPr>
              <a:t>03  /  EXPERIMENT</a:t>
            </a:r>
            <a:endParaRPr lang="en-US" sz="90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500" dirty="0">
                <a:solidFill>
                  <a:srgbClr val="1C1B19"/>
                </a:solidFill>
                <a:latin typeface="Georgia" pitchFamily="34" charset="0"/>
                <a:ea typeface="Georgia" pitchFamily="34" charset="-122"/>
                <a:cs typeface="Georgia" pitchFamily="34" charset="-120"/>
              </a:rPr>
              <a:t>48 configurations on RTX 5080, T4 and GH200</a:t>
            </a:r>
            <a:endParaRPr lang="en-US" sz="2500" dirty="0"/>
          </a:p>
        </p:txBody>
      </p:sp>
      <p:sp>
        <p:nvSpPr>
          <p:cNvPr id="4" name="Shape 2"/>
          <p:cNvSpPr/>
          <p:nvPr/>
        </p:nvSpPr>
        <p:spPr>
          <a:xfrm>
            <a:off x="457200" y="1207008"/>
            <a:ext cx="8229600" cy="0"/>
          </a:xfrm>
          <a:prstGeom prst="line">
            <a:avLst/>
          </a:prstGeom>
          <a:noFill/>
          <a:ln w="9525">
            <a:solidFill>
              <a:srgbClr val="1C1B19"/>
            </a:solidFill>
            <a:prstDash val="solid"/>
          </a:ln>
        </p:spPr>
      </p:sp>
      <p:sp>
        <p:nvSpPr>
          <p:cNvPr id="5" name="Shape 3"/>
          <p:cNvSpPr/>
          <p:nvPr/>
        </p:nvSpPr>
        <p:spPr>
          <a:xfrm>
            <a:off x="457200" y="4736592"/>
            <a:ext cx="8229600" cy="0"/>
          </a:xfrm>
          <a:prstGeom prst="line">
            <a:avLst/>
          </a:prstGeom>
          <a:noFill/>
          <a:ln w="6350">
            <a:solidFill>
              <a:srgbClr val="C9C2B4"/>
            </a:solidFill>
            <a:prstDash val="solid"/>
          </a:ln>
        </p:spPr>
      </p:sp>
      <p:sp>
        <p:nvSpPr>
          <p:cNvPr id="6" name="Text 4"/>
          <p:cNvSpPr/>
          <p:nvPr/>
        </p:nvSpPr>
        <p:spPr>
          <a:xfrm>
            <a:off x="457200" y="4791456"/>
            <a:ext cx="5486400" cy="182880"/>
          </a:xfrm>
          <a:prstGeom prst="rect">
            <a:avLst/>
          </a:prstGeom>
          <a:noFill/>
          <a:ln/>
        </p:spPr>
        <p:txBody>
          <a:bodyPr wrap="square" lIns="0" tIns="0" rIns="0" bIns="0" rtlCol="0" anchor="t"/>
          <a:lstStyle/>
          <a:p>
            <a:pPr indent="0" marL="0">
              <a:buNone/>
            </a:pPr>
            <a:r>
              <a:rPr lang="en-US" sz="750" dirty="0">
                <a:solidFill>
                  <a:srgbClr val="6B665C"/>
                </a:solidFill>
                <a:latin typeface="Courier New" pitchFamily="34" charset="0"/>
                <a:ea typeface="Courier New" pitchFamily="34" charset="-122"/>
                <a:cs typeface="Courier New" pitchFamily="34" charset="-120"/>
              </a:rPr>
              <a:t>ZAKYNTHINOS — ADVANCED TOPICS IN AI — PROPOSAL</a:t>
            </a:r>
            <a:endParaRPr lang="en-US" sz="750" dirty="0"/>
          </a:p>
        </p:txBody>
      </p:sp>
      <p:sp>
        <p:nvSpPr>
          <p:cNvPr id="7" name="Text 5"/>
          <p:cNvSpPr/>
          <p:nvPr/>
        </p:nvSpPr>
        <p:spPr>
          <a:xfrm>
            <a:off x="7772400" y="4791456"/>
            <a:ext cx="914400" cy="182880"/>
          </a:xfrm>
          <a:prstGeom prst="rect">
            <a:avLst/>
          </a:prstGeom>
          <a:noFill/>
          <a:ln/>
        </p:spPr>
        <p:txBody>
          <a:bodyPr wrap="square" lIns="0" tIns="0" rIns="0" bIns="0" rtlCol="0" anchor="t"/>
          <a:lstStyle/>
          <a:p>
            <a:pPr algn="r" indent="0" marL="0">
              <a:buNone/>
            </a:pPr>
            <a:r>
              <a:rPr lang="en-US" sz="750" dirty="0">
                <a:solidFill>
                  <a:srgbClr val="6B665C"/>
                </a:solidFill>
                <a:latin typeface="Courier New" pitchFamily="34" charset="0"/>
                <a:ea typeface="Courier New" pitchFamily="34" charset="-122"/>
                <a:cs typeface="Courier New" pitchFamily="34" charset="-120"/>
              </a:rPr>
              <a:t>03 / 03</a:t>
            </a:r>
            <a:endParaRPr lang="en-US" sz="7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486400" cy="914400"/>
        </p:xfrm>
        <a:graphic>
          <a:graphicData uri="http://schemas.openxmlformats.org/drawingml/2006/table">
            <a:tbl>
              <a:tblPr/>
              <a:tblGrid>
                <a:gridCol w="1188720"/>
                <a:gridCol w="1737360"/>
                <a:gridCol w="1737360"/>
                <a:gridCol w="822960"/>
              </a:tblGrid>
              <a:tr h="402336">
                <a:tc>
                  <a:txBody>
                    <a:bodyPr/>
                    <a:lstStyle/>
                    <a:p>
                      <a:pPr indent="0" marL="0">
                        <a:buNone/>
                      </a:pPr>
                      <a:r>
                        <a:rPr lang="en-US" sz="900" dirty="0">
                          <a:solidFill>
                            <a:srgbClr val="6B665C"/>
                          </a:solidFill>
                          <a:latin typeface="Courier New" pitchFamily="34" charset="0"/>
                          <a:ea typeface="Courier New" pitchFamily="34" charset="-122"/>
                          <a:cs typeface="Courier New" pitchFamily="34" charset="-120"/>
                        </a:rPr>
                        <a:t>FACTOR</a:t>
                      </a:r>
                      <a:endParaRPr lang="en-US" sz="90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1C1B19"/>
                      </a:solidFill>
                      <a:prstDash val="solid"/>
                      <a:round/>
                      <a:headEnd type="none" w="med" len="med"/>
                      <a:tailEnd type="none" w="med" len="med"/>
                    </a:lnB>
                  </a:tcPr>
                </a:tc>
                <a:tc>
                  <a:txBody>
                    <a:bodyPr/>
                    <a:lstStyle/>
                    <a:p>
                      <a:pPr indent="0" marL="0">
                        <a:buNone/>
                      </a:pPr>
                      <a:r>
                        <a:rPr lang="en-US" sz="900" dirty="0">
                          <a:solidFill>
                            <a:srgbClr val="6B665C"/>
                          </a:solidFill>
                          <a:latin typeface="Courier New" pitchFamily="34" charset="0"/>
                          <a:ea typeface="Courier New" pitchFamily="34" charset="-122"/>
                          <a:cs typeface="Courier New" pitchFamily="34" charset="-120"/>
                        </a:rPr>
                        <a:t>DIFFUSION · DiT</a:t>
                      </a:r>
                      <a:endParaRPr lang="en-US" sz="90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1C1B19"/>
                      </a:solidFill>
                      <a:prstDash val="solid"/>
                      <a:round/>
                      <a:headEnd type="none" w="med" len="med"/>
                      <a:tailEnd type="none" w="med" len="med"/>
                    </a:lnB>
                  </a:tcPr>
                </a:tc>
                <a:tc>
                  <a:txBody>
                    <a:bodyPr/>
                    <a:lstStyle/>
                    <a:p>
                      <a:pPr indent="0" marL="0">
                        <a:buNone/>
                      </a:pPr>
                      <a:r>
                        <a:rPr lang="en-US" sz="900" dirty="0">
                          <a:solidFill>
                            <a:srgbClr val="6B665C"/>
                          </a:solidFill>
                          <a:latin typeface="Courier New" pitchFamily="34" charset="0"/>
                          <a:ea typeface="Courier New" pitchFamily="34" charset="-122"/>
                          <a:cs typeface="Courier New" pitchFamily="34" charset="-120"/>
                        </a:rPr>
                        <a:t>FLOW · SiT</a:t>
                      </a:r>
                      <a:endParaRPr lang="en-US" sz="90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1C1B19"/>
                      </a:solidFill>
                      <a:prstDash val="solid"/>
                      <a:round/>
                      <a:headEnd type="none" w="med" len="med"/>
                      <a:tailEnd type="none" w="med" len="med"/>
                    </a:lnB>
                  </a:tcPr>
                </a:tc>
                <a:tc>
                  <a:txBody>
                    <a:bodyPr/>
                    <a:lstStyle/>
                    <a:p>
                      <a:pPr algn="r" indent="0" marL="0">
                        <a:buNone/>
                      </a:pPr>
                      <a:r>
                        <a:rPr lang="en-US" sz="900" dirty="0">
                          <a:solidFill>
                            <a:srgbClr val="6B665C"/>
                          </a:solidFill>
                          <a:latin typeface="Courier New" pitchFamily="34" charset="0"/>
                          <a:ea typeface="Courier New" pitchFamily="34" charset="-122"/>
                          <a:cs typeface="Courier New" pitchFamily="34" charset="-120"/>
                        </a:rPr>
                        <a:t>LEVELS</a:t>
                      </a:r>
                      <a:endParaRPr lang="en-US" sz="90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1C1B19"/>
                      </a:solidFill>
                      <a:prstDash val="solid"/>
                      <a:round/>
                      <a:headEnd type="none" w="med" len="med"/>
                      <a:tailEnd type="none" w="med" len="med"/>
                    </a:lnB>
                  </a:tcPr>
                </a:tc>
              </a:tr>
              <a:tr h="402336">
                <a:tc>
                  <a:txBody>
                    <a:bodyPr/>
                    <a:lstStyle/>
                    <a:p>
                      <a:pPr indent="0" marL="0">
                        <a:buNone/>
                      </a:pPr>
                      <a:r>
                        <a:rPr lang="en-US" sz="1100" dirty="0">
                          <a:solidFill>
                            <a:srgbClr val="1C1B19"/>
                          </a:solidFill>
                          <a:latin typeface="Arial" pitchFamily="34" charset="0"/>
                          <a:ea typeface="Arial" pitchFamily="34" charset="-122"/>
                          <a:cs typeface="Arial" pitchFamily="34" charset="-120"/>
                        </a:rPr>
                        <a:t>Checkpoint</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c>
                  <a:txBody>
                    <a:bodyPr/>
                    <a:lstStyle/>
                    <a:p>
                      <a:pPr indent="0" marL="0">
                        <a:buNone/>
                      </a:pPr>
                      <a:r>
                        <a:rPr lang="en-US" sz="1100" dirty="0">
                          <a:solidFill>
                            <a:srgbClr val="1C1B19"/>
                          </a:solidFill>
                          <a:latin typeface="Arial" pitchFamily="34" charset="0"/>
                          <a:ea typeface="Arial" pitchFamily="34" charset="-122"/>
                          <a:cs typeface="Arial" pitchFamily="34" charset="-120"/>
                        </a:rPr>
                        <a:t>ImageNet-256, public</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c>
                  <a:txBody>
                    <a:bodyPr/>
                    <a:lstStyle/>
                    <a:p>
                      <a:pPr indent="0" marL="0">
                        <a:buNone/>
                      </a:pPr>
                      <a:r>
                        <a:rPr lang="en-US" sz="1100" dirty="0">
                          <a:solidFill>
                            <a:srgbClr val="1C1B19"/>
                          </a:solidFill>
                          <a:latin typeface="Arial" pitchFamily="34" charset="0"/>
                          <a:ea typeface="Arial" pitchFamily="34" charset="-122"/>
                          <a:cs typeface="Arial" pitchFamily="34" charset="-120"/>
                        </a:rPr>
                        <a:t>ImageNet-256, public</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c>
                  <a:txBody>
                    <a:bodyPr/>
                    <a:lstStyle/>
                    <a:p>
                      <a:pPr algn="r" indent="0" marL="0">
                        <a:buNone/>
                      </a:pPr>
                      <a:r>
                        <a:rPr lang="en-US" sz="1100" b="1" dirty="0">
                          <a:solidFill>
                            <a:srgbClr val="D9482B"/>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r>
              <a:tr h="402336">
                <a:tc>
                  <a:txBody>
                    <a:bodyPr/>
                    <a:lstStyle/>
                    <a:p>
                      <a:pPr indent="0" marL="0">
                        <a:buNone/>
                      </a:pPr>
                      <a:r>
                        <a:rPr lang="en-US" sz="1100" dirty="0">
                          <a:solidFill>
                            <a:srgbClr val="1C1B19"/>
                          </a:solidFill>
                          <a:latin typeface="Arial" pitchFamily="34" charset="0"/>
                          <a:ea typeface="Arial" pitchFamily="34" charset="-122"/>
                          <a:cs typeface="Arial" pitchFamily="34" charset="-120"/>
                        </a:rPr>
                        <a:t>Sampler</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c>
                  <a:txBody>
                    <a:bodyPr/>
                    <a:lstStyle/>
                    <a:p>
                      <a:pPr indent="0" marL="0">
                        <a:buNone/>
                      </a:pPr>
                      <a:r>
                        <a:rPr lang="en-US" sz="1100" dirty="0">
                          <a:solidFill>
                            <a:srgbClr val="1C1B19"/>
                          </a:solidFill>
                          <a:latin typeface="Arial" pitchFamily="34" charset="0"/>
                          <a:ea typeface="Arial" pitchFamily="34" charset="-122"/>
                          <a:cs typeface="Arial" pitchFamily="34" charset="-120"/>
                        </a:rPr>
                        <a:t>DDIM · DPM-Solver</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c>
                  <a:txBody>
                    <a:bodyPr/>
                    <a:lstStyle/>
                    <a:p>
                      <a:pPr indent="0" marL="0">
                        <a:buNone/>
                      </a:pPr>
                      <a:r>
                        <a:rPr lang="en-US" sz="1100" dirty="0">
                          <a:solidFill>
                            <a:srgbClr val="1C1B19"/>
                          </a:solidFill>
                          <a:latin typeface="Arial" pitchFamily="34" charset="0"/>
                          <a:ea typeface="Arial" pitchFamily="34" charset="-122"/>
                          <a:cs typeface="Arial" pitchFamily="34" charset="-120"/>
                        </a:rPr>
                        <a:t>Euler · Heun (ODE)</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c>
                  <a:txBody>
                    <a:bodyPr/>
                    <a:lstStyle/>
                    <a:p>
                      <a:pPr algn="r" indent="0" marL="0">
                        <a:buNone/>
                      </a:pPr>
                      <a:r>
                        <a:rPr lang="en-US" sz="1100" b="1" dirty="0">
                          <a:solidFill>
                            <a:srgbClr val="D9482B"/>
                          </a:solidFill>
                          <a:latin typeface="Courier New" pitchFamily="34" charset="0"/>
                          <a:ea typeface="Courier New" pitchFamily="34" charset="-122"/>
                          <a:cs typeface="Courier New" pitchFamily="34" charset="-120"/>
                        </a:rPr>
                        <a:t>2 each</a:t>
                      </a:r>
                      <a:endParaRPr lang="en-US" sz="110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r>
              <a:tr h="402336">
                <a:tc>
                  <a:txBody>
                    <a:bodyPr/>
                    <a:lstStyle/>
                    <a:p>
                      <a:pPr indent="0" marL="0">
                        <a:buNone/>
                      </a:pPr>
                      <a:r>
                        <a:rPr lang="en-US" sz="1100" dirty="0">
                          <a:solidFill>
                            <a:srgbClr val="1C1B19"/>
                          </a:solidFill>
                          <a:latin typeface="Arial" pitchFamily="34" charset="0"/>
                          <a:ea typeface="Arial" pitchFamily="34" charset="-122"/>
                          <a:cs typeface="Arial" pitchFamily="34" charset="-120"/>
                        </a:rPr>
                        <a:t>Steps</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c>
                  <a:txBody>
                    <a:bodyPr/>
                    <a:lstStyle/>
                    <a:p>
                      <a:pPr indent="0" marL="0">
                        <a:buNone/>
                      </a:pPr>
                      <a:r>
                        <a:rPr lang="en-US" sz="1100" dirty="0">
                          <a:solidFill>
                            <a:srgbClr val="1C1B19"/>
                          </a:solidFill>
                          <a:latin typeface="Arial" pitchFamily="34" charset="0"/>
                          <a:ea typeface="Arial" pitchFamily="34" charset="-122"/>
                          <a:cs typeface="Arial" pitchFamily="34" charset="-120"/>
                        </a:rPr>
                        <a:t>8 · 16 · 32</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c>
                  <a:txBody>
                    <a:bodyPr/>
                    <a:lstStyle/>
                    <a:p>
                      <a:pPr indent="0" marL="0">
                        <a:buNone/>
                      </a:pPr>
                      <a:r>
                        <a:rPr lang="en-US" sz="1100" dirty="0">
                          <a:solidFill>
                            <a:srgbClr val="1C1B19"/>
                          </a:solidFill>
                          <a:latin typeface="Arial" pitchFamily="34" charset="0"/>
                          <a:ea typeface="Arial" pitchFamily="34" charset="-122"/>
                          <a:cs typeface="Arial" pitchFamily="34" charset="-120"/>
                        </a:rPr>
                        <a:t>8 · 16 · 32</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c>
                  <a:txBody>
                    <a:bodyPr/>
                    <a:lstStyle/>
                    <a:p>
                      <a:pPr algn="r" indent="0" marL="0">
                        <a:buNone/>
                      </a:pPr>
                      <a:r>
                        <a:rPr lang="en-US" sz="1100" b="1" dirty="0">
                          <a:solidFill>
                            <a:srgbClr val="D9482B"/>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r>
              <a:tr h="402336">
                <a:tc>
                  <a:txBody>
                    <a:bodyPr/>
                    <a:lstStyle/>
                    <a:p>
                      <a:pPr indent="0" marL="0">
                        <a:buNone/>
                      </a:pPr>
                      <a:r>
                        <a:rPr lang="en-US" sz="1100" dirty="0">
                          <a:solidFill>
                            <a:srgbClr val="1C1B19"/>
                          </a:solidFill>
                          <a:latin typeface="Arial" pitchFamily="34" charset="0"/>
                          <a:ea typeface="Arial" pitchFamily="34" charset="-122"/>
                          <a:cs typeface="Arial" pitchFamily="34" charset="-120"/>
                        </a:rPr>
                        <a:t>Acceleration</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c>
                  <a:txBody>
                    <a:bodyPr/>
                    <a:lstStyle/>
                    <a:p>
                      <a:pPr indent="0" marL="0">
                        <a:buNone/>
                      </a:pPr>
                      <a:r>
                        <a:rPr lang="en-US" sz="1100" dirty="0">
                          <a:solidFill>
                            <a:srgbClr val="1C1B19"/>
                          </a:solidFill>
                          <a:latin typeface="Arial" pitchFamily="34" charset="0"/>
                          <a:ea typeface="Arial" pitchFamily="34" charset="-122"/>
                          <a:cs typeface="Arial" pitchFamily="34" charset="-120"/>
                        </a:rPr>
                        <a:t>fp16, cache, INT8, FP8</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c>
                  <a:txBody>
                    <a:bodyPr/>
                    <a:lstStyle/>
                    <a:p>
                      <a:pPr indent="0" marL="0">
                        <a:buNone/>
                      </a:pPr>
                      <a:r>
                        <a:rPr lang="en-US" sz="1100" dirty="0">
                          <a:solidFill>
                            <a:srgbClr val="1C1B19"/>
                          </a:solidFill>
                          <a:latin typeface="Arial" pitchFamily="34" charset="0"/>
                          <a:ea typeface="Arial" pitchFamily="34" charset="-122"/>
                          <a:cs typeface="Arial" pitchFamily="34" charset="-120"/>
                        </a:rPr>
                        <a:t>fp16, cache, INT8, FP8</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c>
                  <a:txBody>
                    <a:bodyPr/>
                    <a:lstStyle/>
                    <a:p>
                      <a:pPr algn="r" indent="0" marL="0">
                        <a:buNone/>
                      </a:pPr>
                      <a:r>
                        <a:rPr lang="en-US" sz="1100" b="1" dirty="0">
                          <a:solidFill>
                            <a:srgbClr val="D9482B"/>
                          </a:solidFill>
                          <a:latin typeface="Courier New" pitchFamily="34" charset="0"/>
                          <a:ea typeface="Courier New" pitchFamily="34" charset="-122"/>
                          <a:cs typeface="Courier New" pitchFamily="34" charset="-120"/>
                        </a:rPr>
                        <a:t>4</a:t>
                      </a:r>
                      <a:endParaRPr lang="en-US" sz="110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r>
              <a:tr h="402336">
                <a:tc>
                  <a:txBody>
                    <a:bodyPr/>
                    <a:lstStyle/>
                    <a:p>
                      <a:pPr indent="0" marL="0">
                        <a:buNone/>
                      </a:pPr>
                      <a:r>
                        <a:rPr lang="en-US" sz="1100" dirty="0">
                          <a:solidFill>
                            <a:srgbClr val="6B665C"/>
                          </a:solidFill>
                          <a:latin typeface="Arial" pitchFamily="34" charset="0"/>
                          <a:ea typeface="Arial" pitchFamily="34" charset="-122"/>
                          <a:cs typeface="Arial" pitchFamily="34" charset="-120"/>
                        </a:rPr>
                        <a:t>Batch size</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c>
                  <a:txBody>
                    <a:bodyPr/>
                    <a:lstStyle/>
                    <a:p>
                      <a:pPr indent="0" marL="0">
                        <a:buNone/>
                      </a:pPr>
                      <a:r>
                        <a:rPr lang="en-US" sz="1100" dirty="0">
                          <a:solidFill>
                            <a:srgbClr val="6B665C"/>
                          </a:solidFill>
                          <a:latin typeface="Arial" pitchFamily="34" charset="0"/>
                          <a:ea typeface="Arial" pitchFamily="34" charset="-122"/>
                          <a:cs typeface="Arial" pitchFamily="34" charset="-120"/>
                        </a:rPr>
                        <a:t>1 · 16  (timing only)</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c>
                  <a:txBody>
                    <a:bodyPr/>
                    <a:lstStyle/>
                    <a:p>
                      <a:pPr indent="0" marL="0">
                        <a:buNone/>
                      </a:pPr>
                      <a:r>
                        <a:rPr lang="en-US" sz="1100" dirty="0">
                          <a:solidFill>
                            <a:srgbClr val="6B665C"/>
                          </a:solidFill>
                          <a:latin typeface="Arial" pitchFamily="34" charset="0"/>
                          <a:ea typeface="Arial" pitchFamily="34" charset="-122"/>
                          <a:cs typeface="Arial" pitchFamily="34" charset="-120"/>
                        </a:rPr>
                        <a:t>1 · 16  (timing only)</a:t>
                      </a:r>
                      <a:endParaRPr lang="en-US" sz="1100" dirty="0">
                        <a:latin typeface="Arial" charset="0"/>
                        <a:ea typeface="Arial" charset="0"/>
                        <a:cs typeface="Arial"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c>
                  <a:txBody>
                    <a:bodyPr/>
                    <a:lstStyle/>
                    <a:p>
                      <a:pPr algn="r" indent="0" marL="0">
                        <a:buNone/>
                      </a:pPr>
                      <a:r>
                        <a:rPr lang="en-US" sz="1100" dirty="0">
                          <a:solidFill>
                            <a:srgbClr val="6B665C"/>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C9C2B4"/>
                      </a:solidFill>
                      <a:prstDash val="solid"/>
                      <a:round/>
                      <a:headEnd type="none" w="med" len="med"/>
                      <a:tailEnd type="none" w="med" len="med"/>
                    </a:lnB>
                  </a:tcPr>
                </a:tc>
              </a:tr>
            </a:tbl>
          </a:graphicData>
        </a:graphic>
      </p:graphicFrame>
      <p:sp>
        <p:nvSpPr>
          <p:cNvPr id="9" name="Text 6"/>
          <p:cNvSpPr/>
          <p:nvPr/>
        </p:nvSpPr>
        <p:spPr>
          <a:xfrm>
            <a:off x="6400800" y="1463040"/>
            <a:ext cx="2286000" cy="320040"/>
          </a:xfrm>
          <a:prstGeom prst="rect">
            <a:avLst/>
          </a:prstGeom>
          <a:noFill/>
          <a:ln/>
        </p:spPr>
        <p:txBody>
          <a:bodyPr wrap="square" lIns="0" tIns="0" rIns="0" bIns="0" rtlCol="0" anchor="t"/>
          <a:lstStyle/>
          <a:p>
            <a:pPr indent="0" marL="0">
              <a:buNone/>
            </a:pPr>
            <a:r>
              <a:rPr lang="en-US" sz="1300" dirty="0">
                <a:solidFill>
                  <a:srgbClr val="6B665C"/>
                </a:solidFill>
                <a:latin typeface="Courier New" pitchFamily="34" charset="0"/>
                <a:ea typeface="Courier New" pitchFamily="34" charset="-122"/>
                <a:cs typeface="Courier New" pitchFamily="34" charset="-120"/>
              </a:rPr>
              <a:t>2 × 2 × 3 × 4</a:t>
            </a:r>
            <a:endParaRPr lang="en-US" sz="1300" dirty="0"/>
          </a:p>
        </p:txBody>
      </p:sp>
      <p:sp>
        <p:nvSpPr>
          <p:cNvPr id="10" name="Text 7"/>
          <p:cNvSpPr/>
          <p:nvPr/>
        </p:nvSpPr>
        <p:spPr>
          <a:xfrm>
            <a:off x="6400800" y="1783080"/>
            <a:ext cx="2286000" cy="1188720"/>
          </a:xfrm>
          <a:prstGeom prst="rect">
            <a:avLst/>
          </a:prstGeom>
          <a:noFill/>
          <a:ln/>
        </p:spPr>
        <p:txBody>
          <a:bodyPr wrap="square" lIns="0" tIns="0" rIns="0" bIns="0" rtlCol="0" anchor="t"/>
          <a:lstStyle/>
          <a:p>
            <a:pPr indent="0" marL="0">
              <a:buNone/>
            </a:pPr>
            <a:r>
              <a:rPr lang="en-US" sz="8000" dirty="0">
                <a:solidFill>
                  <a:srgbClr val="D9482B"/>
                </a:solidFill>
                <a:latin typeface="Georgia" pitchFamily="34" charset="0"/>
                <a:ea typeface="Georgia" pitchFamily="34" charset="-122"/>
                <a:cs typeface="Georgia" pitchFamily="34" charset="-120"/>
              </a:rPr>
              <a:t>48</a:t>
            </a:r>
            <a:endParaRPr lang="en-US" sz="8000" dirty="0"/>
          </a:p>
        </p:txBody>
      </p:sp>
      <p:sp>
        <p:nvSpPr>
          <p:cNvPr id="11" name="Text 8"/>
          <p:cNvSpPr/>
          <p:nvPr/>
        </p:nvSpPr>
        <p:spPr>
          <a:xfrm>
            <a:off x="6400800" y="3017520"/>
            <a:ext cx="2194560" cy="457200"/>
          </a:xfrm>
          <a:prstGeom prst="rect">
            <a:avLst/>
          </a:prstGeom>
          <a:noFill/>
          <a:ln/>
        </p:spPr>
        <p:txBody>
          <a:bodyPr wrap="square" lIns="0" tIns="0" rIns="0" bIns="0" rtlCol="0" anchor="t"/>
          <a:lstStyle/>
          <a:p>
            <a:pPr indent="0" marL="0">
              <a:buNone/>
            </a:pPr>
            <a:r>
              <a:rPr lang="en-US" sz="1100" dirty="0">
                <a:solidFill>
                  <a:srgbClr val="1C1B19"/>
                </a:solidFill>
                <a:latin typeface="Arial" pitchFamily="34" charset="0"/>
                <a:ea typeface="Arial" pitchFamily="34" charset="-122"/>
                <a:cs typeface="Arial" pitchFamily="34" charset="-120"/>
              </a:rPr>
              <a:t>model–sampler–step–acceleration configurations</a:t>
            </a:r>
            <a:endParaRPr lang="en-US" sz="1100" dirty="0"/>
          </a:p>
        </p:txBody>
      </p:sp>
      <p:sp>
        <p:nvSpPr>
          <p:cNvPr id="12" name="Shape 9"/>
          <p:cNvSpPr/>
          <p:nvPr/>
        </p:nvSpPr>
        <p:spPr>
          <a:xfrm>
            <a:off x="6400800" y="3657600"/>
            <a:ext cx="2286000" cy="0"/>
          </a:xfrm>
          <a:prstGeom prst="line">
            <a:avLst/>
          </a:prstGeom>
          <a:noFill/>
          <a:ln w="6350">
            <a:solidFill>
              <a:srgbClr val="C9C2B4"/>
            </a:solidFill>
            <a:prstDash val="solid"/>
          </a:ln>
        </p:spPr>
      </p:sp>
      <p:sp>
        <p:nvSpPr>
          <p:cNvPr id="13" name="Text 10"/>
          <p:cNvSpPr/>
          <p:nvPr/>
        </p:nvSpPr>
        <p:spPr>
          <a:xfrm>
            <a:off x="6400800" y="3749040"/>
            <a:ext cx="2286000" cy="868680"/>
          </a:xfrm>
          <a:prstGeom prst="rect">
            <a:avLst/>
          </a:prstGeom>
          <a:noFill/>
          <a:ln/>
        </p:spPr>
        <p:txBody>
          <a:bodyPr wrap="square" lIns="0" tIns="0" rIns="0" bIns="0" rtlCol="0" anchor="t"/>
          <a:lstStyle/>
          <a:p>
            <a:pPr indent="0" marL="0">
              <a:buNone/>
            </a:pPr>
            <a:r>
              <a:rPr lang="en-US" sz="950" dirty="0">
                <a:solidFill>
                  <a:srgbClr val="6B665C"/>
                </a:solidFill>
                <a:latin typeface="Arial" pitchFamily="34" charset="0"/>
                <a:ea typeface="Arial" pitchFamily="34" charset="-122"/>
                <a:cs typeface="Arial" pitchFamily="34" charset="-120"/>
              </a:rPr>
              <a:t>Primary outcome, transfer penalty: tune on one GPU at a fixed FID; how much slower is that choice on another GPU than its own best? At most 5% is near-optimal.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Hardware Change Which Generative Model Is Efficient?</dc:title>
  <dc:subject>PptxGenJS Presentation</dc:subject>
  <dc:creator>Iason-Daniil Zakynthinos</dc:creator>
  <cp:lastModifiedBy>Iason-Daniil Zakynthinos</cp:lastModifiedBy>
  <cp:revision>1</cp:revision>
  <dcterms:created xsi:type="dcterms:W3CDTF">2026-10-27T11:08:59Z</dcterms:created>
  <dcterms:modified xsi:type="dcterms:W3CDTF">2026-10-27T11:08:59Z</dcterms:modified>
</cp:coreProperties>
</file>