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One-line pitch: papers report '2× faster', but that number is measured on one GPU, and caching or 8-bit kernels change the cost of a call without changing the step count. I test whether those conclusions, and diffusion-vs-flow ones, survive a change of GPU. The figure is a cartoon of why flow matching might need fewer steps: straighter paths.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 is a control: DiT and SiT have the same architecture and GFLOPs, so without acceleration NFE should predict latency on every GPU. H2 and H3 are the real tests. All three are falsifiable; stable rankings would also be a useful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 to class material: diffusion/score models, flow matching, ODE solvers, and generative-model evaluation (FID, precision/recall). The FORA number is from AccelAes (ECCV 2026): 0.99× on an RTX 5090 at batch 1. The contribution is methodological: measured cost instead of proxy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48 = 2 models × 2 samplers each × 3 step counts × 4 accelerations (none, feature caching, INT8, FP8). Batch size varies only for timing. Every network evaluation counts toward NFE, both CFG passes and Heun's second evaluation per step; FLOPs are counted separately so cached calls show as cheaper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GPU generations with different precision support: the T4 has no bf16 or FP8, the 5080 and GH200 have FP8. Anything a GPU cannot run is marked unavailable after the week-1 smoke test, and that gap is part of the result. The software stack cannot be identical (Colab fixes its own, the GH200 host is ARM), so: one implementation per method, pinned versions, logged per run. Medians and IQRs because GPU timings have long tails.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Quality is a property of the configuration, not the GPU, up to numerical noise. The 5080 is the only device that runs every configuration, so all images are generated there; a subset is re-generated on the other two to check the assumption. FID is compared only at equal sample counts because it is biased at small 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schematic: on GPU A the red configs form a frontier; on GPU B one of them becomes dominated. That is the H2 failure mode, and accelerated configs are the likely candidates. For H3 the mechanism check is cheap: log the cosine similarity of consecutive-step block outputs during sampling.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degradation path is ordered: the core comparison survives every cut. What gets cut is breadth, never the research question. Caching failing at 8 steps is a prediction, not a risk. Out of scope: serving systems, training, exhaustive solver 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checkpoints: harness validated by week 4, pilot frontier by week 7, cross-device data by week 9. Weeks 1–2 include the kernel smoke test, so what runs where is fixed before any sweep. If week 9 slips, the fallbacks from the previous slide kick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'no losing outcome' point, then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 PROPOSAL  ·  ADVANCED TOPICS IN ARTIFICIAL INTELLIGENCE  ·  2026–27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hardware change which generative model is efficient?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6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Diffusion and flow-matching samplers with caching and INT8/FP8, measured across three GPU generations.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4160520"/>
            <a:ext cx="438912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Iason-Daniil Zakynthinos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4988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NTUA · ECE · October 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532120" y="914400"/>
            <a:ext cx="0" cy="324612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33288" y="3904488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33288" y="3904488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3823" y="3775641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00488" y="3819110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74357" y="3646793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5152" y="3759315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94892" y="3517946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97465" y="3706645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5426" y="3389099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85093" y="3640295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35961" y="3260252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37926" y="3541535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56495" y="3131404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42396" y="3397723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77030" y="3002557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94458" y="3205093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7564" y="2873710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00638" y="2969724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8099" y="2744863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76916" y="2706500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38633" y="2616015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45662" y="2436261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9168" y="2487168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31262" y="2181721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79703" y="2358321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308" y="1962994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300237" y="2229473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32348" y="1793632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20772" y="2100626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67056" y="1677987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541306" y="1971779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153392" y="1610434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61841" y="1842932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75940" y="1576613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782375" y="1714084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13122" y="1556424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902910" y="1585237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841648" y="1528171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23444" y="1456390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041275" y="1472999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43979" y="1327543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98904" y="1378706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64513" y="1198695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11179" y="1242165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385048" y="1069848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385048" y="1069848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669280" y="3840480"/>
            <a:ext cx="182880" cy="182880"/>
          </a:xfrm>
          <a:prstGeom prst="ellipse">
            <a:avLst/>
          </a:prstGeom>
          <a:solidFill>
            <a:srgbClr val="1C1B19"/>
          </a:solidFill>
          <a:ln w="12700">
            <a:solidFill>
              <a:srgbClr val="1C1B1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21040" y="1005840"/>
            <a:ext cx="182880" cy="182880"/>
          </a:xfrm>
          <a:prstGeom prst="ellipse">
            <a:avLst/>
          </a:prstGeom>
          <a:ln w="12700">
            <a:solidFill>
              <a:srgbClr val="1C1B1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32120" y="406908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noise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8229600" y="7498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760720" y="422452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</a:t>
            </a:r>
            <a:pPr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curved sampling path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F5D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</a:t>
            </a:r>
            <a:pPr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straight flow path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/  RESEARCH QUESTION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NFE still predict cost once calls get cheaper?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736592"/>
            <a:ext cx="8229600" cy="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ZAKYNTHINOS — ADVANCED TOPICS IN AI — PROPOSAL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0" y="479145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10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“When an acceleration changes the cost of a network call but not the number of calls, do quality–cost rankings survive a change of GPU?”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7200" y="2468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7200" y="29718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33756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acceleration, latency is linear in NFE on every device. DiT and SiT cost the same per call, so this validates the harness.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81528" y="2468880"/>
            <a:ext cx="0" cy="201168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2468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246120" y="29718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Rankings move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46120" y="333756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Caching and INT8/FP8 speedups depend on GPU and batch size, so they reorder the frontier in ways NFE and FLOPs cannot predict.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70448" y="2468880"/>
            <a:ext cx="0" cy="201168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2468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35040" y="29718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tolerates caching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333756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matching should lose less quality under caching than diffusion. At 8 steps caching is predicted to fail outright.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/  MOTIVATION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Efficiency claims are made on one accelerator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736592"/>
            <a:ext cx="8229600" cy="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ZAKYNTHINOS — ADVANCED TOPICS IN AI — PROPOSAL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0" y="479145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10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KNOW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3931920" cy="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families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737360" y="18288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diffusion denoises iteratively; flow matching follows straighter paths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450592"/>
            <a:ext cx="3931920" cy="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42032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Cheaper calls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737360" y="25420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caching and INT8/FP8 cut the cost per call, not NFE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163824"/>
            <a:ext cx="3931920" cy="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255264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DiT ↔ SiT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737360" y="32552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architecture and GFLOPs, different objective — a controlled pair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877056"/>
            <a:ext cx="3931920" cy="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968496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Proxies fail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737360" y="396849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FORA: 0.99× on an RTX 5090 at batch 1 — FLOP cuts are not speedups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846320" y="1417320"/>
            <a:ext cx="3840480" cy="3108960"/>
          </a:xfrm>
          <a:prstGeom prst="rect">
            <a:avLst/>
          </a:prstGeom>
          <a:solidFill>
            <a:srgbClr val="1C1B19"/>
          </a:solidFill>
          <a:ln w="12700">
            <a:solidFill>
              <a:srgbClr val="1C1B1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20640" y="16459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IS MISSING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120640" y="2011680"/>
            <a:ext cx="3337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3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Nobody checks whether caching and quantization speedups — or diffusion-vs-flow conclusions — transfer to another GPU.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120640" y="361188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B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recent survey names cross-platform behaviour as an open problem — so the protocol itself is fixed and published.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/  EXPERIMENTAL DESIGN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small, complete factorial — no training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736592"/>
            <a:ext cx="8229600" cy="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ZAKYNTHINOS — ADVANCED TOPICS IN AI — PROPOSAL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0" y="479145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10</a:t>
            </a:r>
            <a:endParaRPr lang="en-US" sz="7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4864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737360"/>
                <a:gridCol w="1737360"/>
                <a:gridCol w="8229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66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C1B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66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DIFFUSION · DiT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C1B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66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FLOW · SiT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C1B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LEVELS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C1B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Checkpoint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ImageNet-256, public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ImageNet-256, public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48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Sampler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DDIM · DPM-Solver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Euler · Heun (ODE)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48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each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· 16 · 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· 16 · 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48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Acceleration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fp16, cache, INT8, FP8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fp16, cache, INT8, FP8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48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6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Batch size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6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16  (timing only)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6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16  (timing only)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66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× 2 × 3 × 4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0" y="1783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dirty="0">
                <a:solidFill>
                  <a:srgbClr val="D948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</a:t>
            </a:r>
            <a:endParaRPr lang="en-US" sz="8000" dirty="0"/>
          </a:p>
        </p:txBody>
      </p:sp>
      <p:sp>
        <p:nvSpPr>
          <p:cNvPr id="11" name="Text 8"/>
          <p:cNvSpPr/>
          <p:nvPr/>
        </p:nvSpPr>
        <p:spPr>
          <a:xfrm>
            <a:off x="640080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model–sampler–step–acceleration configurations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0" y="3657600"/>
            <a:ext cx="2286000" cy="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0" y="37490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Fixed: guidance scale, compile settings, seeds, class labels. NFE counts every call; FLOPs are counted separately, so cached calls show as cheaper.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/  HARDWARE &amp; PROTOCOL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generations of GPU, one protocol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736592"/>
            <a:ext cx="8229600" cy="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ZAKYNTHINOS — ADVANCED TOPICS IN AI — PROPOSAL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0" y="479145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10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28016" cy="128016"/>
          </a:xfrm>
          <a:prstGeom prst="rect">
            <a:avLst/>
          </a:prstGeom>
          <a:solidFill>
            <a:srgbClr val="1C1B19"/>
          </a:solidFill>
          <a:ln w="12700">
            <a:solidFill>
              <a:srgbClr val="1C1B1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4173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C1B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RTX 5080 · LOCAL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1719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Blackwell · every precision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image generation, pilot sweeps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46120" y="1463040"/>
            <a:ext cx="128016" cy="128016"/>
          </a:xfrm>
          <a:prstGeom prst="rect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4173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C1B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 T4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74720" y="1719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Turing · no bf16, no FP8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sweeps only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35040" y="1463040"/>
            <a:ext cx="128016" cy="128016"/>
          </a:xfrm>
          <a:prstGeom prst="rect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4173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C1B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IKAROS GH200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63640" y="1719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Hopper · FP8 · scarce hours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6364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timing + validation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560320"/>
            <a:ext cx="8229600" cy="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6974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PROTOCOL — SAME ON EVERY DEVICE, ONE GPU PER RUN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57200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457200" y="3611880"/>
            <a:ext cx="146304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3703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4005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implementation, same versions, logged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130552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2130552" y="3611880"/>
            <a:ext cx="146304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130552" y="3703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 up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130552" y="4005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kernels before any timing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803904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3803904" y="3611880"/>
            <a:ext cx="146304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03904" y="3703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803904" y="4005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CUDA-event runs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477256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5477256" y="3611880"/>
            <a:ext cx="146304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77256" y="3703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477256" y="4005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memory, energy (NVML, GPU only)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150608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7150608" y="3611880"/>
            <a:ext cx="146304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50608" y="3703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150608" y="4005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+ interquartile range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/  QUALITY EVALUATION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Spend images only where the frontier 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736592"/>
            <a:ext cx="8229600" cy="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ZAKYNTHINOS — ADVANCED TOPICS IN AI — PROPOSAL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0" y="479145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10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solidFill>
            <a:srgbClr val="1C1B19"/>
          </a:solidFill>
          <a:ln w="12700">
            <a:solidFill>
              <a:srgbClr val="1C1B1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554480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3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1 — PILOT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1801368"/>
            <a:ext cx="7955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48 configurations × 2,000 images on the RTX 5080 · clean-fid, fixed ImageNet statistics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5669280" cy="685800"/>
          </a:xfrm>
          <a:prstGeom prst="rect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423160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3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2 — PROMOTE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670048"/>
            <a:ext cx="5394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configurations on or near the preliminary Pareto frontier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3291840" cy="685800"/>
          </a:xfrm>
          <a:prstGeom prst="rect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29184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3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3 — CONFIRM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538728"/>
            <a:ext cx="3017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images × 3 seeds · FID + precision/recall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160520"/>
            <a:ext cx="8229600" cy="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2245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images are generated once, not per GPU:  </a:t>
            </a:r>
            <a:pPr indent="0" marL="0">
              <a:buNone/>
            </a:pPr>
            <a:r>
              <a:rPr lang="en-US" sz="10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belongs to the configuration, not the device. The RTX 5080 runs every configuration, and a subset is re-generated on the T4 and GH200 to verify that.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 /  ANALYSIS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 hardware-dependent frontier looks like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736592"/>
            <a:ext cx="8229600" cy="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ZAKYNTHINOS — ADVANCED TOPICS IN AI — PROPOSAL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0" y="479145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10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822960" y="1554480"/>
            <a:ext cx="0" cy="265176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4206240"/>
            <a:ext cx="384048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5087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FID ↓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22960" y="427939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measured latency or energy per image →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097280" y="1920240"/>
            <a:ext cx="548640" cy="822960"/>
          </a:xfrm>
          <a:prstGeom prst="line">
            <a:avLst/>
          </a:prstGeom>
          <a:noFill/>
          <a:ln w="12700">
            <a:solidFill>
              <a:srgbClr val="D948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45920" y="2743200"/>
            <a:ext cx="822960" cy="640080"/>
          </a:xfrm>
          <a:prstGeom prst="line">
            <a:avLst/>
          </a:prstGeom>
          <a:noFill/>
          <a:ln w="12700">
            <a:solidFill>
              <a:srgbClr val="D948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8880" y="3383280"/>
            <a:ext cx="1280160" cy="365760"/>
          </a:xfrm>
          <a:prstGeom prst="line">
            <a:avLst/>
          </a:prstGeom>
          <a:noFill/>
          <a:ln w="12700">
            <a:solidFill>
              <a:srgbClr val="D948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80160" y="2011680"/>
            <a:ext cx="548640" cy="1280160"/>
          </a:xfrm>
          <a:prstGeom prst="line">
            <a:avLst/>
          </a:prstGeom>
          <a:noFill/>
          <a:ln w="12700">
            <a:solidFill>
              <a:srgbClr val="2F5D6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828800" y="3291840"/>
            <a:ext cx="2286000" cy="502920"/>
          </a:xfrm>
          <a:prstGeom prst="line">
            <a:avLst/>
          </a:prstGeom>
          <a:noFill/>
          <a:ln w="12700">
            <a:solidFill>
              <a:srgbClr val="2F5D6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037844" y="1860804"/>
            <a:ext cx="118872" cy="118872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6484" y="2683764"/>
            <a:ext cx="118872" cy="118872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09444" y="3323844"/>
            <a:ext cx="118872" cy="118872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89604" y="3689604"/>
            <a:ext cx="118872" cy="118872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20724" y="1952244"/>
            <a:ext cx="118872" cy="118872"/>
          </a:xfrm>
          <a:prstGeom prst="ellipse">
            <a:avLst/>
          </a:prstGeom>
          <a:solidFill>
            <a:srgbClr val="F3EFE6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69364" y="3232404"/>
            <a:ext cx="118872" cy="118872"/>
          </a:xfrm>
          <a:prstGeom prst="ellipse">
            <a:avLst/>
          </a:prstGeom>
          <a:solidFill>
            <a:srgbClr val="F3EFE6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75204" y="2866644"/>
            <a:ext cx="118872" cy="118872"/>
          </a:xfrm>
          <a:prstGeom prst="ellipse">
            <a:avLst/>
          </a:prstGeom>
          <a:solidFill>
            <a:srgbClr val="F3EFE6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55364" y="3735324"/>
            <a:ext cx="118872" cy="118872"/>
          </a:xfrm>
          <a:prstGeom prst="ellipse">
            <a:avLst/>
          </a:prstGeom>
          <a:solidFill>
            <a:srgbClr val="F3EFE6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44368" y="28346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F5D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dominated on GPU B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" y="132588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</a:t>
            </a:r>
            <a:pPr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A    </a:t>
            </a:r>
            <a:pPr indent="0" marL="0">
              <a:buNone/>
            </a:pPr>
            <a:r>
              <a:rPr lang="en-US" sz="800" dirty="0">
                <a:solidFill>
                  <a:srgbClr val="2F5D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○ </a:t>
            </a:r>
            <a:pPr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B    </a:t>
            </a:r>
            <a:pPr indent="0" marL="0">
              <a:buNone/>
            </a:pPr>
            <a:r>
              <a:rPr lang="en-US" sz="800" i="1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schematic, not data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212080" y="1463040"/>
            <a:ext cx="3474720" cy="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12080" y="15544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760720" y="15544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Control: regress latency &amp; energy on NFE and FLOPs per device and batch size.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212080" y="2212848"/>
            <a:ext cx="3474720" cy="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12080" y="23042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760720" y="230428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Per-device frontiers; flag configs efficient on one GPU but dominated on another.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212080" y="2962656"/>
            <a:ext cx="3474720" cy="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12080" y="305409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H2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760720" y="3054096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Kendall's τ between devices, plain vs accelerated, with bootstrap intervals.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212080" y="3712464"/>
            <a:ext cx="3474720" cy="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12080" y="380390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H3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760720" y="380390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cost of caching by family and step count, vs consecutive-step similarity.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 /  FEASIBILITY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 survives every cut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736592"/>
            <a:ext cx="8229600" cy="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ZAKYNTHINOS — ADVANCED TOPICS IN AI — PROPOSAL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0" y="479145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10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FITS A SEMESTER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737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5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17556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DiT / SiT checkpoints — zero training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5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230428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Pilot: 48 configs × 2,000 images ≈ 6 GPU-hours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5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285292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frontier configs get 10k × 3 seeds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5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40156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Cross-device work = short timing sweeps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5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" y="39502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Week-1 kernel smoke test fixes what runs where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1417320"/>
            <a:ext cx="0" cy="315468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141732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COMPUTE TIGHTENS, CUT IN THIS ORDER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37760" y="17830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948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349240" y="18379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FP8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937760" y="242316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948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349240" y="24780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Ikaros: batch size 1 only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937760" y="30632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948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349240" y="31181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the 32-step level for accelerated configurations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37760" y="3794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cut: </a:t>
            </a:r>
            <a:pPr indent="0" marL="0">
              <a:buNone/>
            </a:pPr>
            <a:r>
              <a:rPr lang="en-US" sz="10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model families, caching, cross-device timing.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 /  SCHEDULE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Thirteen weeks, measurement harness first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736592"/>
            <a:ext cx="8229600" cy="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ZAKYNTHINOS — ADVANCED TOPICS IN AI — PROPOSAL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0" y="479145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10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514600" y="1417320"/>
            <a:ext cx="4747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514600" y="1691640"/>
            <a:ext cx="0" cy="292608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89385" y="1417320"/>
            <a:ext cx="4747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989385" y="1691640"/>
            <a:ext cx="0" cy="292608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64169" y="1417320"/>
            <a:ext cx="4747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64169" y="1691640"/>
            <a:ext cx="0" cy="292608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8954" y="1417320"/>
            <a:ext cx="4747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938954" y="1691640"/>
            <a:ext cx="0" cy="292608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3738" y="1417320"/>
            <a:ext cx="4747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413738" y="1691640"/>
            <a:ext cx="0" cy="292608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88523" y="1417320"/>
            <a:ext cx="4747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888523" y="1691640"/>
            <a:ext cx="0" cy="292608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3308" y="1417320"/>
            <a:ext cx="4747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63308" y="1691640"/>
            <a:ext cx="0" cy="292608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38092" y="1417320"/>
            <a:ext cx="4747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838092" y="1691640"/>
            <a:ext cx="0" cy="292608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12877" y="1417320"/>
            <a:ext cx="4747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312877" y="1691640"/>
            <a:ext cx="0" cy="292608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87662" y="1417320"/>
            <a:ext cx="4747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787662" y="1691640"/>
            <a:ext cx="0" cy="292608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62446" y="1417320"/>
            <a:ext cx="4747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262446" y="1691640"/>
            <a:ext cx="0" cy="292608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37231" y="1417320"/>
            <a:ext cx="4747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737231" y="1691640"/>
            <a:ext cx="0" cy="292608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12015" y="1417320"/>
            <a:ext cx="4747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212015" y="1691640"/>
            <a:ext cx="0" cy="292608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686800" y="1691640"/>
            <a:ext cx="0" cy="2926080"/>
          </a:xfrm>
          <a:prstGeom prst="line">
            <a:avLst/>
          </a:prstGeom>
          <a:noFill/>
          <a:ln w="6350">
            <a:solidFill>
              <a:srgbClr val="E4DED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7830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Setup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19751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pinned env, kernel smoke test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542032" y="1828800"/>
            <a:ext cx="894705" cy="274320"/>
          </a:xfrm>
          <a:prstGeom prst="rect">
            <a:avLst/>
          </a:prstGeom>
          <a:solidFill>
            <a:srgbClr val="1C1B19"/>
          </a:solidFill>
          <a:ln w="12700">
            <a:solidFill>
              <a:srgbClr val="1C1B1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22402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Harness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57200" y="24323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timing, energy, cache, INT8/FP8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491601" y="2286000"/>
            <a:ext cx="894705" cy="274320"/>
          </a:xfrm>
          <a:prstGeom prst="rect">
            <a:avLst/>
          </a:prstGeom>
          <a:solidFill>
            <a:srgbClr val="1C1B19"/>
          </a:solidFill>
          <a:ln w="12700">
            <a:solidFill>
              <a:srgbClr val="1C1B1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26974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57200" y="28895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2k images, FID, frontier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441170" y="2743200"/>
            <a:ext cx="1369490" cy="274320"/>
          </a:xfrm>
          <a:prstGeom prst="rect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31546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Cross-device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457200" y="33467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+ GH200 sweeps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865524" y="3200400"/>
            <a:ext cx="894705" cy="274320"/>
          </a:xfrm>
          <a:prstGeom prst="rect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36118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Confirm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457200" y="38039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10k × 3 seeds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815094" y="3657600"/>
            <a:ext cx="894705" cy="274320"/>
          </a:xfrm>
          <a:prstGeom prst="rect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0690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Analyze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457200" y="42611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NFE/FLOPs, Pareto, τ, report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764663" y="4114800"/>
            <a:ext cx="894705" cy="274320"/>
          </a:xfrm>
          <a:prstGeom prst="rect">
            <a:avLst/>
          </a:prstGeom>
          <a:solidFill>
            <a:srgbClr val="1C1B19"/>
          </a:solidFill>
          <a:ln w="12700">
            <a:solidFill>
              <a:srgbClr val="1C1B1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40586" y="4206240"/>
            <a:ext cx="146304" cy="146304"/>
          </a:xfrm>
          <a:prstGeom prst="diamond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590778" y="43891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harness validated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764940" y="4206240"/>
            <a:ext cx="146304" cy="146304"/>
          </a:xfrm>
          <a:prstGeom prst="diamond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015132" y="43891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pilot frontier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714510" y="4206240"/>
            <a:ext cx="146304" cy="146304"/>
          </a:xfrm>
          <a:prstGeom prst="diamond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67622" y="454456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cross-device data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B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/  EXPECTED CONTRIBUTION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6350">
            <a:solidFill>
              <a:srgbClr val="3A38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4241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D948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042416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reproducible benchmark script and configuration manifest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8229600" cy="0"/>
          </a:xfrm>
          <a:prstGeom prst="line">
            <a:avLst/>
          </a:prstGeom>
          <a:noFill/>
          <a:ln w="6350">
            <a:solidFill>
              <a:srgbClr val="3A38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2821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D948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1728216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Hardware-specific Pareto plots and rank-agreement statistics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8229600" cy="0"/>
          </a:xfrm>
          <a:prstGeom prst="line">
            <a:avLst/>
          </a:prstGeom>
          <a:noFill/>
          <a:ln w="6350">
            <a:solidFill>
              <a:srgbClr val="3A38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41401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D948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414016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on when NFE or FLOPs can stand in for measured cost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8229600" cy="0"/>
          </a:xfrm>
          <a:prstGeom prst="line">
            <a:avLst/>
          </a:prstGeom>
          <a:noFill/>
          <a:ln w="6350">
            <a:solidFill>
              <a:srgbClr val="3A38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2004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Either outcome is informative: stable rankings validate NFE and FLOPs; unstable ones mean speedup claims need their hardware attached.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F3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Does Hardware Change Which Generative Model Is Efficient?</dc:title>
  <dc:subject>PptxGenJS Presentation</dc:subject>
  <dc:creator>Iason-Daniil Zakynthinos</dc:creator>
  <cp:lastModifiedBy>Iason-Daniil Zakynthinos</cp:lastModifiedBy>
  <cp:revision>1</cp:revision>
  <dcterms:created xsi:type="dcterms:W3CDTF">2026-10-27T11:08:59Z</dcterms:created>
  <dcterms:modified xsi:type="dcterms:W3CDTF">2026-10-27T11:08:59Z</dcterms:modified>
</cp:coreProperties>
</file>