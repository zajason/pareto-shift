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papers report 'this sampler needs fewer steps', but steps are not seconds or joules. I test whether diffusion-vs-flow efficiency conclusions survive a change of GPU. The figure is a cartoon of why flow matching might need fewer steps: straighter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sub-questions map to three hypotheses. They are falsifiable: if rankings are stable, that is also a useful result — it validates NFE as a proxy in this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to class material: diffusion/score models, flow matching, ODE solvers, and generative-model evaluation (FID, precision/recall). The contribution is methodological: measured cost instead of proxy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2 models × 2 samplers each × 3 step counts × 2 precisions. Batch size varies only for timing. Every network evaluation counts toward NFE — both CFG passes and Heun's second evaluation per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devices span roughly three GPU generations with very different memory bandwidth and precision support. One GPU per run keeps GH200 numbers comparable. Medians and IQRs, not means, because GPU timings have long 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is a property of model + sampler + precision, not of the GPU, up to numerical noise. I verify that assumption on selected outputs per device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schematic: on GPU A the red configs form a frontier; on GPU B one of them becomes dominated. That is the H2 failure mode I'm testing for. For H3, matching on steps or NFE would be unfair to Heun and multistep solvers; milliseconds and joules are what a practitioner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degradation path is ordered: the core comparison survives every cut. What gets cut is breadth, never the research question. Out of scope: serving systems, training from scratch, exhaustive solver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checkpoints: harness validated by week 4, pilot frontier by week 7, cross-device data by week 9. If week 9 slips, the fallbacks from the previous slide kick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'no losing outcome' point,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457200" y="411480"/>
            <a:ext cx="8229600" cy="201168"/>
          </a:xfrm>
          <a:prstGeom prst="rect">
            <a:avLst/>
          </a:prstGeom>
          <a:noFill/>
          <a:ln/>
        </p:spPr>
        <p:txBody>
          <a:bodyPr wrap="square" lIns="0" tIns="0" rIns="0" bIns="0" rtlCol="0" anchor="t"/>
          <a:lstStyle/>
          <a:p>
            <a:pPr indent="0" marL="0">
              <a:buNone/>
            </a:pPr>
            <a:r>
              <a:rPr lang="en-US" sz="850" dirty="0">
                <a:solidFill>
                  <a:srgbClr val="D9482B"/>
                </a:solidFill>
                <a:latin typeface="Courier New" pitchFamily="34" charset="0"/>
                <a:ea typeface="Courier New" pitchFamily="34" charset="-122"/>
                <a:cs typeface="Courier New" pitchFamily="34" charset="-120"/>
              </a:rPr>
              <a:t>PROJECT PROPOSAL  ·  ADVANCED TOPICS IN ARTIFICIAL INTELLIGENCE  ·  2026–27</a:t>
            </a:r>
            <a:endParaRPr lang="en-US" sz="850" dirty="0"/>
          </a:p>
        </p:txBody>
      </p:sp>
      <p:sp>
        <p:nvSpPr>
          <p:cNvPr id="3" name="Text 1"/>
          <p:cNvSpPr/>
          <p:nvPr/>
        </p:nvSpPr>
        <p:spPr>
          <a:xfrm>
            <a:off x="457200" y="868680"/>
            <a:ext cx="4846320" cy="2011680"/>
          </a:xfrm>
          <a:prstGeom prst="rect">
            <a:avLst/>
          </a:prstGeom>
          <a:noFill/>
          <a:ln/>
        </p:spPr>
        <p:txBody>
          <a:bodyPr wrap="square" lIns="0" tIns="0" rIns="0" bIns="0" rtlCol="0" anchor="t"/>
          <a:lstStyle/>
          <a:p>
            <a:pPr indent="0" marL="0">
              <a:buNone/>
            </a:pPr>
            <a:r>
              <a:rPr lang="en-US" sz="3000" dirty="0">
                <a:solidFill>
                  <a:srgbClr val="1C1B19"/>
                </a:solidFill>
                <a:latin typeface="Georgia" pitchFamily="34" charset="0"/>
                <a:ea typeface="Georgia" pitchFamily="34" charset="-122"/>
                <a:cs typeface="Georgia" pitchFamily="34" charset="-120"/>
              </a:rPr>
              <a:t>Does hardware change which generative model is efficient?</a:t>
            </a:r>
            <a:endParaRPr lang="en-US" sz="3000" dirty="0"/>
          </a:p>
        </p:txBody>
      </p:sp>
      <p:sp>
        <p:nvSpPr>
          <p:cNvPr id="4" name="Text 2"/>
          <p:cNvSpPr/>
          <p:nvPr/>
        </p:nvSpPr>
        <p:spPr>
          <a:xfrm>
            <a:off x="457200" y="3108960"/>
            <a:ext cx="4389120" cy="548640"/>
          </a:xfrm>
          <a:prstGeom prst="rect">
            <a:avLst/>
          </a:prstGeom>
          <a:noFill/>
          <a:ln/>
        </p:spPr>
        <p:txBody>
          <a:bodyPr wrap="square" lIns="0" tIns="0" rIns="0" bIns="0" rtlCol="0" anchor="t"/>
          <a:lstStyle/>
          <a:p>
            <a:pPr indent="0" marL="0">
              <a:buNone/>
            </a:pPr>
            <a:r>
              <a:rPr lang="en-US" sz="1400" i="1" dirty="0">
                <a:solidFill>
                  <a:srgbClr val="6B665C"/>
                </a:solidFill>
                <a:latin typeface="Georgia" pitchFamily="34" charset="0"/>
                <a:ea typeface="Georgia" pitchFamily="34" charset="-122"/>
                <a:cs typeface="Georgia" pitchFamily="34" charset="-120"/>
              </a:rPr>
              <a:t>Diffusion and flow-matching samplers, measured across heterogeneous GPUs.</a:t>
            </a:r>
            <a:endParaRPr lang="en-US" sz="1400" dirty="0"/>
          </a:p>
        </p:txBody>
      </p:sp>
      <p:sp>
        <p:nvSpPr>
          <p:cNvPr id="5" name="Shape 3"/>
          <p:cNvSpPr/>
          <p:nvPr/>
        </p:nvSpPr>
        <p:spPr>
          <a:xfrm>
            <a:off x="457200" y="4160520"/>
            <a:ext cx="4389120" cy="0"/>
          </a:xfrm>
          <a:prstGeom prst="line">
            <a:avLst/>
          </a:prstGeom>
          <a:noFill/>
          <a:ln w="9525">
            <a:solidFill>
              <a:srgbClr val="1C1B19"/>
            </a:solidFill>
            <a:prstDash val="solid"/>
          </a:ln>
        </p:spPr>
      </p:sp>
      <p:sp>
        <p:nvSpPr>
          <p:cNvPr id="6" name="Text 4"/>
          <p:cNvSpPr/>
          <p:nvPr/>
        </p:nvSpPr>
        <p:spPr>
          <a:xfrm>
            <a:off x="457200" y="4251960"/>
            <a:ext cx="3657600" cy="228600"/>
          </a:xfrm>
          <a:prstGeom prst="rect">
            <a:avLst/>
          </a:prstGeom>
          <a:noFill/>
          <a:ln/>
        </p:spPr>
        <p:txBody>
          <a:bodyPr wrap="square" lIns="0" tIns="0" rIns="0" bIns="0" rtlCol="0" anchor="t"/>
          <a:lstStyle/>
          <a:p>
            <a:pPr indent="0" marL="0">
              <a:buNone/>
            </a:pPr>
            <a:r>
              <a:rPr lang="en-US" sz="1200" b="1" dirty="0">
                <a:solidFill>
                  <a:srgbClr val="1C1B19"/>
                </a:solidFill>
                <a:latin typeface="Arial" pitchFamily="34" charset="0"/>
                <a:ea typeface="Arial" pitchFamily="34" charset="-122"/>
                <a:cs typeface="Arial" pitchFamily="34" charset="-120"/>
              </a:rPr>
              <a:t>Iason-Daniil Zakynthinos</a:t>
            </a:r>
            <a:endParaRPr lang="en-US" sz="1200" dirty="0"/>
          </a:p>
        </p:txBody>
      </p:sp>
      <p:sp>
        <p:nvSpPr>
          <p:cNvPr id="7" name="Text 5"/>
          <p:cNvSpPr/>
          <p:nvPr/>
        </p:nvSpPr>
        <p:spPr>
          <a:xfrm>
            <a:off x="457200" y="4498848"/>
            <a:ext cx="3657600" cy="201168"/>
          </a:xfrm>
          <a:prstGeom prst="rect">
            <a:avLst/>
          </a:prstGeom>
          <a:noFill/>
          <a:ln/>
        </p:spPr>
        <p:txBody>
          <a:bodyPr wrap="square" lIns="0" tIns="0" rIns="0" bIns="0" rtlCol="0" anchor="t"/>
          <a:lstStyle/>
          <a:p>
            <a:pPr indent="0" marL="0">
              <a:buNone/>
            </a:pPr>
            <a:r>
              <a:rPr lang="en-US" sz="900" dirty="0">
                <a:solidFill>
                  <a:srgbClr val="6B665C"/>
                </a:solidFill>
                <a:latin typeface="Courier New" pitchFamily="34" charset="0"/>
                <a:ea typeface="Courier New" pitchFamily="34" charset="-122"/>
                <a:cs typeface="Courier New" pitchFamily="34" charset="-120"/>
              </a:rPr>
              <a:t>NTUA · ECE · October 2026</a:t>
            </a:r>
            <a:endParaRPr lang="en-US" sz="900" dirty="0"/>
          </a:p>
        </p:txBody>
      </p:sp>
      <p:sp>
        <p:nvSpPr>
          <p:cNvPr id="8" name="Shape 6"/>
          <p:cNvSpPr/>
          <p:nvPr/>
        </p:nvSpPr>
        <p:spPr>
          <a:xfrm>
            <a:off x="5532120" y="914400"/>
            <a:ext cx="0" cy="3246120"/>
          </a:xfrm>
          <a:prstGeom prst="line">
            <a:avLst/>
          </a:prstGeom>
          <a:noFill/>
          <a:ln w="6350">
            <a:solidFill>
              <a:srgbClr val="C9C2B4"/>
            </a:solidFill>
            <a:prstDash val="solid"/>
          </a:ln>
        </p:spPr>
      </p:sp>
      <p:sp>
        <p:nvSpPr>
          <p:cNvPr id="9" name="Shape 7"/>
          <p:cNvSpPr/>
          <p:nvPr/>
        </p:nvSpPr>
        <p:spPr>
          <a:xfrm>
            <a:off x="5733288" y="3904488"/>
            <a:ext cx="54864" cy="54864"/>
          </a:xfrm>
          <a:prstGeom prst="ellipse">
            <a:avLst/>
          </a:prstGeom>
          <a:solidFill>
            <a:srgbClr val="2F5D62"/>
          </a:solidFill>
          <a:ln w="12700">
            <a:solidFill>
              <a:srgbClr val="2F5D62"/>
            </a:solidFill>
            <a:prstDash val="solid"/>
          </a:ln>
        </p:spPr>
      </p:sp>
      <p:sp>
        <p:nvSpPr>
          <p:cNvPr id="10" name="Shape 8"/>
          <p:cNvSpPr/>
          <p:nvPr/>
        </p:nvSpPr>
        <p:spPr>
          <a:xfrm>
            <a:off x="5733288" y="3904488"/>
            <a:ext cx="54864" cy="54864"/>
          </a:xfrm>
          <a:prstGeom prst="ellipse">
            <a:avLst/>
          </a:prstGeom>
          <a:solidFill>
            <a:srgbClr val="D9482B"/>
          </a:solidFill>
          <a:ln w="12700">
            <a:solidFill>
              <a:srgbClr val="D9482B"/>
            </a:solidFill>
            <a:prstDash val="solid"/>
          </a:ln>
        </p:spPr>
      </p:sp>
      <p:sp>
        <p:nvSpPr>
          <p:cNvPr id="11" name="Shape 9"/>
          <p:cNvSpPr/>
          <p:nvPr/>
        </p:nvSpPr>
        <p:spPr>
          <a:xfrm>
            <a:off x="5853823" y="3775641"/>
            <a:ext cx="54864" cy="54864"/>
          </a:xfrm>
          <a:prstGeom prst="ellipse">
            <a:avLst/>
          </a:prstGeom>
          <a:solidFill>
            <a:srgbClr val="2F5D62"/>
          </a:solidFill>
          <a:ln w="12700">
            <a:solidFill>
              <a:srgbClr val="2F5D62"/>
            </a:solidFill>
            <a:prstDash val="solid"/>
          </a:ln>
        </p:spPr>
      </p:sp>
      <p:sp>
        <p:nvSpPr>
          <p:cNvPr id="12" name="Shape 10"/>
          <p:cNvSpPr/>
          <p:nvPr/>
        </p:nvSpPr>
        <p:spPr>
          <a:xfrm>
            <a:off x="5900488" y="3819110"/>
            <a:ext cx="54864" cy="54864"/>
          </a:xfrm>
          <a:prstGeom prst="ellipse">
            <a:avLst/>
          </a:prstGeom>
          <a:solidFill>
            <a:srgbClr val="D9482B"/>
          </a:solidFill>
          <a:ln w="12700">
            <a:solidFill>
              <a:srgbClr val="D9482B"/>
            </a:solidFill>
            <a:prstDash val="solid"/>
          </a:ln>
        </p:spPr>
      </p:sp>
      <p:sp>
        <p:nvSpPr>
          <p:cNvPr id="13" name="Shape 11"/>
          <p:cNvSpPr/>
          <p:nvPr/>
        </p:nvSpPr>
        <p:spPr>
          <a:xfrm>
            <a:off x="5974357" y="3646793"/>
            <a:ext cx="54864" cy="54864"/>
          </a:xfrm>
          <a:prstGeom prst="ellipse">
            <a:avLst/>
          </a:prstGeom>
          <a:solidFill>
            <a:srgbClr val="2F5D62"/>
          </a:solidFill>
          <a:ln w="12700">
            <a:solidFill>
              <a:srgbClr val="2F5D62"/>
            </a:solidFill>
            <a:prstDash val="solid"/>
          </a:ln>
        </p:spPr>
      </p:sp>
      <p:sp>
        <p:nvSpPr>
          <p:cNvPr id="14" name="Shape 12"/>
          <p:cNvSpPr/>
          <p:nvPr/>
        </p:nvSpPr>
        <p:spPr>
          <a:xfrm>
            <a:off x="6095152" y="3759315"/>
            <a:ext cx="54864" cy="54864"/>
          </a:xfrm>
          <a:prstGeom prst="ellipse">
            <a:avLst/>
          </a:prstGeom>
          <a:solidFill>
            <a:srgbClr val="D9482B"/>
          </a:solidFill>
          <a:ln w="12700">
            <a:solidFill>
              <a:srgbClr val="D9482B"/>
            </a:solidFill>
            <a:prstDash val="solid"/>
          </a:ln>
        </p:spPr>
      </p:sp>
      <p:sp>
        <p:nvSpPr>
          <p:cNvPr id="15" name="Shape 13"/>
          <p:cNvSpPr/>
          <p:nvPr/>
        </p:nvSpPr>
        <p:spPr>
          <a:xfrm>
            <a:off x="6094892" y="3517946"/>
            <a:ext cx="54864" cy="54864"/>
          </a:xfrm>
          <a:prstGeom prst="ellipse">
            <a:avLst/>
          </a:prstGeom>
          <a:solidFill>
            <a:srgbClr val="2F5D62"/>
          </a:solidFill>
          <a:ln w="12700">
            <a:solidFill>
              <a:srgbClr val="2F5D62"/>
            </a:solidFill>
            <a:prstDash val="solid"/>
          </a:ln>
        </p:spPr>
      </p:sp>
      <p:sp>
        <p:nvSpPr>
          <p:cNvPr id="16" name="Shape 14"/>
          <p:cNvSpPr/>
          <p:nvPr/>
        </p:nvSpPr>
        <p:spPr>
          <a:xfrm>
            <a:off x="6297465" y="3706645"/>
            <a:ext cx="54864" cy="54864"/>
          </a:xfrm>
          <a:prstGeom prst="ellipse">
            <a:avLst/>
          </a:prstGeom>
          <a:solidFill>
            <a:srgbClr val="D9482B"/>
          </a:solidFill>
          <a:ln w="12700">
            <a:solidFill>
              <a:srgbClr val="D9482B"/>
            </a:solidFill>
            <a:prstDash val="solid"/>
          </a:ln>
        </p:spPr>
      </p:sp>
      <p:sp>
        <p:nvSpPr>
          <p:cNvPr id="17" name="Shape 15"/>
          <p:cNvSpPr/>
          <p:nvPr/>
        </p:nvSpPr>
        <p:spPr>
          <a:xfrm>
            <a:off x="6215426" y="3389099"/>
            <a:ext cx="54864" cy="54864"/>
          </a:xfrm>
          <a:prstGeom prst="ellipse">
            <a:avLst/>
          </a:prstGeom>
          <a:solidFill>
            <a:srgbClr val="2F5D62"/>
          </a:solidFill>
          <a:ln w="12700">
            <a:solidFill>
              <a:srgbClr val="2F5D62"/>
            </a:solidFill>
            <a:prstDash val="solid"/>
          </a:ln>
        </p:spPr>
      </p:sp>
      <p:sp>
        <p:nvSpPr>
          <p:cNvPr id="18" name="Shape 16"/>
          <p:cNvSpPr/>
          <p:nvPr/>
        </p:nvSpPr>
        <p:spPr>
          <a:xfrm>
            <a:off x="6485093" y="3640295"/>
            <a:ext cx="54864" cy="54864"/>
          </a:xfrm>
          <a:prstGeom prst="ellipse">
            <a:avLst/>
          </a:prstGeom>
          <a:solidFill>
            <a:srgbClr val="D9482B"/>
          </a:solidFill>
          <a:ln w="12700">
            <a:solidFill>
              <a:srgbClr val="D9482B"/>
            </a:solidFill>
            <a:prstDash val="solid"/>
          </a:ln>
        </p:spPr>
      </p:sp>
      <p:sp>
        <p:nvSpPr>
          <p:cNvPr id="19" name="Shape 17"/>
          <p:cNvSpPr/>
          <p:nvPr/>
        </p:nvSpPr>
        <p:spPr>
          <a:xfrm>
            <a:off x="6335961" y="3260252"/>
            <a:ext cx="54864" cy="54864"/>
          </a:xfrm>
          <a:prstGeom prst="ellipse">
            <a:avLst/>
          </a:prstGeom>
          <a:solidFill>
            <a:srgbClr val="2F5D62"/>
          </a:solidFill>
          <a:ln w="12700">
            <a:solidFill>
              <a:srgbClr val="2F5D62"/>
            </a:solidFill>
            <a:prstDash val="solid"/>
          </a:ln>
        </p:spPr>
      </p:sp>
      <p:sp>
        <p:nvSpPr>
          <p:cNvPr id="20" name="Shape 18"/>
          <p:cNvSpPr/>
          <p:nvPr/>
        </p:nvSpPr>
        <p:spPr>
          <a:xfrm>
            <a:off x="6637926" y="3541535"/>
            <a:ext cx="54864" cy="54864"/>
          </a:xfrm>
          <a:prstGeom prst="ellipse">
            <a:avLst/>
          </a:prstGeom>
          <a:solidFill>
            <a:srgbClr val="D9482B"/>
          </a:solidFill>
          <a:ln w="12700">
            <a:solidFill>
              <a:srgbClr val="D9482B"/>
            </a:solidFill>
            <a:prstDash val="solid"/>
          </a:ln>
        </p:spPr>
      </p:sp>
      <p:sp>
        <p:nvSpPr>
          <p:cNvPr id="21" name="Shape 19"/>
          <p:cNvSpPr/>
          <p:nvPr/>
        </p:nvSpPr>
        <p:spPr>
          <a:xfrm>
            <a:off x="6456495" y="3131404"/>
            <a:ext cx="54864" cy="54864"/>
          </a:xfrm>
          <a:prstGeom prst="ellipse">
            <a:avLst/>
          </a:prstGeom>
          <a:solidFill>
            <a:srgbClr val="2F5D62"/>
          </a:solidFill>
          <a:ln w="12700">
            <a:solidFill>
              <a:srgbClr val="2F5D62"/>
            </a:solidFill>
            <a:prstDash val="solid"/>
          </a:ln>
        </p:spPr>
      </p:sp>
      <p:sp>
        <p:nvSpPr>
          <p:cNvPr id="22" name="Shape 20"/>
          <p:cNvSpPr/>
          <p:nvPr/>
        </p:nvSpPr>
        <p:spPr>
          <a:xfrm>
            <a:off x="6742396" y="3397723"/>
            <a:ext cx="54864" cy="54864"/>
          </a:xfrm>
          <a:prstGeom prst="ellipse">
            <a:avLst/>
          </a:prstGeom>
          <a:solidFill>
            <a:srgbClr val="D9482B"/>
          </a:solidFill>
          <a:ln w="12700">
            <a:solidFill>
              <a:srgbClr val="D9482B"/>
            </a:solidFill>
            <a:prstDash val="solid"/>
          </a:ln>
        </p:spPr>
      </p:sp>
      <p:sp>
        <p:nvSpPr>
          <p:cNvPr id="23" name="Shape 21"/>
          <p:cNvSpPr/>
          <p:nvPr/>
        </p:nvSpPr>
        <p:spPr>
          <a:xfrm>
            <a:off x="6577030" y="3002557"/>
            <a:ext cx="54864" cy="54864"/>
          </a:xfrm>
          <a:prstGeom prst="ellipse">
            <a:avLst/>
          </a:prstGeom>
          <a:solidFill>
            <a:srgbClr val="2F5D62"/>
          </a:solidFill>
          <a:ln w="12700">
            <a:solidFill>
              <a:srgbClr val="2F5D62"/>
            </a:solidFill>
            <a:prstDash val="solid"/>
          </a:ln>
        </p:spPr>
      </p:sp>
      <p:sp>
        <p:nvSpPr>
          <p:cNvPr id="24" name="Shape 22"/>
          <p:cNvSpPr/>
          <p:nvPr/>
        </p:nvSpPr>
        <p:spPr>
          <a:xfrm>
            <a:off x="6794458" y="3205093"/>
            <a:ext cx="54864" cy="54864"/>
          </a:xfrm>
          <a:prstGeom prst="ellipse">
            <a:avLst/>
          </a:prstGeom>
          <a:solidFill>
            <a:srgbClr val="D9482B"/>
          </a:solidFill>
          <a:ln w="12700">
            <a:solidFill>
              <a:srgbClr val="D9482B"/>
            </a:solidFill>
            <a:prstDash val="solid"/>
          </a:ln>
        </p:spPr>
      </p:sp>
      <p:sp>
        <p:nvSpPr>
          <p:cNvPr id="25" name="Shape 23"/>
          <p:cNvSpPr/>
          <p:nvPr/>
        </p:nvSpPr>
        <p:spPr>
          <a:xfrm>
            <a:off x="6697564" y="2873710"/>
            <a:ext cx="54864" cy="54864"/>
          </a:xfrm>
          <a:prstGeom prst="ellipse">
            <a:avLst/>
          </a:prstGeom>
          <a:solidFill>
            <a:srgbClr val="2F5D62"/>
          </a:solidFill>
          <a:ln w="12700">
            <a:solidFill>
              <a:srgbClr val="2F5D62"/>
            </a:solidFill>
            <a:prstDash val="solid"/>
          </a:ln>
        </p:spPr>
      </p:sp>
      <p:sp>
        <p:nvSpPr>
          <p:cNvPr id="26" name="Shape 24"/>
          <p:cNvSpPr/>
          <p:nvPr/>
        </p:nvSpPr>
        <p:spPr>
          <a:xfrm>
            <a:off x="6800638" y="2969724"/>
            <a:ext cx="54864" cy="54864"/>
          </a:xfrm>
          <a:prstGeom prst="ellipse">
            <a:avLst/>
          </a:prstGeom>
          <a:solidFill>
            <a:srgbClr val="D9482B"/>
          </a:solidFill>
          <a:ln w="12700">
            <a:solidFill>
              <a:srgbClr val="D9482B"/>
            </a:solidFill>
            <a:prstDash val="solid"/>
          </a:ln>
        </p:spPr>
      </p:sp>
      <p:sp>
        <p:nvSpPr>
          <p:cNvPr id="27" name="Shape 25"/>
          <p:cNvSpPr/>
          <p:nvPr/>
        </p:nvSpPr>
        <p:spPr>
          <a:xfrm>
            <a:off x="6818099" y="2744863"/>
            <a:ext cx="54864" cy="54864"/>
          </a:xfrm>
          <a:prstGeom prst="ellipse">
            <a:avLst/>
          </a:prstGeom>
          <a:solidFill>
            <a:srgbClr val="2F5D62"/>
          </a:solidFill>
          <a:ln w="12700">
            <a:solidFill>
              <a:srgbClr val="2F5D62"/>
            </a:solidFill>
            <a:prstDash val="solid"/>
          </a:ln>
        </p:spPr>
      </p:sp>
      <p:sp>
        <p:nvSpPr>
          <p:cNvPr id="28" name="Shape 26"/>
          <p:cNvSpPr/>
          <p:nvPr/>
        </p:nvSpPr>
        <p:spPr>
          <a:xfrm>
            <a:off x="6776916" y="2706500"/>
            <a:ext cx="54864" cy="54864"/>
          </a:xfrm>
          <a:prstGeom prst="ellipse">
            <a:avLst/>
          </a:prstGeom>
          <a:solidFill>
            <a:srgbClr val="D9482B"/>
          </a:solidFill>
          <a:ln w="12700">
            <a:solidFill>
              <a:srgbClr val="D9482B"/>
            </a:solidFill>
            <a:prstDash val="solid"/>
          </a:ln>
        </p:spPr>
      </p:sp>
      <p:sp>
        <p:nvSpPr>
          <p:cNvPr id="29" name="Shape 27"/>
          <p:cNvSpPr/>
          <p:nvPr/>
        </p:nvSpPr>
        <p:spPr>
          <a:xfrm>
            <a:off x="6938633" y="2616015"/>
            <a:ext cx="54864" cy="54864"/>
          </a:xfrm>
          <a:prstGeom prst="ellipse">
            <a:avLst/>
          </a:prstGeom>
          <a:solidFill>
            <a:srgbClr val="2F5D62"/>
          </a:solidFill>
          <a:ln w="12700">
            <a:solidFill>
              <a:srgbClr val="2F5D62"/>
            </a:solidFill>
            <a:prstDash val="solid"/>
          </a:ln>
        </p:spPr>
      </p:sp>
      <p:sp>
        <p:nvSpPr>
          <p:cNvPr id="30" name="Shape 28"/>
          <p:cNvSpPr/>
          <p:nvPr/>
        </p:nvSpPr>
        <p:spPr>
          <a:xfrm>
            <a:off x="6745662" y="2436261"/>
            <a:ext cx="54864" cy="54864"/>
          </a:xfrm>
          <a:prstGeom prst="ellipse">
            <a:avLst/>
          </a:prstGeom>
          <a:solidFill>
            <a:srgbClr val="D9482B"/>
          </a:solidFill>
          <a:ln w="12700">
            <a:solidFill>
              <a:srgbClr val="D9482B"/>
            </a:solidFill>
            <a:prstDash val="solid"/>
          </a:ln>
        </p:spPr>
      </p:sp>
      <p:sp>
        <p:nvSpPr>
          <p:cNvPr id="31" name="Shape 29"/>
          <p:cNvSpPr/>
          <p:nvPr/>
        </p:nvSpPr>
        <p:spPr>
          <a:xfrm>
            <a:off x="7059168" y="2487168"/>
            <a:ext cx="54864" cy="54864"/>
          </a:xfrm>
          <a:prstGeom prst="ellipse">
            <a:avLst/>
          </a:prstGeom>
          <a:solidFill>
            <a:srgbClr val="2F5D62"/>
          </a:solidFill>
          <a:ln w="12700">
            <a:solidFill>
              <a:srgbClr val="2F5D62"/>
            </a:solidFill>
            <a:prstDash val="solid"/>
          </a:ln>
        </p:spPr>
      </p:sp>
      <p:sp>
        <p:nvSpPr>
          <p:cNvPr id="32" name="Shape 30"/>
          <p:cNvSpPr/>
          <p:nvPr/>
        </p:nvSpPr>
        <p:spPr>
          <a:xfrm>
            <a:off x="6731262" y="2181721"/>
            <a:ext cx="54864" cy="54864"/>
          </a:xfrm>
          <a:prstGeom prst="ellipse">
            <a:avLst/>
          </a:prstGeom>
          <a:solidFill>
            <a:srgbClr val="D9482B"/>
          </a:solidFill>
          <a:ln w="12700">
            <a:solidFill>
              <a:srgbClr val="D9482B"/>
            </a:solidFill>
            <a:prstDash val="solid"/>
          </a:ln>
        </p:spPr>
      </p:sp>
      <p:sp>
        <p:nvSpPr>
          <p:cNvPr id="33" name="Shape 31"/>
          <p:cNvSpPr/>
          <p:nvPr/>
        </p:nvSpPr>
        <p:spPr>
          <a:xfrm>
            <a:off x="7179703" y="2358321"/>
            <a:ext cx="54864" cy="54864"/>
          </a:xfrm>
          <a:prstGeom prst="ellipse">
            <a:avLst/>
          </a:prstGeom>
          <a:solidFill>
            <a:srgbClr val="2F5D62"/>
          </a:solidFill>
          <a:ln w="12700">
            <a:solidFill>
              <a:srgbClr val="2F5D62"/>
            </a:solidFill>
            <a:prstDash val="solid"/>
          </a:ln>
        </p:spPr>
      </p:sp>
      <p:sp>
        <p:nvSpPr>
          <p:cNvPr id="34" name="Shape 32"/>
          <p:cNvSpPr/>
          <p:nvPr/>
        </p:nvSpPr>
        <p:spPr>
          <a:xfrm>
            <a:off x="6755308" y="1962994"/>
            <a:ext cx="54864" cy="54864"/>
          </a:xfrm>
          <a:prstGeom prst="ellipse">
            <a:avLst/>
          </a:prstGeom>
          <a:solidFill>
            <a:srgbClr val="D9482B"/>
          </a:solidFill>
          <a:ln w="12700">
            <a:solidFill>
              <a:srgbClr val="D9482B"/>
            </a:solidFill>
            <a:prstDash val="solid"/>
          </a:ln>
        </p:spPr>
      </p:sp>
      <p:sp>
        <p:nvSpPr>
          <p:cNvPr id="35" name="Shape 33"/>
          <p:cNvSpPr/>
          <p:nvPr/>
        </p:nvSpPr>
        <p:spPr>
          <a:xfrm>
            <a:off x="7300237" y="2229473"/>
            <a:ext cx="54864" cy="54864"/>
          </a:xfrm>
          <a:prstGeom prst="ellipse">
            <a:avLst/>
          </a:prstGeom>
          <a:solidFill>
            <a:srgbClr val="2F5D62"/>
          </a:solidFill>
          <a:ln w="12700">
            <a:solidFill>
              <a:srgbClr val="2F5D62"/>
            </a:solidFill>
            <a:prstDash val="solid"/>
          </a:ln>
        </p:spPr>
      </p:sp>
      <p:sp>
        <p:nvSpPr>
          <p:cNvPr id="36" name="Shape 34"/>
          <p:cNvSpPr/>
          <p:nvPr/>
        </p:nvSpPr>
        <p:spPr>
          <a:xfrm>
            <a:off x="6832348" y="1793632"/>
            <a:ext cx="54864" cy="54864"/>
          </a:xfrm>
          <a:prstGeom prst="ellipse">
            <a:avLst/>
          </a:prstGeom>
          <a:solidFill>
            <a:srgbClr val="D9482B"/>
          </a:solidFill>
          <a:ln w="12700">
            <a:solidFill>
              <a:srgbClr val="D9482B"/>
            </a:solidFill>
            <a:prstDash val="solid"/>
          </a:ln>
        </p:spPr>
      </p:sp>
      <p:sp>
        <p:nvSpPr>
          <p:cNvPr id="37" name="Shape 35"/>
          <p:cNvSpPr/>
          <p:nvPr/>
        </p:nvSpPr>
        <p:spPr>
          <a:xfrm>
            <a:off x="7420772" y="2100626"/>
            <a:ext cx="54864" cy="54864"/>
          </a:xfrm>
          <a:prstGeom prst="ellipse">
            <a:avLst/>
          </a:prstGeom>
          <a:solidFill>
            <a:srgbClr val="2F5D62"/>
          </a:solidFill>
          <a:ln w="12700">
            <a:solidFill>
              <a:srgbClr val="2F5D62"/>
            </a:solidFill>
            <a:prstDash val="solid"/>
          </a:ln>
        </p:spPr>
      </p:sp>
      <p:sp>
        <p:nvSpPr>
          <p:cNvPr id="38" name="Shape 36"/>
          <p:cNvSpPr/>
          <p:nvPr/>
        </p:nvSpPr>
        <p:spPr>
          <a:xfrm>
            <a:off x="6967056" y="1677987"/>
            <a:ext cx="54864" cy="54864"/>
          </a:xfrm>
          <a:prstGeom prst="ellipse">
            <a:avLst/>
          </a:prstGeom>
          <a:solidFill>
            <a:srgbClr val="D9482B"/>
          </a:solidFill>
          <a:ln w="12700">
            <a:solidFill>
              <a:srgbClr val="D9482B"/>
            </a:solidFill>
            <a:prstDash val="solid"/>
          </a:ln>
        </p:spPr>
      </p:sp>
      <p:sp>
        <p:nvSpPr>
          <p:cNvPr id="39" name="Shape 37"/>
          <p:cNvSpPr/>
          <p:nvPr/>
        </p:nvSpPr>
        <p:spPr>
          <a:xfrm>
            <a:off x="7541306" y="1971779"/>
            <a:ext cx="54864" cy="54864"/>
          </a:xfrm>
          <a:prstGeom prst="ellipse">
            <a:avLst/>
          </a:prstGeom>
          <a:solidFill>
            <a:srgbClr val="2F5D62"/>
          </a:solidFill>
          <a:ln w="12700">
            <a:solidFill>
              <a:srgbClr val="2F5D62"/>
            </a:solidFill>
            <a:prstDash val="solid"/>
          </a:ln>
        </p:spPr>
      </p:sp>
      <p:sp>
        <p:nvSpPr>
          <p:cNvPr id="40" name="Shape 38"/>
          <p:cNvSpPr/>
          <p:nvPr/>
        </p:nvSpPr>
        <p:spPr>
          <a:xfrm>
            <a:off x="7153392" y="1610434"/>
            <a:ext cx="54864" cy="54864"/>
          </a:xfrm>
          <a:prstGeom prst="ellipse">
            <a:avLst/>
          </a:prstGeom>
          <a:solidFill>
            <a:srgbClr val="D9482B"/>
          </a:solidFill>
          <a:ln w="12700">
            <a:solidFill>
              <a:srgbClr val="D9482B"/>
            </a:solidFill>
            <a:prstDash val="solid"/>
          </a:ln>
        </p:spPr>
      </p:sp>
      <p:sp>
        <p:nvSpPr>
          <p:cNvPr id="41" name="Shape 39"/>
          <p:cNvSpPr/>
          <p:nvPr/>
        </p:nvSpPr>
        <p:spPr>
          <a:xfrm>
            <a:off x="7661841" y="1842932"/>
            <a:ext cx="54864" cy="54864"/>
          </a:xfrm>
          <a:prstGeom prst="ellipse">
            <a:avLst/>
          </a:prstGeom>
          <a:solidFill>
            <a:srgbClr val="2F5D62"/>
          </a:solidFill>
          <a:ln w="12700">
            <a:solidFill>
              <a:srgbClr val="2F5D62"/>
            </a:solidFill>
            <a:prstDash val="solid"/>
          </a:ln>
        </p:spPr>
      </p:sp>
      <p:sp>
        <p:nvSpPr>
          <p:cNvPr id="42" name="Shape 40"/>
          <p:cNvSpPr/>
          <p:nvPr/>
        </p:nvSpPr>
        <p:spPr>
          <a:xfrm>
            <a:off x="7375940" y="1576613"/>
            <a:ext cx="54864" cy="54864"/>
          </a:xfrm>
          <a:prstGeom prst="ellipse">
            <a:avLst/>
          </a:prstGeom>
          <a:solidFill>
            <a:srgbClr val="D9482B"/>
          </a:solidFill>
          <a:ln w="12700">
            <a:solidFill>
              <a:srgbClr val="D9482B"/>
            </a:solidFill>
            <a:prstDash val="solid"/>
          </a:ln>
        </p:spPr>
      </p:sp>
      <p:sp>
        <p:nvSpPr>
          <p:cNvPr id="43" name="Shape 41"/>
          <p:cNvSpPr/>
          <p:nvPr/>
        </p:nvSpPr>
        <p:spPr>
          <a:xfrm>
            <a:off x="7782375" y="1714084"/>
            <a:ext cx="54864" cy="54864"/>
          </a:xfrm>
          <a:prstGeom prst="ellipse">
            <a:avLst/>
          </a:prstGeom>
          <a:solidFill>
            <a:srgbClr val="2F5D62"/>
          </a:solidFill>
          <a:ln w="12700">
            <a:solidFill>
              <a:srgbClr val="2F5D62"/>
            </a:solidFill>
            <a:prstDash val="solid"/>
          </a:ln>
        </p:spPr>
      </p:sp>
      <p:sp>
        <p:nvSpPr>
          <p:cNvPr id="44" name="Shape 42"/>
          <p:cNvSpPr/>
          <p:nvPr/>
        </p:nvSpPr>
        <p:spPr>
          <a:xfrm>
            <a:off x="7613122" y="1556424"/>
            <a:ext cx="54864" cy="54864"/>
          </a:xfrm>
          <a:prstGeom prst="ellipse">
            <a:avLst/>
          </a:prstGeom>
          <a:solidFill>
            <a:srgbClr val="D9482B"/>
          </a:solidFill>
          <a:ln w="12700">
            <a:solidFill>
              <a:srgbClr val="D9482B"/>
            </a:solidFill>
            <a:prstDash val="solid"/>
          </a:ln>
        </p:spPr>
      </p:sp>
      <p:sp>
        <p:nvSpPr>
          <p:cNvPr id="45" name="Shape 43"/>
          <p:cNvSpPr/>
          <p:nvPr/>
        </p:nvSpPr>
        <p:spPr>
          <a:xfrm>
            <a:off x="7902910" y="1585237"/>
            <a:ext cx="54864" cy="54864"/>
          </a:xfrm>
          <a:prstGeom prst="ellipse">
            <a:avLst/>
          </a:prstGeom>
          <a:solidFill>
            <a:srgbClr val="2F5D62"/>
          </a:solidFill>
          <a:ln w="12700">
            <a:solidFill>
              <a:srgbClr val="2F5D62"/>
            </a:solidFill>
            <a:prstDash val="solid"/>
          </a:ln>
        </p:spPr>
      </p:sp>
      <p:sp>
        <p:nvSpPr>
          <p:cNvPr id="46" name="Shape 44"/>
          <p:cNvSpPr/>
          <p:nvPr/>
        </p:nvSpPr>
        <p:spPr>
          <a:xfrm>
            <a:off x="7841648" y="1528171"/>
            <a:ext cx="54864" cy="54864"/>
          </a:xfrm>
          <a:prstGeom prst="ellipse">
            <a:avLst/>
          </a:prstGeom>
          <a:solidFill>
            <a:srgbClr val="D9482B"/>
          </a:solidFill>
          <a:ln w="12700">
            <a:solidFill>
              <a:srgbClr val="D9482B"/>
            </a:solidFill>
            <a:prstDash val="solid"/>
          </a:ln>
        </p:spPr>
      </p:sp>
      <p:sp>
        <p:nvSpPr>
          <p:cNvPr id="47" name="Shape 45"/>
          <p:cNvSpPr/>
          <p:nvPr/>
        </p:nvSpPr>
        <p:spPr>
          <a:xfrm>
            <a:off x="8023444" y="1456390"/>
            <a:ext cx="54864" cy="54864"/>
          </a:xfrm>
          <a:prstGeom prst="ellipse">
            <a:avLst/>
          </a:prstGeom>
          <a:solidFill>
            <a:srgbClr val="2F5D62"/>
          </a:solidFill>
          <a:ln w="12700">
            <a:solidFill>
              <a:srgbClr val="2F5D62"/>
            </a:solidFill>
            <a:prstDash val="solid"/>
          </a:ln>
        </p:spPr>
      </p:sp>
      <p:sp>
        <p:nvSpPr>
          <p:cNvPr id="48" name="Shape 46"/>
          <p:cNvSpPr/>
          <p:nvPr/>
        </p:nvSpPr>
        <p:spPr>
          <a:xfrm>
            <a:off x="8041275" y="1472999"/>
            <a:ext cx="54864" cy="54864"/>
          </a:xfrm>
          <a:prstGeom prst="ellipse">
            <a:avLst/>
          </a:prstGeom>
          <a:solidFill>
            <a:srgbClr val="D9482B"/>
          </a:solidFill>
          <a:ln w="12700">
            <a:solidFill>
              <a:srgbClr val="D9482B"/>
            </a:solidFill>
            <a:prstDash val="solid"/>
          </a:ln>
        </p:spPr>
      </p:sp>
      <p:sp>
        <p:nvSpPr>
          <p:cNvPr id="49" name="Shape 47"/>
          <p:cNvSpPr/>
          <p:nvPr/>
        </p:nvSpPr>
        <p:spPr>
          <a:xfrm>
            <a:off x="8143979" y="1327543"/>
            <a:ext cx="54864" cy="54864"/>
          </a:xfrm>
          <a:prstGeom prst="ellipse">
            <a:avLst/>
          </a:prstGeom>
          <a:solidFill>
            <a:srgbClr val="2F5D62"/>
          </a:solidFill>
          <a:ln w="12700">
            <a:solidFill>
              <a:srgbClr val="2F5D62"/>
            </a:solidFill>
            <a:prstDash val="solid"/>
          </a:ln>
        </p:spPr>
      </p:sp>
      <p:sp>
        <p:nvSpPr>
          <p:cNvPr id="50" name="Shape 48"/>
          <p:cNvSpPr/>
          <p:nvPr/>
        </p:nvSpPr>
        <p:spPr>
          <a:xfrm>
            <a:off x="8198904" y="1378706"/>
            <a:ext cx="54864" cy="54864"/>
          </a:xfrm>
          <a:prstGeom prst="ellipse">
            <a:avLst/>
          </a:prstGeom>
          <a:solidFill>
            <a:srgbClr val="D9482B"/>
          </a:solidFill>
          <a:ln w="12700">
            <a:solidFill>
              <a:srgbClr val="D9482B"/>
            </a:solidFill>
            <a:prstDash val="solid"/>
          </a:ln>
        </p:spPr>
      </p:sp>
      <p:sp>
        <p:nvSpPr>
          <p:cNvPr id="51" name="Shape 49"/>
          <p:cNvSpPr/>
          <p:nvPr/>
        </p:nvSpPr>
        <p:spPr>
          <a:xfrm>
            <a:off x="8264513" y="1198695"/>
            <a:ext cx="54864" cy="54864"/>
          </a:xfrm>
          <a:prstGeom prst="ellipse">
            <a:avLst/>
          </a:prstGeom>
          <a:solidFill>
            <a:srgbClr val="2F5D62"/>
          </a:solidFill>
          <a:ln w="12700">
            <a:solidFill>
              <a:srgbClr val="2F5D62"/>
            </a:solidFill>
            <a:prstDash val="solid"/>
          </a:ln>
        </p:spPr>
      </p:sp>
      <p:sp>
        <p:nvSpPr>
          <p:cNvPr id="52" name="Shape 50"/>
          <p:cNvSpPr/>
          <p:nvPr/>
        </p:nvSpPr>
        <p:spPr>
          <a:xfrm>
            <a:off x="8311179" y="1242165"/>
            <a:ext cx="54864" cy="54864"/>
          </a:xfrm>
          <a:prstGeom prst="ellipse">
            <a:avLst/>
          </a:prstGeom>
          <a:solidFill>
            <a:srgbClr val="D9482B"/>
          </a:solidFill>
          <a:ln w="12700">
            <a:solidFill>
              <a:srgbClr val="D9482B"/>
            </a:solidFill>
            <a:prstDash val="solid"/>
          </a:ln>
        </p:spPr>
      </p:sp>
      <p:sp>
        <p:nvSpPr>
          <p:cNvPr id="53" name="Shape 51"/>
          <p:cNvSpPr/>
          <p:nvPr/>
        </p:nvSpPr>
        <p:spPr>
          <a:xfrm>
            <a:off x="8385048" y="1069848"/>
            <a:ext cx="54864" cy="54864"/>
          </a:xfrm>
          <a:prstGeom prst="ellipse">
            <a:avLst/>
          </a:prstGeom>
          <a:solidFill>
            <a:srgbClr val="2F5D62"/>
          </a:solidFill>
          <a:ln w="12700">
            <a:solidFill>
              <a:srgbClr val="2F5D62"/>
            </a:solidFill>
            <a:prstDash val="solid"/>
          </a:ln>
        </p:spPr>
      </p:sp>
      <p:sp>
        <p:nvSpPr>
          <p:cNvPr id="54" name="Shape 52"/>
          <p:cNvSpPr/>
          <p:nvPr/>
        </p:nvSpPr>
        <p:spPr>
          <a:xfrm>
            <a:off x="8385048" y="1069848"/>
            <a:ext cx="54864" cy="54864"/>
          </a:xfrm>
          <a:prstGeom prst="ellipse">
            <a:avLst/>
          </a:prstGeom>
          <a:solidFill>
            <a:srgbClr val="D9482B"/>
          </a:solidFill>
          <a:ln w="12700">
            <a:solidFill>
              <a:srgbClr val="D9482B"/>
            </a:solidFill>
            <a:prstDash val="solid"/>
          </a:ln>
        </p:spPr>
      </p:sp>
      <p:sp>
        <p:nvSpPr>
          <p:cNvPr id="55" name="Shape 53"/>
          <p:cNvSpPr/>
          <p:nvPr/>
        </p:nvSpPr>
        <p:spPr>
          <a:xfrm>
            <a:off x="5669280" y="3840480"/>
            <a:ext cx="182880" cy="182880"/>
          </a:xfrm>
          <a:prstGeom prst="ellipse">
            <a:avLst/>
          </a:prstGeom>
          <a:solidFill>
            <a:srgbClr val="1C1B19"/>
          </a:solidFill>
          <a:ln w="12700">
            <a:solidFill>
              <a:srgbClr val="1C1B19"/>
            </a:solidFill>
            <a:prstDash val="solid"/>
          </a:ln>
        </p:spPr>
      </p:sp>
      <p:sp>
        <p:nvSpPr>
          <p:cNvPr id="56" name="Shape 54"/>
          <p:cNvSpPr/>
          <p:nvPr/>
        </p:nvSpPr>
        <p:spPr>
          <a:xfrm>
            <a:off x="8321040" y="1005840"/>
            <a:ext cx="182880" cy="182880"/>
          </a:xfrm>
          <a:prstGeom prst="ellipse">
            <a:avLst/>
          </a:prstGeom>
          <a:ln w="12700">
            <a:solidFill>
              <a:srgbClr val="1C1B19"/>
            </a:solidFill>
            <a:prstDash val="solid"/>
          </a:ln>
        </p:spPr>
      </p:sp>
      <p:sp>
        <p:nvSpPr>
          <p:cNvPr id="57" name="Text 55"/>
          <p:cNvSpPr/>
          <p:nvPr/>
        </p:nvSpPr>
        <p:spPr>
          <a:xfrm>
            <a:off x="5532120" y="4069080"/>
            <a:ext cx="731520" cy="182880"/>
          </a:xfrm>
          <a:prstGeom prst="rect">
            <a:avLst/>
          </a:prstGeom>
          <a:noFill/>
          <a:ln/>
        </p:spPr>
        <p:txBody>
          <a:bodyPr wrap="square" lIns="0" tIns="0" rIns="0" bIns="0" rtlCol="0" anchor="t"/>
          <a:lstStyle/>
          <a:p>
            <a:pPr indent="0" marL="0">
              <a:buNone/>
            </a:pPr>
            <a:r>
              <a:rPr lang="en-US" sz="800" dirty="0">
                <a:solidFill>
                  <a:srgbClr val="6B665C"/>
                </a:solidFill>
                <a:latin typeface="Courier New" pitchFamily="34" charset="0"/>
                <a:ea typeface="Courier New" pitchFamily="34" charset="-122"/>
                <a:cs typeface="Courier New" pitchFamily="34" charset="-120"/>
              </a:rPr>
              <a:t>noise</a:t>
            </a:r>
            <a:endParaRPr lang="en-US" sz="800" dirty="0"/>
          </a:p>
        </p:txBody>
      </p:sp>
      <p:sp>
        <p:nvSpPr>
          <p:cNvPr id="58" name="Text 56"/>
          <p:cNvSpPr/>
          <p:nvPr/>
        </p:nvSpPr>
        <p:spPr>
          <a:xfrm>
            <a:off x="8229600" y="749808"/>
            <a:ext cx="731520" cy="182880"/>
          </a:xfrm>
          <a:prstGeom prst="rect">
            <a:avLst/>
          </a:prstGeom>
          <a:noFill/>
          <a:ln/>
        </p:spPr>
        <p:txBody>
          <a:bodyPr wrap="square" lIns="0" tIns="0" rIns="0" bIns="0" rtlCol="0" anchor="t"/>
          <a:lstStyle/>
          <a:p>
            <a:pPr indent="0" marL="0">
              <a:buNone/>
            </a:pPr>
            <a:r>
              <a:rPr lang="en-US" sz="800" dirty="0">
                <a:solidFill>
                  <a:srgbClr val="6B665C"/>
                </a:solidFill>
                <a:latin typeface="Courier New" pitchFamily="34" charset="0"/>
                <a:ea typeface="Courier New" pitchFamily="34" charset="-122"/>
                <a:cs typeface="Courier New" pitchFamily="34" charset="-120"/>
              </a:rPr>
              <a:t>data</a:t>
            </a:r>
            <a:endParaRPr lang="en-US" sz="800" dirty="0"/>
          </a:p>
        </p:txBody>
      </p:sp>
      <p:sp>
        <p:nvSpPr>
          <p:cNvPr id="59" name="Text 57"/>
          <p:cNvSpPr/>
          <p:nvPr/>
        </p:nvSpPr>
        <p:spPr>
          <a:xfrm>
            <a:off x="5760720" y="4224528"/>
            <a:ext cx="2926080" cy="411480"/>
          </a:xfrm>
          <a:prstGeom prst="rect">
            <a:avLst/>
          </a:prstGeom>
          <a:noFill/>
          <a:ln/>
        </p:spPr>
        <p:txBody>
          <a:bodyPr wrap="square" lIns="0" tIns="0" rIns="0" bIns="0" rtlCol="0" anchor="t"/>
          <a:lstStyle/>
          <a:p>
            <a:pPr indent="0" marL="0">
              <a:buNone/>
            </a:pPr>
            <a:r>
              <a:rPr lang="en-US" sz="800" dirty="0">
                <a:solidFill>
                  <a:srgbClr val="D9482B"/>
                </a:solidFill>
                <a:latin typeface="Courier New" pitchFamily="34" charset="0"/>
                <a:ea typeface="Courier New" pitchFamily="34" charset="-122"/>
                <a:cs typeface="Courier New" pitchFamily="34" charset="-120"/>
              </a:rPr>
              <a:t>● </a:t>
            </a:r>
            <a:pPr indent="0" marL="0">
              <a:buNone/>
            </a:pPr>
            <a:r>
              <a:rPr lang="en-US" sz="800" dirty="0">
                <a:solidFill>
                  <a:srgbClr val="6B665C"/>
                </a:solidFill>
                <a:latin typeface="Courier New" pitchFamily="34" charset="0"/>
                <a:ea typeface="Courier New" pitchFamily="34" charset="-122"/>
                <a:cs typeface="Courier New" pitchFamily="34" charset="-120"/>
              </a:rPr>
              <a:t>curved sampling path</a:t>
            </a:r>
            <a:endParaRPr lang="en-US" sz="800" dirty="0"/>
          </a:p>
          <a:p>
            <a:pPr indent="0" marL="0">
              <a:buNone/>
            </a:pPr>
            <a:r>
              <a:rPr lang="en-US" sz="800" dirty="0">
                <a:solidFill>
                  <a:srgbClr val="2F5D62"/>
                </a:solidFill>
                <a:latin typeface="Courier New" pitchFamily="34" charset="0"/>
                <a:ea typeface="Courier New" pitchFamily="34" charset="-122"/>
                <a:cs typeface="Courier New" pitchFamily="34" charset="-120"/>
              </a:rPr>
              <a:t>● </a:t>
            </a:r>
            <a:pPr indent="0" marL="0">
              <a:buNone/>
            </a:pPr>
            <a:r>
              <a:rPr lang="en-US" sz="800" dirty="0">
                <a:solidFill>
                  <a:srgbClr val="6B665C"/>
                </a:solidFill>
                <a:latin typeface="Courier New" pitchFamily="34" charset="0"/>
                <a:ea typeface="Courier New" pitchFamily="34" charset="-122"/>
                <a:cs typeface="Courier New" pitchFamily="34" charset="-120"/>
              </a:rPr>
              <a:t>straight flow path</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457200" y="292608"/>
            <a:ext cx="5486400" cy="201168"/>
          </a:xfrm>
          <a:prstGeom prst="rect">
            <a:avLst/>
          </a:prstGeom>
          <a:noFill/>
          <a:ln/>
        </p:spPr>
        <p:txBody>
          <a:bodyPr wrap="square" lIns="0" tIns="0" rIns="0" bIns="0" rtlCol="0" anchor="t"/>
          <a:lstStyle/>
          <a:p>
            <a:pPr indent="0" marL="0">
              <a:buNone/>
            </a:pPr>
            <a:r>
              <a:rPr lang="en-US" sz="900" dirty="0">
                <a:solidFill>
                  <a:srgbClr val="D9482B"/>
                </a:solidFill>
                <a:latin typeface="Courier New" pitchFamily="34" charset="0"/>
                <a:ea typeface="Courier New" pitchFamily="34" charset="-122"/>
                <a:cs typeface="Courier New" pitchFamily="34" charset="-120"/>
              </a:rPr>
              <a:t>02  /  RESEARCH QUESTION</a:t>
            </a:r>
            <a:endParaRPr lang="en-US" sz="900" dirty="0"/>
          </a:p>
        </p:txBody>
      </p:sp>
      <p:sp>
        <p:nvSpPr>
          <p:cNvPr id="3" name="Text 1"/>
          <p:cNvSpPr/>
          <p:nvPr/>
        </p:nvSpPr>
        <p:spPr>
          <a:xfrm>
            <a:off x="457200" y="530352"/>
            <a:ext cx="8229600" cy="566928"/>
          </a:xfrm>
          <a:prstGeom prst="rect">
            <a:avLst/>
          </a:prstGeom>
          <a:noFill/>
          <a:ln/>
        </p:spPr>
        <p:txBody>
          <a:bodyPr wrap="square" lIns="0" tIns="0" rIns="0" bIns="0" rtlCol="0" anchor="ctr"/>
          <a:lstStyle/>
          <a:p>
            <a:pPr indent="0" marL="0">
              <a:buNone/>
            </a:pPr>
            <a:r>
              <a:rPr lang="en-US" sz="2500" dirty="0">
                <a:solidFill>
                  <a:srgbClr val="1C1B19"/>
                </a:solidFill>
                <a:latin typeface="Georgia" pitchFamily="34" charset="0"/>
                <a:ea typeface="Georgia" pitchFamily="34" charset="-122"/>
                <a:cs typeface="Georgia" pitchFamily="34" charset="-120"/>
              </a:rPr>
              <a:t>Is NFE a trustworthy proxy for efficiency?</a:t>
            </a:r>
            <a:endParaRPr lang="en-US" sz="2500" dirty="0"/>
          </a:p>
        </p:txBody>
      </p:sp>
      <p:sp>
        <p:nvSpPr>
          <p:cNvPr id="4" name="Shape 2"/>
          <p:cNvSpPr/>
          <p:nvPr/>
        </p:nvSpPr>
        <p:spPr>
          <a:xfrm>
            <a:off x="457200" y="1207008"/>
            <a:ext cx="8229600" cy="0"/>
          </a:xfrm>
          <a:prstGeom prst="line">
            <a:avLst/>
          </a:prstGeom>
          <a:noFill/>
          <a:ln w="9525">
            <a:solidFill>
              <a:srgbClr val="1C1B19"/>
            </a:solidFill>
            <a:prstDash val="solid"/>
          </a:ln>
        </p:spPr>
      </p:sp>
      <p:sp>
        <p:nvSpPr>
          <p:cNvPr id="5" name="Shape 3"/>
          <p:cNvSpPr/>
          <p:nvPr/>
        </p:nvSpPr>
        <p:spPr>
          <a:xfrm>
            <a:off x="457200" y="4736592"/>
            <a:ext cx="8229600" cy="0"/>
          </a:xfrm>
          <a:prstGeom prst="line">
            <a:avLst/>
          </a:prstGeom>
          <a:noFill/>
          <a:ln w="6350">
            <a:solidFill>
              <a:srgbClr val="C9C2B4"/>
            </a:solidFill>
            <a:prstDash val="solid"/>
          </a:ln>
        </p:spPr>
      </p:sp>
      <p:sp>
        <p:nvSpPr>
          <p:cNvPr id="6" name="Text 4"/>
          <p:cNvSpPr/>
          <p:nvPr/>
        </p:nvSpPr>
        <p:spPr>
          <a:xfrm>
            <a:off x="457200" y="4791456"/>
            <a:ext cx="5486400" cy="182880"/>
          </a:xfrm>
          <a:prstGeom prst="rect">
            <a:avLst/>
          </a:prstGeom>
          <a:noFill/>
          <a:ln/>
        </p:spPr>
        <p:txBody>
          <a:bodyPr wrap="square" lIns="0" tIns="0" rIns="0" bIns="0" rtlCol="0" anchor="t"/>
          <a:lstStyle/>
          <a:p>
            <a:pPr indent="0" marL="0">
              <a:buNone/>
            </a:pPr>
            <a:r>
              <a:rPr lang="en-US" sz="750" dirty="0">
                <a:solidFill>
                  <a:srgbClr val="6B665C"/>
                </a:solidFill>
                <a:latin typeface="Courier New" pitchFamily="34" charset="0"/>
                <a:ea typeface="Courier New" pitchFamily="34" charset="-122"/>
                <a:cs typeface="Courier New" pitchFamily="34" charset="-120"/>
              </a:rPr>
              <a:t>ZAKYNTHINOS — ADVANCED TOPICS IN AI — PROPOSAL</a:t>
            </a:r>
            <a:endParaRPr lang="en-US" sz="750" dirty="0"/>
          </a:p>
        </p:txBody>
      </p:sp>
      <p:sp>
        <p:nvSpPr>
          <p:cNvPr id="7" name="Text 5"/>
          <p:cNvSpPr/>
          <p:nvPr/>
        </p:nvSpPr>
        <p:spPr>
          <a:xfrm>
            <a:off x="7772400" y="4791456"/>
            <a:ext cx="914400" cy="182880"/>
          </a:xfrm>
          <a:prstGeom prst="rect">
            <a:avLst/>
          </a:prstGeom>
          <a:noFill/>
          <a:ln/>
        </p:spPr>
        <p:txBody>
          <a:bodyPr wrap="square" lIns="0" tIns="0" rIns="0" bIns="0" rtlCol="0" anchor="t"/>
          <a:lstStyle/>
          <a:p>
            <a:pPr algn="r" indent="0" marL="0">
              <a:buNone/>
            </a:pPr>
            <a:r>
              <a:rPr lang="en-US" sz="750" dirty="0">
                <a:solidFill>
                  <a:srgbClr val="6B665C"/>
                </a:solidFill>
                <a:latin typeface="Courier New" pitchFamily="34" charset="0"/>
                <a:ea typeface="Courier New" pitchFamily="34" charset="-122"/>
                <a:cs typeface="Courier New" pitchFamily="34" charset="-120"/>
              </a:rPr>
              <a:t>02 / 10</a:t>
            </a:r>
            <a:endParaRPr lang="en-US" sz="750" dirty="0"/>
          </a:p>
        </p:txBody>
      </p:sp>
      <p:sp>
        <p:nvSpPr>
          <p:cNvPr id="8" name="Text 6"/>
          <p:cNvSpPr/>
          <p:nvPr/>
        </p:nvSpPr>
        <p:spPr>
          <a:xfrm>
            <a:off x="457200" y="1417320"/>
            <a:ext cx="8229600" cy="731520"/>
          </a:xfrm>
          <a:prstGeom prst="rect">
            <a:avLst/>
          </a:prstGeom>
          <a:noFill/>
          <a:ln/>
        </p:spPr>
        <p:txBody>
          <a:bodyPr wrap="square" lIns="0" tIns="0" rIns="0" bIns="0" rtlCol="0" anchor="t"/>
          <a:lstStyle/>
          <a:p>
            <a:pPr indent="0" marL="0">
              <a:buNone/>
            </a:pPr>
            <a:r>
              <a:rPr lang="en-US" sz="1700" i="1" dirty="0">
                <a:solidFill>
                  <a:srgbClr val="1C1B19"/>
                </a:solidFill>
                <a:latin typeface="Georgia" pitchFamily="34" charset="0"/>
                <a:ea typeface="Georgia" pitchFamily="34" charset="-122"/>
                <a:cs typeface="Georgia" pitchFamily="34" charset="-120"/>
              </a:rPr>
              <a:t>“Do diffusion and flow-matching sampler rankings remain stable across GPU classes and numerical precisions?”</a:t>
            </a:r>
            <a:endParaRPr lang="en-US" sz="1700" dirty="0"/>
          </a:p>
        </p:txBody>
      </p:sp>
      <p:sp>
        <p:nvSpPr>
          <p:cNvPr id="9" name="Text 7"/>
          <p:cNvSpPr/>
          <p:nvPr/>
        </p:nvSpPr>
        <p:spPr>
          <a:xfrm>
            <a:off x="457200" y="2468880"/>
            <a:ext cx="2560320" cy="457200"/>
          </a:xfrm>
          <a:prstGeom prst="rect">
            <a:avLst/>
          </a:prstGeom>
          <a:noFill/>
          <a:ln/>
        </p:spPr>
        <p:txBody>
          <a:bodyPr wrap="square" lIns="0" tIns="0" rIns="0" bIns="0" rtlCol="0" anchor="t"/>
          <a:lstStyle/>
          <a:p>
            <a:pPr indent="0" marL="0">
              <a:buNone/>
            </a:pPr>
            <a:r>
              <a:rPr lang="en-US" sz="2400" b="1" dirty="0">
                <a:solidFill>
                  <a:srgbClr val="D9482B"/>
                </a:solidFill>
                <a:latin typeface="Courier New" pitchFamily="34" charset="0"/>
                <a:ea typeface="Courier New" pitchFamily="34" charset="-122"/>
                <a:cs typeface="Courier New" pitchFamily="34" charset="-120"/>
              </a:rPr>
              <a:t>H1</a:t>
            </a:r>
            <a:endParaRPr lang="en-US" sz="2400" dirty="0"/>
          </a:p>
        </p:txBody>
      </p:sp>
      <p:sp>
        <p:nvSpPr>
          <p:cNvPr id="10" name="Text 8"/>
          <p:cNvSpPr/>
          <p:nvPr/>
        </p:nvSpPr>
        <p:spPr>
          <a:xfrm>
            <a:off x="457200" y="2971800"/>
            <a:ext cx="2560320" cy="320040"/>
          </a:xfrm>
          <a:prstGeom prst="rect">
            <a:avLst/>
          </a:prstGeom>
          <a:noFill/>
          <a:ln/>
        </p:spPr>
        <p:txBody>
          <a:bodyPr wrap="square" lIns="0" tIns="0" rIns="0" bIns="0" rtlCol="0" anchor="t"/>
          <a:lstStyle/>
          <a:p>
            <a:pPr indent="0" marL="0">
              <a:buNone/>
            </a:pPr>
            <a:r>
              <a:rPr lang="en-US" sz="1400" dirty="0">
                <a:solidFill>
                  <a:srgbClr val="1C1B19"/>
                </a:solidFill>
                <a:latin typeface="Georgia" pitchFamily="34" charset="0"/>
                <a:ea typeface="Georgia" pitchFamily="34" charset="-122"/>
                <a:cs typeface="Georgia" pitchFamily="34" charset="-120"/>
              </a:rPr>
              <a:t>NFE ≠ cost</a:t>
            </a:r>
            <a:endParaRPr lang="en-US" sz="1400" dirty="0"/>
          </a:p>
        </p:txBody>
      </p:sp>
      <p:sp>
        <p:nvSpPr>
          <p:cNvPr id="11" name="Text 9"/>
          <p:cNvSpPr/>
          <p:nvPr/>
        </p:nvSpPr>
        <p:spPr>
          <a:xfrm>
            <a:off x="457200" y="3337560"/>
            <a:ext cx="2514600" cy="1188720"/>
          </a:xfrm>
          <a:prstGeom prst="rect">
            <a:avLst/>
          </a:prstGeom>
          <a:noFill/>
          <a:ln/>
        </p:spPr>
        <p:txBody>
          <a:bodyPr wrap="square" lIns="0" tIns="0" rIns="0" bIns="0" rtlCol="0" anchor="t"/>
          <a:lstStyle/>
          <a:p>
            <a:pPr indent="0" marL="0">
              <a:buNone/>
            </a:pPr>
            <a:r>
              <a:rPr lang="en-US" sz="1100" dirty="0">
                <a:solidFill>
                  <a:srgbClr val="6B665C"/>
                </a:solidFill>
                <a:latin typeface="Arial" pitchFamily="34" charset="0"/>
                <a:ea typeface="Arial" pitchFamily="34" charset="-122"/>
                <a:cs typeface="Arial" pitchFamily="34" charset="-120"/>
              </a:rPr>
              <a:t>NFE tracks latency within one GPU and sampler, but misses solver overhead, memory bandwidth and precision support.</a:t>
            </a:r>
            <a:endParaRPr lang="en-US" sz="1100" dirty="0"/>
          </a:p>
        </p:txBody>
      </p:sp>
      <p:sp>
        <p:nvSpPr>
          <p:cNvPr id="12" name="Shape 10"/>
          <p:cNvSpPr/>
          <p:nvPr/>
        </p:nvSpPr>
        <p:spPr>
          <a:xfrm>
            <a:off x="3081528" y="2468880"/>
            <a:ext cx="0" cy="2011680"/>
          </a:xfrm>
          <a:prstGeom prst="line">
            <a:avLst/>
          </a:prstGeom>
          <a:noFill/>
          <a:ln w="6350">
            <a:solidFill>
              <a:srgbClr val="C9C2B4"/>
            </a:solidFill>
            <a:prstDash val="solid"/>
          </a:ln>
        </p:spPr>
      </p:sp>
      <p:sp>
        <p:nvSpPr>
          <p:cNvPr id="13" name="Text 11"/>
          <p:cNvSpPr/>
          <p:nvPr/>
        </p:nvSpPr>
        <p:spPr>
          <a:xfrm>
            <a:off x="3246120" y="2468880"/>
            <a:ext cx="2560320" cy="457200"/>
          </a:xfrm>
          <a:prstGeom prst="rect">
            <a:avLst/>
          </a:prstGeom>
          <a:noFill/>
          <a:ln/>
        </p:spPr>
        <p:txBody>
          <a:bodyPr wrap="square" lIns="0" tIns="0" rIns="0" bIns="0" rtlCol="0" anchor="t"/>
          <a:lstStyle/>
          <a:p>
            <a:pPr indent="0" marL="0">
              <a:buNone/>
            </a:pPr>
            <a:r>
              <a:rPr lang="en-US" sz="2400" b="1" dirty="0">
                <a:solidFill>
                  <a:srgbClr val="D9482B"/>
                </a:solidFill>
                <a:latin typeface="Courier New" pitchFamily="34" charset="0"/>
                <a:ea typeface="Courier New" pitchFamily="34" charset="-122"/>
                <a:cs typeface="Courier New" pitchFamily="34" charset="-120"/>
              </a:rPr>
              <a:t>H2</a:t>
            </a:r>
            <a:endParaRPr lang="en-US" sz="2400" dirty="0"/>
          </a:p>
        </p:txBody>
      </p:sp>
      <p:sp>
        <p:nvSpPr>
          <p:cNvPr id="14" name="Text 12"/>
          <p:cNvSpPr/>
          <p:nvPr/>
        </p:nvSpPr>
        <p:spPr>
          <a:xfrm>
            <a:off x="3246120" y="2971800"/>
            <a:ext cx="2560320" cy="320040"/>
          </a:xfrm>
          <a:prstGeom prst="rect">
            <a:avLst/>
          </a:prstGeom>
          <a:noFill/>
          <a:ln/>
        </p:spPr>
        <p:txBody>
          <a:bodyPr wrap="square" lIns="0" tIns="0" rIns="0" bIns="0" rtlCol="0" anchor="t"/>
          <a:lstStyle/>
          <a:p>
            <a:pPr indent="0" marL="0">
              <a:buNone/>
            </a:pPr>
            <a:r>
              <a:rPr lang="en-US" sz="1400" dirty="0">
                <a:solidFill>
                  <a:srgbClr val="1C1B19"/>
                </a:solidFill>
                <a:latin typeface="Georgia" pitchFamily="34" charset="0"/>
                <a:ea typeface="Georgia" pitchFamily="34" charset="-122"/>
                <a:cs typeface="Georgia" pitchFamily="34" charset="-120"/>
              </a:rPr>
              <a:t>Rankings move</a:t>
            </a:r>
            <a:endParaRPr lang="en-US" sz="1400" dirty="0"/>
          </a:p>
        </p:txBody>
      </p:sp>
      <p:sp>
        <p:nvSpPr>
          <p:cNvPr id="15" name="Text 13"/>
          <p:cNvSpPr/>
          <p:nvPr/>
        </p:nvSpPr>
        <p:spPr>
          <a:xfrm>
            <a:off x="3246120" y="3337560"/>
            <a:ext cx="2514600" cy="1188720"/>
          </a:xfrm>
          <a:prstGeom prst="rect">
            <a:avLst/>
          </a:prstGeom>
          <a:noFill/>
          <a:ln/>
        </p:spPr>
        <p:txBody>
          <a:bodyPr wrap="square" lIns="0" tIns="0" rIns="0" bIns="0" rtlCol="0" anchor="t"/>
          <a:lstStyle/>
          <a:p>
            <a:pPr indent="0" marL="0">
              <a:buNone/>
            </a:pPr>
            <a:r>
              <a:rPr lang="en-US" sz="1100" dirty="0">
                <a:solidFill>
                  <a:srgbClr val="6B665C"/>
                </a:solidFill>
                <a:latin typeface="Arial" pitchFamily="34" charset="0"/>
                <a:ea typeface="Arial" pitchFamily="34" charset="-122"/>
                <a:cs typeface="Arial" pitchFamily="34" charset="-120"/>
              </a:rPr>
              <a:t>Near-frontier configurations can swap rank between devices — a single-GPU Pareto front can mislead.</a:t>
            </a:r>
            <a:endParaRPr lang="en-US" sz="1100" dirty="0"/>
          </a:p>
        </p:txBody>
      </p:sp>
      <p:sp>
        <p:nvSpPr>
          <p:cNvPr id="16" name="Shape 14"/>
          <p:cNvSpPr/>
          <p:nvPr/>
        </p:nvSpPr>
        <p:spPr>
          <a:xfrm>
            <a:off x="5870448" y="2468880"/>
            <a:ext cx="0" cy="2011680"/>
          </a:xfrm>
          <a:prstGeom prst="line">
            <a:avLst/>
          </a:prstGeom>
          <a:noFill/>
          <a:ln w="6350">
            <a:solidFill>
              <a:srgbClr val="C9C2B4"/>
            </a:solidFill>
            <a:prstDash val="solid"/>
          </a:ln>
        </p:spPr>
      </p:sp>
      <p:sp>
        <p:nvSpPr>
          <p:cNvPr id="17" name="Text 15"/>
          <p:cNvSpPr/>
          <p:nvPr/>
        </p:nvSpPr>
        <p:spPr>
          <a:xfrm>
            <a:off x="6035040" y="2468880"/>
            <a:ext cx="2560320" cy="457200"/>
          </a:xfrm>
          <a:prstGeom prst="rect">
            <a:avLst/>
          </a:prstGeom>
          <a:noFill/>
          <a:ln/>
        </p:spPr>
        <p:txBody>
          <a:bodyPr wrap="square" lIns="0" tIns="0" rIns="0" bIns="0" rtlCol="0" anchor="t"/>
          <a:lstStyle/>
          <a:p>
            <a:pPr indent="0" marL="0">
              <a:buNone/>
            </a:pPr>
            <a:r>
              <a:rPr lang="en-US" sz="2400" b="1" dirty="0">
                <a:solidFill>
                  <a:srgbClr val="D9482B"/>
                </a:solidFill>
                <a:latin typeface="Courier New" pitchFamily="34" charset="0"/>
                <a:ea typeface="Courier New" pitchFamily="34" charset="-122"/>
                <a:cs typeface="Courier New" pitchFamily="34" charset="-120"/>
              </a:rPr>
              <a:t>H3</a:t>
            </a:r>
            <a:endParaRPr lang="en-US" sz="2400" dirty="0"/>
          </a:p>
        </p:txBody>
      </p:sp>
      <p:sp>
        <p:nvSpPr>
          <p:cNvPr id="18" name="Text 16"/>
          <p:cNvSpPr/>
          <p:nvPr/>
        </p:nvSpPr>
        <p:spPr>
          <a:xfrm>
            <a:off x="6035040" y="2971800"/>
            <a:ext cx="2560320" cy="320040"/>
          </a:xfrm>
          <a:prstGeom prst="rect">
            <a:avLst/>
          </a:prstGeom>
          <a:noFill/>
          <a:ln/>
        </p:spPr>
        <p:txBody>
          <a:bodyPr wrap="square" lIns="0" tIns="0" rIns="0" bIns="0" rtlCol="0" anchor="t"/>
          <a:lstStyle/>
          <a:p>
            <a:pPr indent="0" marL="0">
              <a:buNone/>
            </a:pPr>
            <a:r>
              <a:rPr lang="en-US" sz="1400" dirty="0">
                <a:solidFill>
                  <a:srgbClr val="1C1B19"/>
                </a:solidFill>
                <a:latin typeface="Georgia" pitchFamily="34" charset="0"/>
                <a:ea typeface="Georgia" pitchFamily="34" charset="-122"/>
                <a:cs typeface="Georgia" pitchFamily="34" charset="-120"/>
              </a:rPr>
              <a:t>Straight paths pay off</a:t>
            </a:r>
            <a:endParaRPr lang="en-US" sz="1400" dirty="0"/>
          </a:p>
        </p:txBody>
      </p:sp>
      <p:sp>
        <p:nvSpPr>
          <p:cNvPr id="19" name="Text 17"/>
          <p:cNvSpPr/>
          <p:nvPr/>
        </p:nvSpPr>
        <p:spPr>
          <a:xfrm>
            <a:off x="6035040" y="3337560"/>
            <a:ext cx="2514600" cy="1188720"/>
          </a:xfrm>
          <a:prstGeom prst="rect">
            <a:avLst/>
          </a:prstGeom>
          <a:noFill/>
          <a:ln/>
        </p:spPr>
        <p:txBody>
          <a:bodyPr wrap="square" lIns="0" tIns="0" rIns="0" bIns="0" rtlCol="0" anchor="t"/>
          <a:lstStyle/>
          <a:p>
            <a:pPr indent="0" marL="0">
              <a:buNone/>
            </a:pPr>
            <a:r>
              <a:rPr lang="en-US" sz="1100" dirty="0">
                <a:solidFill>
                  <a:srgbClr val="6B665C"/>
                </a:solidFill>
                <a:latin typeface="Arial" pitchFamily="34" charset="0"/>
                <a:ea typeface="Arial" pitchFamily="34" charset="-122"/>
                <a:cs typeface="Arial" pitchFamily="34" charset="-120"/>
              </a:rPr>
              <a:t>Flow matching loses quality more slowly in the low-step regime, compared at matched measured cost.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457200" y="292608"/>
            <a:ext cx="5486400" cy="201168"/>
          </a:xfrm>
          <a:prstGeom prst="rect">
            <a:avLst/>
          </a:prstGeom>
          <a:noFill/>
          <a:ln/>
        </p:spPr>
        <p:txBody>
          <a:bodyPr wrap="square" lIns="0" tIns="0" rIns="0" bIns="0" rtlCol="0" anchor="t"/>
          <a:lstStyle/>
          <a:p>
            <a:pPr indent="0" marL="0">
              <a:buNone/>
            </a:pPr>
            <a:r>
              <a:rPr lang="en-US" sz="900" dirty="0">
                <a:solidFill>
                  <a:srgbClr val="D9482B"/>
                </a:solidFill>
                <a:latin typeface="Courier New" pitchFamily="34" charset="0"/>
                <a:ea typeface="Courier New" pitchFamily="34" charset="-122"/>
                <a:cs typeface="Courier New" pitchFamily="34" charset="-120"/>
              </a:rPr>
              <a:t>03  /  MOTIVATION</a:t>
            </a:r>
            <a:endParaRPr lang="en-US" sz="900" dirty="0"/>
          </a:p>
        </p:txBody>
      </p:sp>
      <p:sp>
        <p:nvSpPr>
          <p:cNvPr id="3" name="Text 1"/>
          <p:cNvSpPr/>
          <p:nvPr/>
        </p:nvSpPr>
        <p:spPr>
          <a:xfrm>
            <a:off x="457200" y="530352"/>
            <a:ext cx="8229600" cy="566928"/>
          </a:xfrm>
          <a:prstGeom prst="rect">
            <a:avLst/>
          </a:prstGeom>
          <a:noFill/>
          <a:ln/>
        </p:spPr>
        <p:txBody>
          <a:bodyPr wrap="square" lIns="0" tIns="0" rIns="0" bIns="0" rtlCol="0" anchor="ctr"/>
          <a:lstStyle/>
          <a:p>
            <a:pPr indent="0" marL="0">
              <a:buNone/>
            </a:pPr>
            <a:r>
              <a:rPr lang="en-US" sz="2500" dirty="0">
                <a:solidFill>
                  <a:srgbClr val="1C1B19"/>
                </a:solidFill>
                <a:latin typeface="Georgia" pitchFamily="34" charset="0"/>
                <a:ea typeface="Georgia" pitchFamily="34" charset="-122"/>
                <a:cs typeface="Georgia" pitchFamily="34" charset="-120"/>
              </a:rPr>
              <a:t>Efficiency claims are made on one accelerator</a:t>
            </a:r>
            <a:endParaRPr lang="en-US" sz="2500" dirty="0"/>
          </a:p>
        </p:txBody>
      </p:sp>
      <p:sp>
        <p:nvSpPr>
          <p:cNvPr id="4" name="Shape 2"/>
          <p:cNvSpPr/>
          <p:nvPr/>
        </p:nvSpPr>
        <p:spPr>
          <a:xfrm>
            <a:off x="457200" y="1207008"/>
            <a:ext cx="8229600" cy="0"/>
          </a:xfrm>
          <a:prstGeom prst="line">
            <a:avLst/>
          </a:prstGeom>
          <a:noFill/>
          <a:ln w="9525">
            <a:solidFill>
              <a:srgbClr val="1C1B19"/>
            </a:solidFill>
            <a:prstDash val="solid"/>
          </a:ln>
        </p:spPr>
      </p:sp>
      <p:sp>
        <p:nvSpPr>
          <p:cNvPr id="5" name="Shape 3"/>
          <p:cNvSpPr/>
          <p:nvPr/>
        </p:nvSpPr>
        <p:spPr>
          <a:xfrm>
            <a:off x="457200" y="4736592"/>
            <a:ext cx="8229600" cy="0"/>
          </a:xfrm>
          <a:prstGeom prst="line">
            <a:avLst/>
          </a:prstGeom>
          <a:noFill/>
          <a:ln w="6350">
            <a:solidFill>
              <a:srgbClr val="C9C2B4"/>
            </a:solidFill>
            <a:prstDash val="solid"/>
          </a:ln>
        </p:spPr>
      </p:sp>
      <p:sp>
        <p:nvSpPr>
          <p:cNvPr id="6" name="Text 4"/>
          <p:cNvSpPr/>
          <p:nvPr/>
        </p:nvSpPr>
        <p:spPr>
          <a:xfrm>
            <a:off x="457200" y="4791456"/>
            <a:ext cx="5486400" cy="182880"/>
          </a:xfrm>
          <a:prstGeom prst="rect">
            <a:avLst/>
          </a:prstGeom>
          <a:noFill/>
          <a:ln/>
        </p:spPr>
        <p:txBody>
          <a:bodyPr wrap="square" lIns="0" tIns="0" rIns="0" bIns="0" rtlCol="0" anchor="t"/>
          <a:lstStyle/>
          <a:p>
            <a:pPr indent="0" marL="0">
              <a:buNone/>
            </a:pPr>
            <a:r>
              <a:rPr lang="en-US" sz="750" dirty="0">
                <a:solidFill>
                  <a:srgbClr val="6B665C"/>
                </a:solidFill>
                <a:latin typeface="Courier New" pitchFamily="34" charset="0"/>
                <a:ea typeface="Courier New" pitchFamily="34" charset="-122"/>
                <a:cs typeface="Courier New" pitchFamily="34" charset="-120"/>
              </a:rPr>
              <a:t>ZAKYNTHINOS — ADVANCED TOPICS IN AI — PROPOSAL</a:t>
            </a:r>
            <a:endParaRPr lang="en-US" sz="750" dirty="0"/>
          </a:p>
        </p:txBody>
      </p:sp>
      <p:sp>
        <p:nvSpPr>
          <p:cNvPr id="7" name="Text 5"/>
          <p:cNvSpPr/>
          <p:nvPr/>
        </p:nvSpPr>
        <p:spPr>
          <a:xfrm>
            <a:off x="7772400" y="4791456"/>
            <a:ext cx="914400" cy="182880"/>
          </a:xfrm>
          <a:prstGeom prst="rect">
            <a:avLst/>
          </a:prstGeom>
          <a:noFill/>
          <a:ln/>
        </p:spPr>
        <p:txBody>
          <a:bodyPr wrap="square" lIns="0" tIns="0" rIns="0" bIns="0" rtlCol="0" anchor="t"/>
          <a:lstStyle/>
          <a:p>
            <a:pPr algn="r" indent="0" marL="0">
              <a:buNone/>
            </a:pPr>
            <a:r>
              <a:rPr lang="en-US" sz="750" dirty="0">
                <a:solidFill>
                  <a:srgbClr val="6B665C"/>
                </a:solidFill>
                <a:latin typeface="Courier New" pitchFamily="34" charset="0"/>
                <a:ea typeface="Courier New" pitchFamily="34" charset="-122"/>
                <a:cs typeface="Courier New" pitchFamily="34" charset="-120"/>
              </a:rPr>
              <a:t>03 / 10</a:t>
            </a:r>
            <a:endParaRPr lang="en-US" sz="750" dirty="0"/>
          </a:p>
        </p:txBody>
      </p:sp>
      <p:sp>
        <p:nvSpPr>
          <p:cNvPr id="8" name="Text 6"/>
          <p:cNvSpPr/>
          <p:nvPr/>
        </p:nvSpPr>
        <p:spPr>
          <a:xfrm>
            <a:off x="457200" y="1417320"/>
            <a:ext cx="3840480" cy="228600"/>
          </a:xfrm>
          <a:prstGeom prst="rect">
            <a:avLst/>
          </a:prstGeom>
          <a:noFill/>
          <a:ln/>
        </p:spPr>
        <p:txBody>
          <a:bodyPr wrap="square" lIns="0" tIns="0" rIns="0" bIns="0" rtlCol="0" anchor="t"/>
          <a:lstStyle/>
          <a:p>
            <a:pPr indent="0" marL="0">
              <a:buNone/>
            </a:pPr>
            <a:r>
              <a:rPr lang="en-US" sz="900" dirty="0">
                <a:solidFill>
                  <a:srgbClr val="6B665C"/>
                </a:solidFill>
                <a:latin typeface="Courier New" pitchFamily="34" charset="0"/>
                <a:ea typeface="Courier New" pitchFamily="34" charset="-122"/>
                <a:cs typeface="Courier New" pitchFamily="34" charset="-120"/>
              </a:rPr>
              <a:t>WHAT WE KNOW</a:t>
            </a:r>
            <a:endParaRPr lang="en-US" sz="900" dirty="0"/>
          </a:p>
        </p:txBody>
      </p:sp>
      <p:sp>
        <p:nvSpPr>
          <p:cNvPr id="9" name="Shape 7"/>
          <p:cNvSpPr/>
          <p:nvPr/>
        </p:nvSpPr>
        <p:spPr>
          <a:xfrm>
            <a:off x="457200" y="1737360"/>
            <a:ext cx="3931920" cy="0"/>
          </a:xfrm>
          <a:prstGeom prst="line">
            <a:avLst/>
          </a:prstGeom>
          <a:noFill/>
          <a:ln w="6350">
            <a:solidFill>
              <a:srgbClr val="E4DED1"/>
            </a:solidFill>
            <a:prstDash val="solid"/>
          </a:ln>
        </p:spPr>
      </p:sp>
      <p:sp>
        <p:nvSpPr>
          <p:cNvPr id="10" name="Text 8"/>
          <p:cNvSpPr/>
          <p:nvPr/>
        </p:nvSpPr>
        <p:spPr>
          <a:xfrm>
            <a:off x="457200" y="1828800"/>
            <a:ext cx="1234440" cy="548640"/>
          </a:xfrm>
          <a:prstGeom prst="rect">
            <a:avLst/>
          </a:prstGeom>
          <a:noFill/>
          <a:ln/>
        </p:spPr>
        <p:txBody>
          <a:bodyPr wrap="square" lIns="0" tIns="0" rIns="0" bIns="0" rtlCol="0" anchor="t"/>
          <a:lstStyle/>
          <a:p>
            <a:pPr indent="0" marL="0">
              <a:buNone/>
            </a:pPr>
            <a:r>
              <a:rPr lang="en-US" sz="1250" dirty="0">
                <a:solidFill>
                  <a:srgbClr val="1C1B19"/>
                </a:solidFill>
                <a:latin typeface="Georgia" pitchFamily="34" charset="0"/>
                <a:ea typeface="Georgia" pitchFamily="34" charset="-122"/>
                <a:cs typeface="Georgia" pitchFamily="34" charset="-120"/>
              </a:rPr>
              <a:t>Diffusion</a:t>
            </a:r>
            <a:endParaRPr lang="en-US" sz="1250" dirty="0"/>
          </a:p>
        </p:txBody>
      </p:sp>
      <p:sp>
        <p:nvSpPr>
          <p:cNvPr id="11" name="Text 9"/>
          <p:cNvSpPr/>
          <p:nvPr/>
        </p:nvSpPr>
        <p:spPr>
          <a:xfrm>
            <a:off x="1737360" y="1828800"/>
            <a:ext cx="2651760" cy="566928"/>
          </a:xfrm>
          <a:prstGeom prst="rect">
            <a:avLst/>
          </a:prstGeom>
          <a:noFill/>
          <a:ln/>
        </p:spPr>
        <p:txBody>
          <a:bodyPr wrap="square" lIns="0" tIns="0" rIns="0" bIns="0" rtlCol="0" anchor="t"/>
          <a:lstStyle/>
          <a:p>
            <a:pPr indent="0" marL="0">
              <a:buNone/>
            </a:pPr>
            <a:r>
              <a:rPr lang="en-US" sz="1050" dirty="0">
                <a:solidFill>
                  <a:srgbClr val="6B665C"/>
                </a:solidFill>
                <a:latin typeface="Arial" pitchFamily="34" charset="0"/>
                <a:ea typeface="Arial" pitchFamily="34" charset="-122"/>
                <a:cs typeface="Arial" pitchFamily="34" charset="-120"/>
              </a:rPr>
              <a:t>iterative denoising; DDIM and DPM-Solver cut sampling to tens of steps</a:t>
            </a:r>
            <a:endParaRPr lang="en-US" sz="1050" dirty="0"/>
          </a:p>
        </p:txBody>
      </p:sp>
      <p:sp>
        <p:nvSpPr>
          <p:cNvPr id="12" name="Shape 10"/>
          <p:cNvSpPr/>
          <p:nvPr/>
        </p:nvSpPr>
        <p:spPr>
          <a:xfrm>
            <a:off x="457200" y="2450592"/>
            <a:ext cx="3931920" cy="0"/>
          </a:xfrm>
          <a:prstGeom prst="line">
            <a:avLst/>
          </a:prstGeom>
          <a:noFill/>
          <a:ln w="6350">
            <a:solidFill>
              <a:srgbClr val="E4DED1"/>
            </a:solidFill>
            <a:prstDash val="solid"/>
          </a:ln>
        </p:spPr>
      </p:sp>
      <p:sp>
        <p:nvSpPr>
          <p:cNvPr id="13" name="Text 11"/>
          <p:cNvSpPr/>
          <p:nvPr/>
        </p:nvSpPr>
        <p:spPr>
          <a:xfrm>
            <a:off x="457200" y="2542032"/>
            <a:ext cx="1234440" cy="548640"/>
          </a:xfrm>
          <a:prstGeom prst="rect">
            <a:avLst/>
          </a:prstGeom>
          <a:noFill/>
          <a:ln/>
        </p:spPr>
        <p:txBody>
          <a:bodyPr wrap="square" lIns="0" tIns="0" rIns="0" bIns="0" rtlCol="0" anchor="t"/>
          <a:lstStyle/>
          <a:p>
            <a:pPr indent="0" marL="0">
              <a:buNone/>
            </a:pPr>
            <a:r>
              <a:rPr lang="en-US" sz="1250" dirty="0">
                <a:solidFill>
                  <a:srgbClr val="1C1B19"/>
                </a:solidFill>
                <a:latin typeface="Georgia" pitchFamily="34" charset="0"/>
                <a:ea typeface="Georgia" pitchFamily="34" charset="-122"/>
                <a:cs typeface="Georgia" pitchFamily="34" charset="-120"/>
              </a:rPr>
              <a:t>Flow matching</a:t>
            </a:r>
            <a:endParaRPr lang="en-US" sz="1250" dirty="0"/>
          </a:p>
        </p:txBody>
      </p:sp>
      <p:sp>
        <p:nvSpPr>
          <p:cNvPr id="14" name="Text 12"/>
          <p:cNvSpPr/>
          <p:nvPr/>
        </p:nvSpPr>
        <p:spPr>
          <a:xfrm>
            <a:off x="1737360" y="2542032"/>
            <a:ext cx="2651760" cy="566928"/>
          </a:xfrm>
          <a:prstGeom prst="rect">
            <a:avLst/>
          </a:prstGeom>
          <a:noFill/>
          <a:ln/>
        </p:spPr>
        <p:txBody>
          <a:bodyPr wrap="square" lIns="0" tIns="0" rIns="0" bIns="0" rtlCol="0" anchor="t"/>
          <a:lstStyle/>
          <a:p>
            <a:pPr indent="0" marL="0">
              <a:buNone/>
            </a:pPr>
            <a:r>
              <a:rPr lang="en-US" sz="1050" dirty="0">
                <a:solidFill>
                  <a:srgbClr val="6B665C"/>
                </a:solidFill>
                <a:latin typeface="Arial" pitchFamily="34" charset="0"/>
                <a:ea typeface="Arial" pitchFamily="34" charset="-122"/>
                <a:cs typeface="Arial" pitchFamily="34" charset="-120"/>
              </a:rPr>
              <a:t>learns a velocity field along simpler, straighter paths</a:t>
            </a:r>
            <a:endParaRPr lang="en-US" sz="1050" dirty="0"/>
          </a:p>
        </p:txBody>
      </p:sp>
      <p:sp>
        <p:nvSpPr>
          <p:cNvPr id="15" name="Shape 13"/>
          <p:cNvSpPr/>
          <p:nvPr/>
        </p:nvSpPr>
        <p:spPr>
          <a:xfrm>
            <a:off x="457200" y="3163824"/>
            <a:ext cx="3931920" cy="0"/>
          </a:xfrm>
          <a:prstGeom prst="line">
            <a:avLst/>
          </a:prstGeom>
          <a:noFill/>
          <a:ln w="6350">
            <a:solidFill>
              <a:srgbClr val="E4DED1"/>
            </a:solidFill>
            <a:prstDash val="solid"/>
          </a:ln>
        </p:spPr>
      </p:sp>
      <p:sp>
        <p:nvSpPr>
          <p:cNvPr id="16" name="Text 14"/>
          <p:cNvSpPr/>
          <p:nvPr/>
        </p:nvSpPr>
        <p:spPr>
          <a:xfrm>
            <a:off x="457200" y="3255264"/>
            <a:ext cx="1234440" cy="548640"/>
          </a:xfrm>
          <a:prstGeom prst="rect">
            <a:avLst/>
          </a:prstGeom>
          <a:noFill/>
          <a:ln/>
        </p:spPr>
        <p:txBody>
          <a:bodyPr wrap="square" lIns="0" tIns="0" rIns="0" bIns="0" rtlCol="0" anchor="t"/>
          <a:lstStyle/>
          <a:p>
            <a:pPr indent="0" marL="0">
              <a:buNone/>
            </a:pPr>
            <a:r>
              <a:rPr lang="en-US" sz="1250" dirty="0">
                <a:solidFill>
                  <a:srgbClr val="1C1B19"/>
                </a:solidFill>
                <a:latin typeface="Georgia" pitchFamily="34" charset="0"/>
                <a:ea typeface="Georgia" pitchFamily="34" charset="-122"/>
                <a:cs typeface="Georgia" pitchFamily="34" charset="-120"/>
              </a:rPr>
              <a:t>DiT ↔ SiT</a:t>
            </a:r>
            <a:endParaRPr lang="en-US" sz="1250" dirty="0"/>
          </a:p>
        </p:txBody>
      </p:sp>
      <p:sp>
        <p:nvSpPr>
          <p:cNvPr id="17" name="Text 15"/>
          <p:cNvSpPr/>
          <p:nvPr/>
        </p:nvSpPr>
        <p:spPr>
          <a:xfrm>
            <a:off x="1737360" y="3255264"/>
            <a:ext cx="2651760" cy="566928"/>
          </a:xfrm>
          <a:prstGeom prst="rect">
            <a:avLst/>
          </a:prstGeom>
          <a:noFill/>
          <a:ln/>
        </p:spPr>
        <p:txBody>
          <a:bodyPr wrap="square" lIns="0" tIns="0" rIns="0" bIns="0" rtlCol="0" anchor="t"/>
          <a:lstStyle/>
          <a:p>
            <a:pPr indent="0" marL="0">
              <a:buNone/>
            </a:pPr>
            <a:r>
              <a:rPr lang="en-US" sz="1050" dirty="0">
                <a:solidFill>
                  <a:srgbClr val="6B665C"/>
                </a:solidFill>
                <a:latin typeface="Arial" pitchFamily="34" charset="0"/>
                <a:ea typeface="Arial" pitchFamily="34" charset="-122"/>
                <a:cs typeface="Arial" pitchFamily="34" charset="-120"/>
              </a:rPr>
              <a:t>near-identical transformer backbone, different objective — a controlled pair</a:t>
            </a:r>
            <a:endParaRPr lang="en-US" sz="1050" dirty="0"/>
          </a:p>
        </p:txBody>
      </p:sp>
      <p:sp>
        <p:nvSpPr>
          <p:cNvPr id="18" name="Shape 16"/>
          <p:cNvSpPr/>
          <p:nvPr/>
        </p:nvSpPr>
        <p:spPr>
          <a:xfrm>
            <a:off x="457200" y="3877056"/>
            <a:ext cx="3931920" cy="0"/>
          </a:xfrm>
          <a:prstGeom prst="line">
            <a:avLst/>
          </a:prstGeom>
          <a:noFill/>
          <a:ln w="6350">
            <a:solidFill>
              <a:srgbClr val="E4DED1"/>
            </a:solidFill>
            <a:prstDash val="solid"/>
          </a:ln>
        </p:spPr>
      </p:sp>
      <p:sp>
        <p:nvSpPr>
          <p:cNvPr id="19" name="Text 17"/>
          <p:cNvSpPr/>
          <p:nvPr/>
        </p:nvSpPr>
        <p:spPr>
          <a:xfrm>
            <a:off x="457200" y="3968496"/>
            <a:ext cx="1234440" cy="548640"/>
          </a:xfrm>
          <a:prstGeom prst="rect">
            <a:avLst/>
          </a:prstGeom>
          <a:noFill/>
          <a:ln/>
        </p:spPr>
        <p:txBody>
          <a:bodyPr wrap="square" lIns="0" tIns="0" rIns="0" bIns="0" rtlCol="0" anchor="t"/>
          <a:lstStyle/>
          <a:p>
            <a:pPr indent="0" marL="0">
              <a:buNone/>
            </a:pPr>
            <a:r>
              <a:rPr lang="en-US" sz="1250" dirty="0">
                <a:solidFill>
                  <a:srgbClr val="1C1B19"/>
                </a:solidFill>
                <a:latin typeface="Georgia" pitchFamily="34" charset="0"/>
                <a:ea typeface="Georgia" pitchFamily="34" charset="-122"/>
                <a:cs typeface="Georgia" pitchFamily="34" charset="-120"/>
              </a:rPr>
              <a:t>Proxies fail</a:t>
            </a:r>
            <a:endParaRPr lang="en-US" sz="1250" dirty="0"/>
          </a:p>
        </p:txBody>
      </p:sp>
      <p:sp>
        <p:nvSpPr>
          <p:cNvPr id="20" name="Text 18"/>
          <p:cNvSpPr/>
          <p:nvPr/>
        </p:nvSpPr>
        <p:spPr>
          <a:xfrm>
            <a:off x="1737360" y="3968496"/>
            <a:ext cx="2651760" cy="566928"/>
          </a:xfrm>
          <a:prstGeom prst="rect">
            <a:avLst/>
          </a:prstGeom>
          <a:noFill/>
          <a:ln/>
        </p:spPr>
        <p:txBody>
          <a:bodyPr wrap="square" lIns="0" tIns="0" rIns="0" bIns="0" rtlCol="0" anchor="t"/>
          <a:lstStyle/>
          <a:p>
            <a:pPr indent="0" marL="0">
              <a:buNone/>
            </a:pPr>
            <a:r>
              <a:rPr lang="en-US" sz="1050" dirty="0">
                <a:solidFill>
                  <a:srgbClr val="6B665C"/>
                </a:solidFill>
                <a:latin typeface="Arial" pitchFamily="34" charset="0"/>
                <a:ea typeface="Arial" pitchFamily="34" charset="-122"/>
                <a:cs typeface="Arial" pitchFamily="34" charset="-120"/>
              </a:rPr>
              <a:t>FLOPs and parameter counts disagree with measured efficiency</a:t>
            </a:r>
            <a:endParaRPr lang="en-US" sz="1050" dirty="0"/>
          </a:p>
        </p:txBody>
      </p:sp>
      <p:sp>
        <p:nvSpPr>
          <p:cNvPr id="21" name="Shape 19"/>
          <p:cNvSpPr/>
          <p:nvPr/>
        </p:nvSpPr>
        <p:spPr>
          <a:xfrm>
            <a:off x="4846320" y="1417320"/>
            <a:ext cx="3840480" cy="3108960"/>
          </a:xfrm>
          <a:prstGeom prst="rect">
            <a:avLst/>
          </a:prstGeom>
          <a:solidFill>
            <a:srgbClr val="1C1B19"/>
          </a:solidFill>
          <a:ln w="12700">
            <a:solidFill>
              <a:srgbClr val="1C1B19"/>
            </a:solidFill>
            <a:prstDash val="solid"/>
          </a:ln>
        </p:spPr>
      </p:sp>
      <p:sp>
        <p:nvSpPr>
          <p:cNvPr id="22" name="Text 20"/>
          <p:cNvSpPr/>
          <p:nvPr/>
        </p:nvSpPr>
        <p:spPr>
          <a:xfrm>
            <a:off x="5120640" y="1645920"/>
            <a:ext cx="3291840" cy="228600"/>
          </a:xfrm>
          <a:prstGeom prst="rect">
            <a:avLst/>
          </a:prstGeom>
          <a:noFill/>
          <a:ln/>
        </p:spPr>
        <p:txBody>
          <a:bodyPr wrap="square" lIns="0" tIns="0" rIns="0" bIns="0" rtlCol="0" anchor="t"/>
          <a:lstStyle/>
          <a:p>
            <a:pPr indent="0" marL="0">
              <a:buNone/>
            </a:pPr>
            <a:r>
              <a:rPr lang="en-US" sz="900" dirty="0">
                <a:solidFill>
                  <a:srgbClr val="D9482B"/>
                </a:solidFill>
                <a:latin typeface="Courier New" pitchFamily="34" charset="0"/>
                <a:ea typeface="Courier New" pitchFamily="34" charset="-122"/>
                <a:cs typeface="Courier New" pitchFamily="34" charset="-120"/>
              </a:rPr>
              <a:t>WHAT IS MISSING</a:t>
            </a:r>
            <a:endParaRPr lang="en-US" sz="900" dirty="0"/>
          </a:p>
        </p:txBody>
      </p:sp>
      <p:sp>
        <p:nvSpPr>
          <p:cNvPr id="23" name="Text 21"/>
          <p:cNvSpPr/>
          <p:nvPr/>
        </p:nvSpPr>
        <p:spPr>
          <a:xfrm>
            <a:off x="5120640" y="2011680"/>
            <a:ext cx="3337560" cy="1463040"/>
          </a:xfrm>
          <a:prstGeom prst="rect">
            <a:avLst/>
          </a:prstGeom>
          <a:noFill/>
          <a:ln/>
        </p:spPr>
        <p:txBody>
          <a:bodyPr wrap="square" lIns="0" tIns="0" rIns="0" bIns="0" rtlCol="0" anchor="t"/>
          <a:lstStyle/>
          <a:p>
            <a:pPr indent="0" marL="0">
              <a:buNone/>
            </a:pPr>
            <a:r>
              <a:rPr lang="en-US" sz="1600" dirty="0">
                <a:solidFill>
                  <a:srgbClr val="F3EFE6"/>
                </a:solidFill>
                <a:latin typeface="Georgia" pitchFamily="34" charset="0"/>
                <a:ea typeface="Georgia" pitchFamily="34" charset="-122"/>
                <a:cs typeface="Georgia" pitchFamily="34" charset="-120"/>
              </a:rPr>
              <a:t>Nobody checks whether diffusion-vs-flow conclusions transfer across hardware under one shared measurement protocol.</a:t>
            </a:r>
            <a:endParaRPr lang="en-US" sz="1600" dirty="0"/>
          </a:p>
        </p:txBody>
      </p:sp>
      <p:sp>
        <p:nvSpPr>
          <p:cNvPr id="24" name="Text 22"/>
          <p:cNvSpPr/>
          <p:nvPr/>
        </p:nvSpPr>
        <p:spPr>
          <a:xfrm>
            <a:off x="5120640" y="3611880"/>
            <a:ext cx="3337560" cy="731520"/>
          </a:xfrm>
          <a:prstGeom prst="rect">
            <a:avLst/>
          </a:prstGeom>
          <a:noFill/>
          <a:ln/>
        </p:spPr>
        <p:txBody>
          <a:bodyPr wrap="square" lIns="0" tIns="0" rIns="0" bIns="0" rtlCol="0" anchor="t"/>
          <a:lstStyle/>
          <a:p>
            <a:pPr indent="0" marL="0">
              <a:buNone/>
            </a:pPr>
            <a:r>
              <a:rPr lang="en-US" sz="1050" dirty="0">
                <a:solidFill>
                  <a:srgbClr val="B8B2A6"/>
                </a:solidFill>
                <a:latin typeface="Arial" pitchFamily="34" charset="0"/>
                <a:ea typeface="Arial" pitchFamily="34" charset="-122"/>
                <a:cs typeface="Arial" pitchFamily="34" charset="-120"/>
              </a:rPr>
              <a:t>Even FID shifts with evaluation details — so the protocol itself has to be fixed and published.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457200" y="292608"/>
            <a:ext cx="5486400" cy="201168"/>
          </a:xfrm>
          <a:prstGeom prst="rect">
            <a:avLst/>
          </a:prstGeom>
          <a:noFill/>
          <a:ln/>
        </p:spPr>
        <p:txBody>
          <a:bodyPr wrap="square" lIns="0" tIns="0" rIns="0" bIns="0" rtlCol="0" anchor="t"/>
          <a:lstStyle/>
          <a:p>
            <a:pPr indent="0" marL="0">
              <a:buNone/>
            </a:pPr>
            <a:r>
              <a:rPr lang="en-US" sz="900" dirty="0">
                <a:solidFill>
                  <a:srgbClr val="D9482B"/>
                </a:solidFill>
                <a:latin typeface="Courier New" pitchFamily="34" charset="0"/>
                <a:ea typeface="Courier New" pitchFamily="34" charset="-122"/>
                <a:cs typeface="Courier New" pitchFamily="34" charset="-120"/>
              </a:rPr>
              <a:t>04  /  EXPERIMENTAL DESIGN</a:t>
            </a:r>
            <a:endParaRPr lang="en-US" sz="900" dirty="0"/>
          </a:p>
        </p:txBody>
      </p:sp>
      <p:sp>
        <p:nvSpPr>
          <p:cNvPr id="3" name="Text 1"/>
          <p:cNvSpPr/>
          <p:nvPr/>
        </p:nvSpPr>
        <p:spPr>
          <a:xfrm>
            <a:off x="457200" y="530352"/>
            <a:ext cx="8229600" cy="566928"/>
          </a:xfrm>
          <a:prstGeom prst="rect">
            <a:avLst/>
          </a:prstGeom>
          <a:noFill/>
          <a:ln/>
        </p:spPr>
        <p:txBody>
          <a:bodyPr wrap="square" lIns="0" tIns="0" rIns="0" bIns="0" rtlCol="0" anchor="ctr"/>
          <a:lstStyle/>
          <a:p>
            <a:pPr indent="0" marL="0">
              <a:buNone/>
            </a:pPr>
            <a:r>
              <a:rPr lang="en-US" sz="2500" dirty="0">
                <a:solidFill>
                  <a:srgbClr val="1C1B19"/>
                </a:solidFill>
                <a:latin typeface="Georgia" pitchFamily="34" charset="0"/>
                <a:ea typeface="Georgia" pitchFamily="34" charset="-122"/>
                <a:cs typeface="Georgia" pitchFamily="34" charset="-120"/>
              </a:rPr>
              <a:t>A small, complete factorial — no training</a:t>
            </a:r>
            <a:endParaRPr lang="en-US" sz="2500" dirty="0"/>
          </a:p>
        </p:txBody>
      </p:sp>
      <p:sp>
        <p:nvSpPr>
          <p:cNvPr id="4" name="Shape 2"/>
          <p:cNvSpPr/>
          <p:nvPr/>
        </p:nvSpPr>
        <p:spPr>
          <a:xfrm>
            <a:off x="457200" y="1207008"/>
            <a:ext cx="8229600" cy="0"/>
          </a:xfrm>
          <a:prstGeom prst="line">
            <a:avLst/>
          </a:prstGeom>
          <a:noFill/>
          <a:ln w="9525">
            <a:solidFill>
              <a:srgbClr val="1C1B19"/>
            </a:solidFill>
            <a:prstDash val="solid"/>
          </a:ln>
        </p:spPr>
      </p:sp>
      <p:sp>
        <p:nvSpPr>
          <p:cNvPr id="5" name="Shape 3"/>
          <p:cNvSpPr/>
          <p:nvPr/>
        </p:nvSpPr>
        <p:spPr>
          <a:xfrm>
            <a:off x="457200" y="4736592"/>
            <a:ext cx="8229600" cy="0"/>
          </a:xfrm>
          <a:prstGeom prst="line">
            <a:avLst/>
          </a:prstGeom>
          <a:noFill/>
          <a:ln w="6350">
            <a:solidFill>
              <a:srgbClr val="C9C2B4"/>
            </a:solidFill>
            <a:prstDash val="solid"/>
          </a:ln>
        </p:spPr>
      </p:sp>
      <p:sp>
        <p:nvSpPr>
          <p:cNvPr id="6" name="Text 4"/>
          <p:cNvSpPr/>
          <p:nvPr/>
        </p:nvSpPr>
        <p:spPr>
          <a:xfrm>
            <a:off x="457200" y="4791456"/>
            <a:ext cx="5486400" cy="182880"/>
          </a:xfrm>
          <a:prstGeom prst="rect">
            <a:avLst/>
          </a:prstGeom>
          <a:noFill/>
          <a:ln/>
        </p:spPr>
        <p:txBody>
          <a:bodyPr wrap="square" lIns="0" tIns="0" rIns="0" bIns="0" rtlCol="0" anchor="t"/>
          <a:lstStyle/>
          <a:p>
            <a:pPr indent="0" marL="0">
              <a:buNone/>
            </a:pPr>
            <a:r>
              <a:rPr lang="en-US" sz="750" dirty="0">
                <a:solidFill>
                  <a:srgbClr val="6B665C"/>
                </a:solidFill>
                <a:latin typeface="Courier New" pitchFamily="34" charset="0"/>
                <a:ea typeface="Courier New" pitchFamily="34" charset="-122"/>
                <a:cs typeface="Courier New" pitchFamily="34" charset="-120"/>
              </a:rPr>
              <a:t>ZAKYNTHINOS — ADVANCED TOPICS IN AI — PROPOSAL</a:t>
            </a:r>
            <a:endParaRPr lang="en-US" sz="750" dirty="0"/>
          </a:p>
        </p:txBody>
      </p:sp>
      <p:sp>
        <p:nvSpPr>
          <p:cNvPr id="7" name="Text 5"/>
          <p:cNvSpPr/>
          <p:nvPr/>
        </p:nvSpPr>
        <p:spPr>
          <a:xfrm>
            <a:off x="7772400" y="4791456"/>
            <a:ext cx="914400" cy="182880"/>
          </a:xfrm>
          <a:prstGeom prst="rect">
            <a:avLst/>
          </a:prstGeom>
          <a:noFill/>
          <a:ln/>
        </p:spPr>
        <p:txBody>
          <a:bodyPr wrap="square" lIns="0" tIns="0" rIns="0" bIns="0" rtlCol="0" anchor="t"/>
          <a:lstStyle/>
          <a:p>
            <a:pPr algn="r" indent="0" marL="0">
              <a:buNone/>
            </a:pPr>
            <a:r>
              <a:rPr lang="en-US" sz="750" dirty="0">
                <a:solidFill>
                  <a:srgbClr val="6B665C"/>
                </a:solidFill>
                <a:latin typeface="Courier New" pitchFamily="34" charset="0"/>
                <a:ea typeface="Courier New" pitchFamily="34" charset="-122"/>
                <a:cs typeface="Courier New" pitchFamily="34" charset="-120"/>
              </a:rPr>
              <a:t>04 / 10</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486400" cy="914400"/>
        </p:xfrm>
        <a:graphic>
          <a:graphicData uri="http://schemas.openxmlformats.org/drawingml/2006/table">
            <a:tbl>
              <a:tblPr/>
              <a:tblGrid>
                <a:gridCol w="1188720"/>
                <a:gridCol w="1737360"/>
                <a:gridCol w="1737360"/>
                <a:gridCol w="822960"/>
              </a:tblGrid>
              <a:tr h="402336">
                <a:tc>
                  <a:txBody>
                    <a:bodyPr/>
                    <a:lstStyle/>
                    <a:p>
                      <a:pPr indent="0" marL="0">
                        <a:buNone/>
                      </a:pPr>
                      <a:r>
                        <a:rPr lang="en-US" sz="900" dirty="0">
                          <a:solidFill>
                            <a:srgbClr val="6B665C"/>
                          </a:solidFill>
                          <a:latin typeface="Courier New" pitchFamily="34" charset="0"/>
                          <a:ea typeface="Courier New" pitchFamily="34" charset="-122"/>
                          <a:cs typeface="Courier New" pitchFamily="34" charset="-120"/>
                        </a:rPr>
                        <a:t>FACTOR</a:t>
                      </a:r>
                      <a:endParaRPr lang="en-US" sz="9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1C1B19"/>
                      </a:solidFill>
                      <a:prstDash val="solid"/>
                      <a:round/>
                      <a:headEnd type="none" w="med" len="med"/>
                      <a:tailEnd type="none" w="med" len="med"/>
                    </a:lnB>
                  </a:tcPr>
                </a:tc>
                <a:tc>
                  <a:txBody>
                    <a:bodyPr/>
                    <a:lstStyle/>
                    <a:p>
                      <a:pPr indent="0" marL="0">
                        <a:buNone/>
                      </a:pPr>
                      <a:r>
                        <a:rPr lang="en-US" sz="900" dirty="0">
                          <a:solidFill>
                            <a:srgbClr val="6B665C"/>
                          </a:solidFill>
                          <a:latin typeface="Courier New" pitchFamily="34" charset="0"/>
                          <a:ea typeface="Courier New" pitchFamily="34" charset="-122"/>
                          <a:cs typeface="Courier New" pitchFamily="34" charset="-120"/>
                        </a:rPr>
                        <a:t>DIFFUSION · DiT</a:t>
                      </a:r>
                      <a:endParaRPr lang="en-US" sz="9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1C1B19"/>
                      </a:solidFill>
                      <a:prstDash val="solid"/>
                      <a:round/>
                      <a:headEnd type="none" w="med" len="med"/>
                      <a:tailEnd type="none" w="med" len="med"/>
                    </a:lnB>
                  </a:tcPr>
                </a:tc>
                <a:tc>
                  <a:txBody>
                    <a:bodyPr/>
                    <a:lstStyle/>
                    <a:p>
                      <a:pPr indent="0" marL="0">
                        <a:buNone/>
                      </a:pPr>
                      <a:r>
                        <a:rPr lang="en-US" sz="900" dirty="0">
                          <a:solidFill>
                            <a:srgbClr val="6B665C"/>
                          </a:solidFill>
                          <a:latin typeface="Courier New" pitchFamily="34" charset="0"/>
                          <a:ea typeface="Courier New" pitchFamily="34" charset="-122"/>
                          <a:cs typeface="Courier New" pitchFamily="34" charset="-120"/>
                        </a:rPr>
                        <a:t>FLOW · SiT</a:t>
                      </a:r>
                      <a:endParaRPr lang="en-US" sz="9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1C1B19"/>
                      </a:solidFill>
                      <a:prstDash val="solid"/>
                      <a:round/>
                      <a:headEnd type="none" w="med" len="med"/>
                      <a:tailEnd type="none" w="med" len="med"/>
                    </a:lnB>
                  </a:tcPr>
                </a:tc>
                <a:tc>
                  <a:txBody>
                    <a:bodyPr/>
                    <a:lstStyle/>
                    <a:p>
                      <a:pPr algn="r" indent="0" marL="0">
                        <a:buNone/>
                      </a:pPr>
                      <a:r>
                        <a:rPr lang="en-US" sz="900" dirty="0">
                          <a:solidFill>
                            <a:srgbClr val="6B665C"/>
                          </a:solidFill>
                          <a:latin typeface="Courier New" pitchFamily="34" charset="0"/>
                          <a:ea typeface="Courier New" pitchFamily="34" charset="-122"/>
                          <a:cs typeface="Courier New" pitchFamily="34" charset="-120"/>
                        </a:rPr>
                        <a:t>LEVELS</a:t>
                      </a:r>
                      <a:endParaRPr lang="en-US" sz="9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1C1B19"/>
                      </a:solidFill>
                      <a:prstDash val="solid"/>
                      <a:round/>
                      <a:headEnd type="none" w="med" len="med"/>
                      <a:tailEnd type="none" w="med" len="med"/>
                    </a:lnB>
                  </a:tcPr>
                </a:tc>
              </a:tr>
              <a:tr h="402336">
                <a:tc>
                  <a:txBody>
                    <a:bodyPr/>
                    <a:lstStyle/>
                    <a:p>
                      <a:pPr indent="0" marL="0">
                        <a:buNone/>
                      </a:pPr>
                      <a:r>
                        <a:rPr lang="en-US" sz="1100" dirty="0">
                          <a:solidFill>
                            <a:srgbClr val="1C1B19"/>
                          </a:solidFill>
                          <a:latin typeface="Arial" pitchFamily="34" charset="0"/>
                          <a:ea typeface="Arial" pitchFamily="34" charset="-122"/>
                          <a:cs typeface="Arial" pitchFamily="34" charset="-120"/>
                        </a:rPr>
                        <a:t>Checkpoint</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indent="0" marL="0">
                        <a:buNone/>
                      </a:pPr>
                      <a:r>
                        <a:rPr lang="en-US" sz="1100" dirty="0">
                          <a:solidFill>
                            <a:srgbClr val="1C1B19"/>
                          </a:solidFill>
                          <a:latin typeface="Arial" pitchFamily="34" charset="0"/>
                          <a:ea typeface="Arial" pitchFamily="34" charset="-122"/>
                          <a:cs typeface="Arial" pitchFamily="34" charset="-120"/>
                        </a:rPr>
                        <a:t>ImageNet-256, public</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indent="0" marL="0">
                        <a:buNone/>
                      </a:pPr>
                      <a:r>
                        <a:rPr lang="en-US" sz="1100" dirty="0">
                          <a:solidFill>
                            <a:srgbClr val="1C1B19"/>
                          </a:solidFill>
                          <a:latin typeface="Arial" pitchFamily="34" charset="0"/>
                          <a:ea typeface="Arial" pitchFamily="34" charset="-122"/>
                          <a:cs typeface="Arial" pitchFamily="34" charset="-120"/>
                        </a:rPr>
                        <a:t>ImageNet-256, public</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algn="r" indent="0" marL="0">
                        <a:buNone/>
                      </a:pPr>
                      <a:r>
                        <a:rPr lang="en-US" sz="1100" b="1" dirty="0">
                          <a:solidFill>
                            <a:srgbClr val="D9482B"/>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r>
              <a:tr h="402336">
                <a:tc>
                  <a:txBody>
                    <a:bodyPr/>
                    <a:lstStyle/>
                    <a:p>
                      <a:pPr indent="0" marL="0">
                        <a:buNone/>
                      </a:pPr>
                      <a:r>
                        <a:rPr lang="en-US" sz="1100" dirty="0">
                          <a:solidFill>
                            <a:srgbClr val="1C1B19"/>
                          </a:solidFill>
                          <a:latin typeface="Arial" pitchFamily="34" charset="0"/>
                          <a:ea typeface="Arial" pitchFamily="34" charset="-122"/>
                          <a:cs typeface="Arial" pitchFamily="34" charset="-120"/>
                        </a:rPr>
                        <a:t>Sampler</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indent="0" marL="0">
                        <a:buNone/>
                      </a:pPr>
                      <a:r>
                        <a:rPr lang="en-US" sz="1100" dirty="0">
                          <a:solidFill>
                            <a:srgbClr val="1C1B19"/>
                          </a:solidFill>
                          <a:latin typeface="Arial" pitchFamily="34" charset="0"/>
                          <a:ea typeface="Arial" pitchFamily="34" charset="-122"/>
                          <a:cs typeface="Arial" pitchFamily="34" charset="-120"/>
                        </a:rPr>
                        <a:t>DDIM · DPM-Solver</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indent="0" marL="0">
                        <a:buNone/>
                      </a:pPr>
                      <a:r>
                        <a:rPr lang="en-US" sz="1100" dirty="0">
                          <a:solidFill>
                            <a:srgbClr val="1C1B19"/>
                          </a:solidFill>
                          <a:latin typeface="Arial" pitchFamily="34" charset="0"/>
                          <a:ea typeface="Arial" pitchFamily="34" charset="-122"/>
                          <a:cs typeface="Arial" pitchFamily="34" charset="-120"/>
                        </a:rPr>
                        <a:t>Euler · Heun (ODE)</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algn="r" indent="0" marL="0">
                        <a:buNone/>
                      </a:pPr>
                      <a:r>
                        <a:rPr lang="en-US" sz="1100" b="1" dirty="0">
                          <a:solidFill>
                            <a:srgbClr val="D9482B"/>
                          </a:solidFill>
                          <a:latin typeface="Courier New" pitchFamily="34" charset="0"/>
                          <a:ea typeface="Courier New" pitchFamily="34" charset="-122"/>
                          <a:cs typeface="Courier New" pitchFamily="34" charset="-120"/>
                        </a:rPr>
                        <a:t>2 each</a:t>
                      </a:r>
                      <a:endParaRPr lang="en-US" sz="11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r>
              <a:tr h="402336">
                <a:tc>
                  <a:txBody>
                    <a:bodyPr/>
                    <a:lstStyle/>
                    <a:p>
                      <a:pPr indent="0" marL="0">
                        <a:buNone/>
                      </a:pPr>
                      <a:r>
                        <a:rPr lang="en-US" sz="1100" dirty="0">
                          <a:solidFill>
                            <a:srgbClr val="1C1B19"/>
                          </a:solidFill>
                          <a:latin typeface="Arial" pitchFamily="34" charset="0"/>
                          <a:ea typeface="Arial" pitchFamily="34" charset="-122"/>
                          <a:cs typeface="Arial" pitchFamily="34" charset="-120"/>
                        </a:rPr>
                        <a:t>Steps</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indent="0" marL="0">
                        <a:buNone/>
                      </a:pPr>
                      <a:r>
                        <a:rPr lang="en-US" sz="1100" dirty="0">
                          <a:solidFill>
                            <a:srgbClr val="1C1B19"/>
                          </a:solidFill>
                          <a:latin typeface="Arial" pitchFamily="34" charset="0"/>
                          <a:ea typeface="Arial" pitchFamily="34" charset="-122"/>
                          <a:cs typeface="Arial" pitchFamily="34" charset="-120"/>
                        </a:rPr>
                        <a:t>8 · 16 · 32</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indent="0" marL="0">
                        <a:buNone/>
                      </a:pPr>
                      <a:r>
                        <a:rPr lang="en-US" sz="1100" dirty="0">
                          <a:solidFill>
                            <a:srgbClr val="1C1B19"/>
                          </a:solidFill>
                          <a:latin typeface="Arial" pitchFamily="34" charset="0"/>
                          <a:ea typeface="Arial" pitchFamily="34" charset="-122"/>
                          <a:cs typeface="Arial" pitchFamily="34" charset="-120"/>
                        </a:rPr>
                        <a:t>8 · 16 · 32</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algn="r" indent="0" marL="0">
                        <a:buNone/>
                      </a:pPr>
                      <a:r>
                        <a:rPr lang="en-US" sz="1100" b="1" dirty="0">
                          <a:solidFill>
                            <a:srgbClr val="D9482B"/>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r>
              <a:tr h="402336">
                <a:tc>
                  <a:txBody>
                    <a:bodyPr/>
                    <a:lstStyle/>
                    <a:p>
                      <a:pPr indent="0" marL="0">
                        <a:buNone/>
                      </a:pPr>
                      <a:r>
                        <a:rPr lang="en-US" sz="1100" dirty="0">
                          <a:solidFill>
                            <a:srgbClr val="1C1B19"/>
                          </a:solidFill>
                          <a:latin typeface="Arial" pitchFamily="34" charset="0"/>
                          <a:ea typeface="Arial" pitchFamily="34" charset="-122"/>
                          <a:cs typeface="Arial" pitchFamily="34" charset="-120"/>
                        </a:rPr>
                        <a:t>Precision</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indent="0" marL="0">
                        <a:buNone/>
                      </a:pPr>
                      <a:r>
                        <a:rPr lang="en-US" sz="1100" dirty="0">
                          <a:solidFill>
                            <a:srgbClr val="1C1B19"/>
                          </a:solidFill>
                          <a:latin typeface="Arial" pitchFamily="34" charset="0"/>
                          <a:ea typeface="Arial" pitchFamily="34" charset="-122"/>
                          <a:cs typeface="Arial" pitchFamily="34" charset="-120"/>
                        </a:rPr>
                        <a:t>bf16 · fp32</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indent="0" marL="0">
                        <a:buNone/>
                      </a:pPr>
                      <a:r>
                        <a:rPr lang="en-US" sz="1100" dirty="0">
                          <a:solidFill>
                            <a:srgbClr val="1C1B19"/>
                          </a:solidFill>
                          <a:latin typeface="Arial" pitchFamily="34" charset="0"/>
                          <a:ea typeface="Arial" pitchFamily="34" charset="-122"/>
                          <a:cs typeface="Arial" pitchFamily="34" charset="-120"/>
                        </a:rPr>
                        <a:t>bf16 · fp32</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algn="r" indent="0" marL="0">
                        <a:buNone/>
                      </a:pPr>
                      <a:r>
                        <a:rPr lang="en-US" sz="1100" b="1" dirty="0">
                          <a:solidFill>
                            <a:srgbClr val="D9482B"/>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r>
              <a:tr h="402336">
                <a:tc>
                  <a:txBody>
                    <a:bodyPr/>
                    <a:lstStyle/>
                    <a:p>
                      <a:pPr indent="0" marL="0">
                        <a:buNone/>
                      </a:pPr>
                      <a:r>
                        <a:rPr lang="en-US" sz="1100" dirty="0">
                          <a:solidFill>
                            <a:srgbClr val="6B665C"/>
                          </a:solidFill>
                          <a:latin typeface="Arial" pitchFamily="34" charset="0"/>
                          <a:ea typeface="Arial" pitchFamily="34" charset="-122"/>
                          <a:cs typeface="Arial" pitchFamily="34" charset="-120"/>
                        </a:rPr>
                        <a:t>Batch size</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indent="0" marL="0">
                        <a:buNone/>
                      </a:pPr>
                      <a:r>
                        <a:rPr lang="en-US" sz="1100" dirty="0">
                          <a:solidFill>
                            <a:srgbClr val="6B665C"/>
                          </a:solidFill>
                          <a:latin typeface="Arial" pitchFamily="34" charset="0"/>
                          <a:ea typeface="Arial" pitchFamily="34" charset="-122"/>
                          <a:cs typeface="Arial" pitchFamily="34" charset="-120"/>
                        </a:rPr>
                        <a:t>1 · 8  (timing only)</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indent="0" marL="0">
                        <a:buNone/>
                      </a:pPr>
                      <a:r>
                        <a:rPr lang="en-US" sz="1100" dirty="0">
                          <a:solidFill>
                            <a:srgbClr val="6B665C"/>
                          </a:solidFill>
                          <a:latin typeface="Arial" pitchFamily="34" charset="0"/>
                          <a:ea typeface="Arial" pitchFamily="34" charset="-122"/>
                          <a:cs typeface="Arial" pitchFamily="34" charset="-120"/>
                        </a:rPr>
                        <a:t>1 · 8  (timing only)</a:t>
                      </a:r>
                      <a:endParaRPr lang="en-US" sz="11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c>
                  <a:txBody>
                    <a:bodyPr/>
                    <a:lstStyle/>
                    <a:p>
                      <a:pPr algn="r" indent="0" marL="0">
                        <a:buNone/>
                      </a:pPr>
                      <a:r>
                        <a:rPr lang="en-US" sz="1100" dirty="0">
                          <a:solidFill>
                            <a:srgbClr val="6B665C"/>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2B4"/>
                      </a:solidFill>
                      <a:prstDash val="solid"/>
                      <a:round/>
                      <a:headEnd type="none" w="med" len="med"/>
                      <a:tailEnd type="none" w="med" len="med"/>
                    </a:lnB>
                  </a:tcPr>
                </a:tc>
              </a:tr>
            </a:tbl>
          </a:graphicData>
        </a:graphic>
      </p:graphicFrame>
      <p:sp>
        <p:nvSpPr>
          <p:cNvPr id="9" name="Text 6"/>
          <p:cNvSpPr/>
          <p:nvPr/>
        </p:nvSpPr>
        <p:spPr>
          <a:xfrm>
            <a:off x="6400800" y="1463040"/>
            <a:ext cx="2286000" cy="320040"/>
          </a:xfrm>
          <a:prstGeom prst="rect">
            <a:avLst/>
          </a:prstGeom>
          <a:noFill/>
          <a:ln/>
        </p:spPr>
        <p:txBody>
          <a:bodyPr wrap="square" lIns="0" tIns="0" rIns="0" bIns="0" rtlCol="0" anchor="t"/>
          <a:lstStyle/>
          <a:p>
            <a:pPr indent="0" marL="0">
              <a:buNone/>
            </a:pPr>
            <a:r>
              <a:rPr lang="en-US" sz="1300" dirty="0">
                <a:solidFill>
                  <a:srgbClr val="6B665C"/>
                </a:solidFill>
                <a:latin typeface="Courier New" pitchFamily="34" charset="0"/>
                <a:ea typeface="Courier New" pitchFamily="34" charset="-122"/>
                <a:cs typeface="Courier New" pitchFamily="34" charset="-120"/>
              </a:rPr>
              <a:t>2 × 2 × 3 × 2</a:t>
            </a:r>
            <a:endParaRPr lang="en-US" sz="1300" dirty="0"/>
          </a:p>
        </p:txBody>
      </p:sp>
      <p:sp>
        <p:nvSpPr>
          <p:cNvPr id="10" name="Text 7"/>
          <p:cNvSpPr/>
          <p:nvPr/>
        </p:nvSpPr>
        <p:spPr>
          <a:xfrm>
            <a:off x="6400800" y="1783080"/>
            <a:ext cx="2286000" cy="1188720"/>
          </a:xfrm>
          <a:prstGeom prst="rect">
            <a:avLst/>
          </a:prstGeom>
          <a:noFill/>
          <a:ln/>
        </p:spPr>
        <p:txBody>
          <a:bodyPr wrap="square" lIns="0" tIns="0" rIns="0" bIns="0" rtlCol="0" anchor="t"/>
          <a:lstStyle/>
          <a:p>
            <a:pPr indent="0" marL="0">
              <a:buNone/>
            </a:pPr>
            <a:r>
              <a:rPr lang="en-US" sz="8000" dirty="0">
                <a:solidFill>
                  <a:srgbClr val="D9482B"/>
                </a:solidFill>
                <a:latin typeface="Georgia" pitchFamily="34" charset="0"/>
                <a:ea typeface="Georgia" pitchFamily="34" charset="-122"/>
                <a:cs typeface="Georgia" pitchFamily="34" charset="-120"/>
              </a:rPr>
              <a:t>24</a:t>
            </a:r>
            <a:endParaRPr lang="en-US" sz="8000" dirty="0"/>
          </a:p>
        </p:txBody>
      </p:sp>
      <p:sp>
        <p:nvSpPr>
          <p:cNvPr id="11" name="Text 8"/>
          <p:cNvSpPr/>
          <p:nvPr/>
        </p:nvSpPr>
        <p:spPr>
          <a:xfrm>
            <a:off x="6400800" y="3017520"/>
            <a:ext cx="2194560" cy="457200"/>
          </a:xfrm>
          <a:prstGeom prst="rect">
            <a:avLst/>
          </a:prstGeom>
          <a:noFill/>
          <a:ln/>
        </p:spPr>
        <p:txBody>
          <a:bodyPr wrap="square" lIns="0" tIns="0" rIns="0" bIns="0" rtlCol="0" anchor="t"/>
          <a:lstStyle/>
          <a:p>
            <a:pPr indent="0" marL="0">
              <a:buNone/>
            </a:pPr>
            <a:r>
              <a:rPr lang="en-US" sz="1100" dirty="0">
                <a:solidFill>
                  <a:srgbClr val="1C1B19"/>
                </a:solidFill>
                <a:latin typeface="Arial" pitchFamily="34" charset="0"/>
                <a:ea typeface="Arial" pitchFamily="34" charset="-122"/>
                <a:cs typeface="Arial" pitchFamily="34" charset="-120"/>
              </a:rPr>
              <a:t>model–sampler–step–precision configurations</a:t>
            </a:r>
            <a:endParaRPr lang="en-US" sz="1100" dirty="0"/>
          </a:p>
        </p:txBody>
      </p:sp>
      <p:sp>
        <p:nvSpPr>
          <p:cNvPr id="12" name="Shape 9"/>
          <p:cNvSpPr/>
          <p:nvPr/>
        </p:nvSpPr>
        <p:spPr>
          <a:xfrm>
            <a:off x="6400800" y="3657600"/>
            <a:ext cx="2286000" cy="0"/>
          </a:xfrm>
          <a:prstGeom prst="line">
            <a:avLst/>
          </a:prstGeom>
          <a:noFill/>
          <a:ln w="6350">
            <a:solidFill>
              <a:srgbClr val="C9C2B4"/>
            </a:solidFill>
            <a:prstDash val="solid"/>
          </a:ln>
        </p:spPr>
      </p:sp>
      <p:sp>
        <p:nvSpPr>
          <p:cNvPr id="13" name="Text 10"/>
          <p:cNvSpPr/>
          <p:nvPr/>
        </p:nvSpPr>
        <p:spPr>
          <a:xfrm>
            <a:off x="6400800" y="3749040"/>
            <a:ext cx="2286000" cy="868680"/>
          </a:xfrm>
          <a:prstGeom prst="rect">
            <a:avLst/>
          </a:prstGeom>
          <a:noFill/>
          <a:ln/>
        </p:spPr>
        <p:txBody>
          <a:bodyPr wrap="square" lIns="0" tIns="0" rIns="0" bIns="0" rtlCol="0" anchor="t"/>
          <a:lstStyle/>
          <a:p>
            <a:pPr indent="0" marL="0">
              <a:buNone/>
            </a:pPr>
            <a:r>
              <a:rPr lang="en-US" sz="950" dirty="0">
                <a:solidFill>
                  <a:srgbClr val="6B665C"/>
                </a:solidFill>
                <a:latin typeface="Arial" pitchFamily="34" charset="0"/>
                <a:ea typeface="Arial" pitchFamily="34" charset="-122"/>
                <a:cs typeface="Arial" pitchFamily="34" charset="-120"/>
              </a:rPr>
              <a:t>Fixed throughout: guidance scale, compile settings, seeds, class labels. Every network call counts toward NFE.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457200" y="292608"/>
            <a:ext cx="5486400" cy="201168"/>
          </a:xfrm>
          <a:prstGeom prst="rect">
            <a:avLst/>
          </a:prstGeom>
          <a:noFill/>
          <a:ln/>
        </p:spPr>
        <p:txBody>
          <a:bodyPr wrap="square" lIns="0" tIns="0" rIns="0" bIns="0" rtlCol="0" anchor="t"/>
          <a:lstStyle/>
          <a:p>
            <a:pPr indent="0" marL="0">
              <a:buNone/>
            </a:pPr>
            <a:r>
              <a:rPr lang="en-US" sz="900" dirty="0">
                <a:solidFill>
                  <a:srgbClr val="D9482B"/>
                </a:solidFill>
                <a:latin typeface="Courier New" pitchFamily="34" charset="0"/>
                <a:ea typeface="Courier New" pitchFamily="34" charset="-122"/>
                <a:cs typeface="Courier New" pitchFamily="34" charset="-120"/>
              </a:rPr>
              <a:t>05  /  HARDWARE &amp; PROTOCOL</a:t>
            </a:r>
            <a:endParaRPr lang="en-US" sz="900" dirty="0"/>
          </a:p>
        </p:txBody>
      </p:sp>
      <p:sp>
        <p:nvSpPr>
          <p:cNvPr id="3" name="Text 1"/>
          <p:cNvSpPr/>
          <p:nvPr/>
        </p:nvSpPr>
        <p:spPr>
          <a:xfrm>
            <a:off x="457200" y="530352"/>
            <a:ext cx="8229600" cy="566928"/>
          </a:xfrm>
          <a:prstGeom prst="rect">
            <a:avLst/>
          </a:prstGeom>
          <a:noFill/>
          <a:ln/>
        </p:spPr>
        <p:txBody>
          <a:bodyPr wrap="square" lIns="0" tIns="0" rIns="0" bIns="0" rtlCol="0" anchor="ctr"/>
          <a:lstStyle/>
          <a:p>
            <a:pPr indent="0" marL="0">
              <a:buNone/>
            </a:pPr>
            <a:r>
              <a:rPr lang="en-US" sz="2500" dirty="0">
                <a:solidFill>
                  <a:srgbClr val="1C1B19"/>
                </a:solidFill>
                <a:latin typeface="Georgia" pitchFamily="34" charset="0"/>
                <a:ea typeface="Georgia" pitchFamily="34" charset="-122"/>
                <a:cs typeface="Georgia" pitchFamily="34" charset="-120"/>
              </a:rPr>
              <a:t>Three generations of GPU, one protocol</a:t>
            </a:r>
            <a:endParaRPr lang="en-US" sz="2500" dirty="0"/>
          </a:p>
        </p:txBody>
      </p:sp>
      <p:sp>
        <p:nvSpPr>
          <p:cNvPr id="4" name="Shape 2"/>
          <p:cNvSpPr/>
          <p:nvPr/>
        </p:nvSpPr>
        <p:spPr>
          <a:xfrm>
            <a:off x="457200" y="1207008"/>
            <a:ext cx="8229600" cy="0"/>
          </a:xfrm>
          <a:prstGeom prst="line">
            <a:avLst/>
          </a:prstGeom>
          <a:noFill/>
          <a:ln w="9525">
            <a:solidFill>
              <a:srgbClr val="1C1B19"/>
            </a:solidFill>
            <a:prstDash val="solid"/>
          </a:ln>
        </p:spPr>
      </p:sp>
      <p:sp>
        <p:nvSpPr>
          <p:cNvPr id="5" name="Shape 3"/>
          <p:cNvSpPr/>
          <p:nvPr/>
        </p:nvSpPr>
        <p:spPr>
          <a:xfrm>
            <a:off x="457200" y="4736592"/>
            <a:ext cx="8229600" cy="0"/>
          </a:xfrm>
          <a:prstGeom prst="line">
            <a:avLst/>
          </a:prstGeom>
          <a:noFill/>
          <a:ln w="6350">
            <a:solidFill>
              <a:srgbClr val="C9C2B4"/>
            </a:solidFill>
            <a:prstDash val="solid"/>
          </a:ln>
        </p:spPr>
      </p:sp>
      <p:sp>
        <p:nvSpPr>
          <p:cNvPr id="6" name="Text 4"/>
          <p:cNvSpPr/>
          <p:nvPr/>
        </p:nvSpPr>
        <p:spPr>
          <a:xfrm>
            <a:off x="457200" y="4791456"/>
            <a:ext cx="5486400" cy="182880"/>
          </a:xfrm>
          <a:prstGeom prst="rect">
            <a:avLst/>
          </a:prstGeom>
          <a:noFill/>
          <a:ln/>
        </p:spPr>
        <p:txBody>
          <a:bodyPr wrap="square" lIns="0" tIns="0" rIns="0" bIns="0" rtlCol="0" anchor="t"/>
          <a:lstStyle/>
          <a:p>
            <a:pPr indent="0" marL="0">
              <a:buNone/>
            </a:pPr>
            <a:r>
              <a:rPr lang="en-US" sz="750" dirty="0">
                <a:solidFill>
                  <a:srgbClr val="6B665C"/>
                </a:solidFill>
                <a:latin typeface="Courier New" pitchFamily="34" charset="0"/>
                <a:ea typeface="Courier New" pitchFamily="34" charset="-122"/>
                <a:cs typeface="Courier New" pitchFamily="34" charset="-120"/>
              </a:rPr>
              <a:t>ZAKYNTHINOS — ADVANCED TOPICS IN AI — PROPOSAL</a:t>
            </a:r>
            <a:endParaRPr lang="en-US" sz="750" dirty="0"/>
          </a:p>
        </p:txBody>
      </p:sp>
      <p:sp>
        <p:nvSpPr>
          <p:cNvPr id="7" name="Text 5"/>
          <p:cNvSpPr/>
          <p:nvPr/>
        </p:nvSpPr>
        <p:spPr>
          <a:xfrm>
            <a:off x="7772400" y="4791456"/>
            <a:ext cx="914400" cy="182880"/>
          </a:xfrm>
          <a:prstGeom prst="rect">
            <a:avLst/>
          </a:prstGeom>
          <a:noFill/>
          <a:ln/>
        </p:spPr>
        <p:txBody>
          <a:bodyPr wrap="square" lIns="0" tIns="0" rIns="0" bIns="0" rtlCol="0" anchor="t"/>
          <a:lstStyle/>
          <a:p>
            <a:pPr algn="r" indent="0" marL="0">
              <a:buNone/>
            </a:pPr>
            <a:r>
              <a:rPr lang="en-US" sz="750" dirty="0">
                <a:solidFill>
                  <a:srgbClr val="6B665C"/>
                </a:solidFill>
                <a:latin typeface="Courier New" pitchFamily="34" charset="0"/>
                <a:ea typeface="Courier New" pitchFamily="34" charset="-122"/>
                <a:cs typeface="Courier New" pitchFamily="34" charset="-120"/>
              </a:rPr>
              <a:t>05 / 10</a:t>
            </a:r>
            <a:endParaRPr lang="en-US" sz="750" dirty="0"/>
          </a:p>
        </p:txBody>
      </p:sp>
      <p:sp>
        <p:nvSpPr>
          <p:cNvPr id="8" name="Shape 6"/>
          <p:cNvSpPr/>
          <p:nvPr/>
        </p:nvSpPr>
        <p:spPr>
          <a:xfrm>
            <a:off x="457200" y="1463040"/>
            <a:ext cx="128016" cy="128016"/>
          </a:xfrm>
          <a:prstGeom prst="rect">
            <a:avLst/>
          </a:prstGeom>
          <a:solidFill>
            <a:srgbClr val="1C1B19"/>
          </a:solidFill>
          <a:ln w="12700">
            <a:solidFill>
              <a:srgbClr val="1C1B19"/>
            </a:solidFill>
            <a:prstDash val="solid"/>
          </a:ln>
        </p:spPr>
      </p:sp>
      <p:sp>
        <p:nvSpPr>
          <p:cNvPr id="9" name="Text 7"/>
          <p:cNvSpPr/>
          <p:nvPr/>
        </p:nvSpPr>
        <p:spPr>
          <a:xfrm>
            <a:off x="685800" y="1417320"/>
            <a:ext cx="2377440" cy="228600"/>
          </a:xfrm>
          <a:prstGeom prst="rect">
            <a:avLst/>
          </a:prstGeom>
          <a:noFill/>
          <a:ln/>
        </p:spPr>
        <p:txBody>
          <a:bodyPr wrap="square" lIns="0" tIns="0" rIns="0" bIns="0" rtlCol="0" anchor="t"/>
          <a:lstStyle/>
          <a:p>
            <a:pPr indent="0" marL="0">
              <a:buNone/>
            </a:pPr>
            <a:r>
              <a:rPr lang="en-US" sz="1000" b="1" dirty="0">
                <a:solidFill>
                  <a:srgbClr val="1C1B19"/>
                </a:solidFill>
                <a:latin typeface="Courier New" pitchFamily="34" charset="0"/>
                <a:ea typeface="Courier New" pitchFamily="34" charset="-122"/>
                <a:cs typeface="Courier New" pitchFamily="34" charset="-120"/>
              </a:rPr>
              <a:t>LOCAL GPU</a:t>
            </a:r>
            <a:endParaRPr lang="en-US" sz="1000" dirty="0"/>
          </a:p>
        </p:txBody>
      </p:sp>
      <p:sp>
        <p:nvSpPr>
          <p:cNvPr id="10" name="Text 8"/>
          <p:cNvSpPr/>
          <p:nvPr/>
        </p:nvSpPr>
        <p:spPr>
          <a:xfrm>
            <a:off x="685800" y="1719072"/>
            <a:ext cx="2377440" cy="274320"/>
          </a:xfrm>
          <a:prstGeom prst="rect">
            <a:avLst/>
          </a:prstGeom>
          <a:noFill/>
          <a:ln/>
        </p:spPr>
        <p:txBody>
          <a:bodyPr wrap="square" lIns="0" tIns="0" rIns="0" bIns="0" rtlCol="0" anchor="t"/>
          <a:lstStyle/>
          <a:p>
            <a:pPr indent="0" marL="0">
              <a:buNone/>
            </a:pPr>
            <a:r>
              <a:rPr lang="en-US" sz="1300" dirty="0">
                <a:solidFill>
                  <a:srgbClr val="1C1B19"/>
                </a:solidFill>
                <a:latin typeface="Georgia" pitchFamily="34" charset="0"/>
                <a:ea typeface="Georgia" pitchFamily="34" charset="-122"/>
                <a:cs typeface="Georgia" pitchFamily="34" charset="-120"/>
              </a:rPr>
              <a:t>Workhorse</a:t>
            </a:r>
            <a:endParaRPr lang="en-US" sz="1300" dirty="0"/>
          </a:p>
        </p:txBody>
      </p:sp>
      <p:sp>
        <p:nvSpPr>
          <p:cNvPr id="11" name="Text 9"/>
          <p:cNvSpPr/>
          <p:nvPr/>
        </p:nvSpPr>
        <p:spPr>
          <a:xfrm>
            <a:off x="685800" y="2011680"/>
            <a:ext cx="2377440" cy="274320"/>
          </a:xfrm>
          <a:prstGeom prst="rect">
            <a:avLst/>
          </a:prstGeom>
          <a:noFill/>
          <a:ln/>
        </p:spPr>
        <p:txBody>
          <a:bodyPr wrap="square" lIns="0" tIns="0" rIns="0" bIns="0" rtlCol="0" anchor="t"/>
          <a:lstStyle/>
          <a:p>
            <a:pPr indent="0" marL="0">
              <a:buNone/>
            </a:pPr>
            <a:r>
              <a:rPr lang="en-US" sz="1050" dirty="0">
                <a:solidFill>
                  <a:srgbClr val="6B665C"/>
                </a:solidFill>
                <a:latin typeface="Arial" pitchFamily="34" charset="0"/>
                <a:ea typeface="Arial" pitchFamily="34" charset="-122"/>
                <a:cs typeface="Arial" pitchFamily="34" charset="-120"/>
              </a:rPr>
              <a:t>Quality generation, pilot sweeps</a:t>
            </a:r>
            <a:endParaRPr lang="en-US" sz="1050" dirty="0"/>
          </a:p>
        </p:txBody>
      </p:sp>
      <p:sp>
        <p:nvSpPr>
          <p:cNvPr id="12" name="Shape 10"/>
          <p:cNvSpPr/>
          <p:nvPr/>
        </p:nvSpPr>
        <p:spPr>
          <a:xfrm>
            <a:off x="3246120" y="1463040"/>
            <a:ext cx="128016" cy="128016"/>
          </a:xfrm>
          <a:prstGeom prst="rect">
            <a:avLst/>
          </a:prstGeom>
          <a:solidFill>
            <a:srgbClr val="D9482B"/>
          </a:solidFill>
          <a:ln w="12700">
            <a:solidFill>
              <a:srgbClr val="D9482B"/>
            </a:solidFill>
            <a:prstDash val="solid"/>
          </a:ln>
        </p:spPr>
      </p:sp>
      <p:sp>
        <p:nvSpPr>
          <p:cNvPr id="13" name="Text 11"/>
          <p:cNvSpPr/>
          <p:nvPr/>
        </p:nvSpPr>
        <p:spPr>
          <a:xfrm>
            <a:off x="3474720" y="1417320"/>
            <a:ext cx="2377440" cy="228600"/>
          </a:xfrm>
          <a:prstGeom prst="rect">
            <a:avLst/>
          </a:prstGeom>
          <a:noFill/>
          <a:ln/>
        </p:spPr>
        <p:txBody>
          <a:bodyPr wrap="square" lIns="0" tIns="0" rIns="0" bIns="0" rtlCol="0" anchor="t"/>
          <a:lstStyle/>
          <a:p>
            <a:pPr indent="0" marL="0">
              <a:buNone/>
            </a:pPr>
            <a:r>
              <a:rPr lang="en-US" sz="1000" b="1" dirty="0">
                <a:solidFill>
                  <a:srgbClr val="1C1B19"/>
                </a:solidFill>
                <a:latin typeface="Courier New" pitchFamily="34" charset="0"/>
                <a:ea typeface="Courier New" pitchFamily="34" charset="-122"/>
                <a:cs typeface="Courier New" pitchFamily="34" charset="-120"/>
              </a:rPr>
              <a:t>COLAB T4</a:t>
            </a:r>
            <a:endParaRPr lang="en-US" sz="1000" dirty="0"/>
          </a:p>
        </p:txBody>
      </p:sp>
      <p:sp>
        <p:nvSpPr>
          <p:cNvPr id="14" name="Text 12"/>
          <p:cNvSpPr/>
          <p:nvPr/>
        </p:nvSpPr>
        <p:spPr>
          <a:xfrm>
            <a:off x="3474720" y="1719072"/>
            <a:ext cx="2377440" cy="274320"/>
          </a:xfrm>
          <a:prstGeom prst="rect">
            <a:avLst/>
          </a:prstGeom>
          <a:noFill/>
          <a:ln/>
        </p:spPr>
        <p:txBody>
          <a:bodyPr wrap="square" lIns="0" tIns="0" rIns="0" bIns="0" rtlCol="0" anchor="t"/>
          <a:lstStyle/>
          <a:p>
            <a:pPr indent="0" marL="0">
              <a:buNone/>
            </a:pPr>
            <a:r>
              <a:rPr lang="en-US" sz="1300" dirty="0">
                <a:solidFill>
                  <a:srgbClr val="1C1B19"/>
                </a:solidFill>
                <a:latin typeface="Georgia" pitchFamily="34" charset="0"/>
                <a:ea typeface="Georgia" pitchFamily="34" charset="-122"/>
                <a:cs typeface="Georgia" pitchFamily="34" charset="-120"/>
              </a:rPr>
              <a:t>Turing · no native bf16</a:t>
            </a:r>
            <a:endParaRPr lang="en-US" sz="1300" dirty="0"/>
          </a:p>
        </p:txBody>
      </p:sp>
      <p:sp>
        <p:nvSpPr>
          <p:cNvPr id="15" name="Text 13"/>
          <p:cNvSpPr/>
          <p:nvPr/>
        </p:nvSpPr>
        <p:spPr>
          <a:xfrm>
            <a:off x="3474720" y="2011680"/>
            <a:ext cx="2377440" cy="274320"/>
          </a:xfrm>
          <a:prstGeom prst="rect">
            <a:avLst/>
          </a:prstGeom>
          <a:noFill/>
          <a:ln/>
        </p:spPr>
        <p:txBody>
          <a:bodyPr wrap="square" lIns="0" tIns="0" rIns="0" bIns="0" rtlCol="0" anchor="t"/>
          <a:lstStyle/>
          <a:p>
            <a:pPr indent="0" marL="0">
              <a:buNone/>
            </a:pPr>
            <a:r>
              <a:rPr lang="en-US" sz="1050" dirty="0">
                <a:solidFill>
                  <a:srgbClr val="6B665C"/>
                </a:solidFill>
                <a:latin typeface="Arial" pitchFamily="34" charset="0"/>
                <a:ea typeface="Arial" pitchFamily="34" charset="-122"/>
                <a:cs typeface="Arial" pitchFamily="34" charset="-120"/>
              </a:rPr>
              <a:t>Timing sweeps only</a:t>
            </a:r>
            <a:endParaRPr lang="en-US" sz="1050" dirty="0"/>
          </a:p>
        </p:txBody>
      </p:sp>
      <p:sp>
        <p:nvSpPr>
          <p:cNvPr id="16" name="Shape 14"/>
          <p:cNvSpPr/>
          <p:nvPr/>
        </p:nvSpPr>
        <p:spPr>
          <a:xfrm>
            <a:off x="6035040" y="1463040"/>
            <a:ext cx="128016" cy="128016"/>
          </a:xfrm>
          <a:prstGeom prst="rect">
            <a:avLst/>
          </a:prstGeom>
          <a:solidFill>
            <a:srgbClr val="2F5D62"/>
          </a:solidFill>
          <a:ln w="12700">
            <a:solidFill>
              <a:srgbClr val="2F5D62"/>
            </a:solidFill>
            <a:prstDash val="solid"/>
          </a:ln>
        </p:spPr>
      </p:sp>
      <p:sp>
        <p:nvSpPr>
          <p:cNvPr id="17" name="Text 15"/>
          <p:cNvSpPr/>
          <p:nvPr/>
        </p:nvSpPr>
        <p:spPr>
          <a:xfrm>
            <a:off x="6263640" y="1417320"/>
            <a:ext cx="2377440" cy="228600"/>
          </a:xfrm>
          <a:prstGeom prst="rect">
            <a:avLst/>
          </a:prstGeom>
          <a:noFill/>
          <a:ln/>
        </p:spPr>
        <p:txBody>
          <a:bodyPr wrap="square" lIns="0" tIns="0" rIns="0" bIns="0" rtlCol="0" anchor="t"/>
          <a:lstStyle/>
          <a:p>
            <a:pPr indent="0" marL="0">
              <a:buNone/>
            </a:pPr>
            <a:r>
              <a:rPr lang="en-US" sz="1000" b="1" dirty="0">
                <a:solidFill>
                  <a:srgbClr val="1C1B19"/>
                </a:solidFill>
                <a:latin typeface="Courier New" pitchFamily="34" charset="0"/>
                <a:ea typeface="Courier New" pitchFamily="34" charset="-122"/>
                <a:cs typeface="Courier New" pitchFamily="34" charset="-120"/>
              </a:rPr>
              <a:t>IKAROS GH200</a:t>
            </a:r>
            <a:endParaRPr lang="en-US" sz="1000" dirty="0"/>
          </a:p>
        </p:txBody>
      </p:sp>
      <p:sp>
        <p:nvSpPr>
          <p:cNvPr id="18" name="Text 16"/>
          <p:cNvSpPr/>
          <p:nvPr/>
        </p:nvSpPr>
        <p:spPr>
          <a:xfrm>
            <a:off x="6263640" y="1719072"/>
            <a:ext cx="2377440" cy="274320"/>
          </a:xfrm>
          <a:prstGeom prst="rect">
            <a:avLst/>
          </a:prstGeom>
          <a:noFill/>
          <a:ln/>
        </p:spPr>
        <p:txBody>
          <a:bodyPr wrap="square" lIns="0" tIns="0" rIns="0" bIns="0" rtlCol="0" anchor="t"/>
          <a:lstStyle/>
          <a:p>
            <a:pPr indent="0" marL="0">
              <a:buNone/>
            </a:pPr>
            <a:r>
              <a:rPr lang="en-US" sz="1300" dirty="0">
                <a:solidFill>
                  <a:srgbClr val="1C1B19"/>
                </a:solidFill>
                <a:latin typeface="Georgia" pitchFamily="34" charset="0"/>
                <a:ea typeface="Georgia" pitchFamily="34" charset="-122"/>
                <a:cs typeface="Georgia" pitchFamily="34" charset="-120"/>
              </a:rPr>
              <a:t>Hopper-class · scarce hours</a:t>
            </a:r>
            <a:endParaRPr lang="en-US" sz="1300" dirty="0"/>
          </a:p>
        </p:txBody>
      </p:sp>
      <p:sp>
        <p:nvSpPr>
          <p:cNvPr id="19" name="Text 17"/>
          <p:cNvSpPr/>
          <p:nvPr/>
        </p:nvSpPr>
        <p:spPr>
          <a:xfrm>
            <a:off x="6263640" y="2011680"/>
            <a:ext cx="2377440" cy="274320"/>
          </a:xfrm>
          <a:prstGeom prst="rect">
            <a:avLst/>
          </a:prstGeom>
          <a:noFill/>
          <a:ln/>
        </p:spPr>
        <p:txBody>
          <a:bodyPr wrap="square" lIns="0" tIns="0" rIns="0" bIns="0" rtlCol="0" anchor="t"/>
          <a:lstStyle/>
          <a:p>
            <a:pPr indent="0" marL="0">
              <a:buNone/>
            </a:pPr>
            <a:r>
              <a:rPr lang="en-US" sz="1050" dirty="0">
                <a:solidFill>
                  <a:srgbClr val="6B665C"/>
                </a:solidFill>
                <a:latin typeface="Arial" pitchFamily="34" charset="0"/>
                <a:ea typeface="Arial" pitchFamily="34" charset="-122"/>
                <a:cs typeface="Arial" pitchFamily="34" charset="-120"/>
              </a:rPr>
              <a:t>Short timing + validation</a:t>
            </a:r>
            <a:endParaRPr lang="en-US" sz="1050" dirty="0"/>
          </a:p>
        </p:txBody>
      </p:sp>
      <p:sp>
        <p:nvSpPr>
          <p:cNvPr id="20" name="Shape 18"/>
          <p:cNvSpPr/>
          <p:nvPr/>
        </p:nvSpPr>
        <p:spPr>
          <a:xfrm>
            <a:off x="457200" y="2560320"/>
            <a:ext cx="8229600" cy="0"/>
          </a:xfrm>
          <a:prstGeom prst="line">
            <a:avLst/>
          </a:prstGeom>
          <a:noFill/>
          <a:ln w="6350">
            <a:solidFill>
              <a:srgbClr val="C9C2B4"/>
            </a:solidFill>
            <a:prstDash val="solid"/>
          </a:ln>
        </p:spPr>
      </p:sp>
      <p:sp>
        <p:nvSpPr>
          <p:cNvPr id="21" name="Text 19"/>
          <p:cNvSpPr/>
          <p:nvPr/>
        </p:nvSpPr>
        <p:spPr>
          <a:xfrm>
            <a:off x="457200" y="2697480"/>
            <a:ext cx="8229600" cy="201168"/>
          </a:xfrm>
          <a:prstGeom prst="rect">
            <a:avLst/>
          </a:prstGeom>
          <a:noFill/>
          <a:ln/>
        </p:spPr>
        <p:txBody>
          <a:bodyPr wrap="square" lIns="0" tIns="0" rIns="0" bIns="0" rtlCol="0" anchor="t"/>
          <a:lstStyle/>
          <a:p>
            <a:pPr indent="0" marL="0">
              <a:buNone/>
            </a:pPr>
            <a:r>
              <a:rPr lang="en-US" sz="850" dirty="0">
                <a:solidFill>
                  <a:srgbClr val="6B665C"/>
                </a:solidFill>
                <a:latin typeface="Courier New" pitchFamily="34" charset="0"/>
                <a:ea typeface="Courier New" pitchFamily="34" charset="-122"/>
                <a:cs typeface="Courier New" pitchFamily="34" charset="-120"/>
              </a:rPr>
              <a:t>MEASUREMENT PROTOCOL — IDENTICAL ON EVERY DEVICE, ONE GPU PER RUN</a:t>
            </a:r>
            <a:endParaRPr lang="en-US" sz="850" dirty="0"/>
          </a:p>
        </p:txBody>
      </p:sp>
      <p:sp>
        <p:nvSpPr>
          <p:cNvPr id="22" name="Text 20"/>
          <p:cNvSpPr/>
          <p:nvPr/>
        </p:nvSpPr>
        <p:spPr>
          <a:xfrm>
            <a:off x="457200" y="3063240"/>
            <a:ext cx="548640" cy="457200"/>
          </a:xfrm>
          <a:prstGeom prst="rect">
            <a:avLst/>
          </a:prstGeom>
          <a:noFill/>
          <a:ln/>
        </p:spPr>
        <p:txBody>
          <a:bodyPr wrap="square" lIns="0" tIns="0" rIns="0" bIns="0" rtlCol="0" anchor="t"/>
          <a:lstStyle/>
          <a:p>
            <a:pPr indent="0" marL="0">
              <a:buNone/>
            </a:pPr>
            <a:r>
              <a:rPr lang="en-US" sz="2200" dirty="0">
                <a:solidFill>
                  <a:srgbClr val="D9482B"/>
                </a:solidFill>
                <a:latin typeface="Courier New" pitchFamily="34" charset="0"/>
                <a:ea typeface="Courier New" pitchFamily="34" charset="-122"/>
                <a:cs typeface="Courier New" pitchFamily="34" charset="-120"/>
              </a:rPr>
              <a:t>01</a:t>
            </a:r>
            <a:endParaRPr lang="en-US" sz="2200" dirty="0"/>
          </a:p>
        </p:txBody>
      </p:sp>
      <p:sp>
        <p:nvSpPr>
          <p:cNvPr id="23" name="Shape 21"/>
          <p:cNvSpPr/>
          <p:nvPr/>
        </p:nvSpPr>
        <p:spPr>
          <a:xfrm>
            <a:off x="457200" y="3611880"/>
            <a:ext cx="1463040" cy="0"/>
          </a:xfrm>
          <a:prstGeom prst="line">
            <a:avLst/>
          </a:prstGeom>
          <a:noFill/>
          <a:ln w="9525">
            <a:solidFill>
              <a:srgbClr val="1C1B19"/>
            </a:solidFill>
            <a:prstDash val="solid"/>
          </a:ln>
        </p:spPr>
      </p:sp>
      <p:sp>
        <p:nvSpPr>
          <p:cNvPr id="24" name="Text 22"/>
          <p:cNvSpPr/>
          <p:nvPr/>
        </p:nvSpPr>
        <p:spPr>
          <a:xfrm>
            <a:off x="457200" y="3703320"/>
            <a:ext cx="1463040" cy="274320"/>
          </a:xfrm>
          <a:prstGeom prst="rect">
            <a:avLst/>
          </a:prstGeom>
          <a:noFill/>
          <a:ln/>
        </p:spPr>
        <p:txBody>
          <a:bodyPr wrap="square" lIns="0" tIns="0" rIns="0" bIns="0" rtlCol="0" anchor="t"/>
          <a:lstStyle/>
          <a:p>
            <a:pPr indent="0" marL="0">
              <a:buNone/>
            </a:pPr>
            <a:r>
              <a:rPr lang="en-US" sz="1300" dirty="0">
                <a:solidFill>
                  <a:srgbClr val="1C1B19"/>
                </a:solidFill>
                <a:latin typeface="Georgia" pitchFamily="34" charset="0"/>
                <a:ea typeface="Georgia" pitchFamily="34" charset="-122"/>
                <a:cs typeface="Georgia" pitchFamily="34" charset="-120"/>
              </a:rPr>
              <a:t>Pin</a:t>
            </a:r>
            <a:endParaRPr lang="en-US" sz="1300" dirty="0"/>
          </a:p>
        </p:txBody>
      </p:sp>
      <p:sp>
        <p:nvSpPr>
          <p:cNvPr id="25" name="Text 23"/>
          <p:cNvSpPr/>
          <p:nvPr/>
        </p:nvSpPr>
        <p:spPr>
          <a:xfrm>
            <a:off x="457200" y="4005072"/>
            <a:ext cx="1463040" cy="548640"/>
          </a:xfrm>
          <a:prstGeom prst="rect">
            <a:avLst/>
          </a:prstGeom>
          <a:noFill/>
          <a:ln/>
        </p:spPr>
        <p:txBody>
          <a:bodyPr wrap="square" lIns="0" tIns="0" rIns="0" bIns="0" rtlCol="0" anchor="t"/>
          <a:lstStyle/>
          <a:p>
            <a:pPr indent="0" marL="0">
              <a:buNone/>
            </a:pPr>
            <a:r>
              <a:rPr lang="en-US" sz="950" dirty="0">
                <a:solidFill>
                  <a:srgbClr val="6B665C"/>
                </a:solidFill>
                <a:latin typeface="Arial" pitchFamily="34" charset="0"/>
                <a:ea typeface="Arial" pitchFamily="34" charset="-122"/>
                <a:cs typeface="Arial" pitchFamily="34" charset="-120"/>
              </a:rPr>
              <a:t>versions, seeds, class labels</a:t>
            </a:r>
            <a:endParaRPr lang="en-US" sz="950" dirty="0"/>
          </a:p>
        </p:txBody>
      </p:sp>
      <p:sp>
        <p:nvSpPr>
          <p:cNvPr id="26" name="Text 24"/>
          <p:cNvSpPr/>
          <p:nvPr/>
        </p:nvSpPr>
        <p:spPr>
          <a:xfrm>
            <a:off x="2130552" y="3063240"/>
            <a:ext cx="548640" cy="457200"/>
          </a:xfrm>
          <a:prstGeom prst="rect">
            <a:avLst/>
          </a:prstGeom>
          <a:noFill/>
          <a:ln/>
        </p:spPr>
        <p:txBody>
          <a:bodyPr wrap="square" lIns="0" tIns="0" rIns="0" bIns="0" rtlCol="0" anchor="t"/>
          <a:lstStyle/>
          <a:p>
            <a:pPr indent="0" marL="0">
              <a:buNone/>
            </a:pPr>
            <a:r>
              <a:rPr lang="en-US" sz="2200" dirty="0">
                <a:solidFill>
                  <a:srgbClr val="D9482B"/>
                </a:solidFill>
                <a:latin typeface="Courier New" pitchFamily="34" charset="0"/>
                <a:ea typeface="Courier New" pitchFamily="34" charset="-122"/>
                <a:cs typeface="Courier New" pitchFamily="34" charset="-120"/>
              </a:rPr>
              <a:t>02</a:t>
            </a:r>
            <a:endParaRPr lang="en-US" sz="2200" dirty="0"/>
          </a:p>
        </p:txBody>
      </p:sp>
      <p:sp>
        <p:nvSpPr>
          <p:cNvPr id="27" name="Shape 25"/>
          <p:cNvSpPr/>
          <p:nvPr/>
        </p:nvSpPr>
        <p:spPr>
          <a:xfrm>
            <a:off x="2130552" y="3611880"/>
            <a:ext cx="1463040" cy="0"/>
          </a:xfrm>
          <a:prstGeom prst="line">
            <a:avLst/>
          </a:prstGeom>
          <a:noFill/>
          <a:ln w="9525">
            <a:solidFill>
              <a:srgbClr val="1C1B19"/>
            </a:solidFill>
            <a:prstDash val="solid"/>
          </a:ln>
        </p:spPr>
      </p:sp>
      <p:sp>
        <p:nvSpPr>
          <p:cNvPr id="28" name="Text 26"/>
          <p:cNvSpPr/>
          <p:nvPr/>
        </p:nvSpPr>
        <p:spPr>
          <a:xfrm>
            <a:off x="2130552" y="3703320"/>
            <a:ext cx="1463040" cy="274320"/>
          </a:xfrm>
          <a:prstGeom prst="rect">
            <a:avLst/>
          </a:prstGeom>
          <a:noFill/>
          <a:ln/>
        </p:spPr>
        <p:txBody>
          <a:bodyPr wrap="square" lIns="0" tIns="0" rIns="0" bIns="0" rtlCol="0" anchor="t"/>
          <a:lstStyle/>
          <a:p>
            <a:pPr indent="0" marL="0">
              <a:buNone/>
            </a:pPr>
            <a:r>
              <a:rPr lang="en-US" sz="1300" dirty="0">
                <a:solidFill>
                  <a:srgbClr val="1C1B19"/>
                </a:solidFill>
                <a:latin typeface="Georgia" pitchFamily="34" charset="0"/>
                <a:ea typeface="Georgia" pitchFamily="34" charset="-122"/>
                <a:cs typeface="Georgia" pitchFamily="34" charset="-120"/>
              </a:rPr>
              <a:t>Warm up</a:t>
            </a:r>
            <a:endParaRPr lang="en-US" sz="1300" dirty="0"/>
          </a:p>
        </p:txBody>
      </p:sp>
      <p:sp>
        <p:nvSpPr>
          <p:cNvPr id="29" name="Text 27"/>
          <p:cNvSpPr/>
          <p:nvPr/>
        </p:nvSpPr>
        <p:spPr>
          <a:xfrm>
            <a:off x="2130552" y="4005072"/>
            <a:ext cx="1463040" cy="548640"/>
          </a:xfrm>
          <a:prstGeom prst="rect">
            <a:avLst/>
          </a:prstGeom>
          <a:noFill/>
          <a:ln/>
        </p:spPr>
        <p:txBody>
          <a:bodyPr wrap="square" lIns="0" tIns="0" rIns="0" bIns="0" rtlCol="0" anchor="t"/>
          <a:lstStyle/>
          <a:p>
            <a:pPr indent="0" marL="0">
              <a:buNone/>
            </a:pPr>
            <a:r>
              <a:rPr lang="en-US" sz="950" dirty="0">
                <a:solidFill>
                  <a:srgbClr val="6B665C"/>
                </a:solidFill>
                <a:latin typeface="Arial" pitchFamily="34" charset="0"/>
                <a:ea typeface="Arial" pitchFamily="34" charset="-122"/>
                <a:cs typeface="Arial" pitchFamily="34" charset="-120"/>
              </a:rPr>
              <a:t>kernels before any timing</a:t>
            </a:r>
            <a:endParaRPr lang="en-US" sz="950" dirty="0"/>
          </a:p>
        </p:txBody>
      </p:sp>
      <p:sp>
        <p:nvSpPr>
          <p:cNvPr id="30" name="Text 28"/>
          <p:cNvSpPr/>
          <p:nvPr/>
        </p:nvSpPr>
        <p:spPr>
          <a:xfrm>
            <a:off x="3803904" y="3063240"/>
            <a:ext cx="548640" cy="457200"/>
          </a:xfrm>
          <a:prstGeom prst="rect">
            <a:avLst/>
          </a:prstGeom>
          <a:noFill/>
          <a:ln/>
        </p:spPr>
        <p:txBody>
          <a:bodyPr wrap="square" lIns="0" tIns="0" rIns="0" bIns="0" rtlCol="0" anchor="t"/>
          <a:lstStyle/>
          <a:p>
            <a:pPr indent="0" marL="0">
              <a:buNone/>
            </a:pPr>
            <a:r>
              <a:rPr lang="en-US" sz="2200" dirty="0">
                <a:solidFill>
                  <a:srgbClr val="D9482B"/>
                </a:solidFill>
                <a:latin typeface="Courier New" pitchFamily="34" charset="0"/>
                <a:ea typeface="Courier New" pitchFamily="34" charset="-122"/>
                <a:cs typeface="Courier New" pitchFamily="34" charset="-120"/>
              </a:rPr>
              <a:t>03</a:t>
            </a:r>
            <a:endParaRPr lang="en-US" sz="2200" dirty="0"/>
          </a:p>
        </p:txBody>
      </p:sp>
      <p:sp>
        <p:nvSpPr>
          <p:cNvPr id="31" name="Shape 29"/>
          <p:cNvSpPr/>
          <p:nvPr/>
        </p:nvSpPr>
        <p:spPr>
          <a:xfrm>
            <a:off x="3803904" y="3611880"/>
            <a:ext cx="1463040" cy="0"/>
          </a:xfrm>
          <a:prstGeom prst="line">
            <a:avLst/>
          </a:prstGeom>
          <a:noFill/>
          <a:ln w="9525">
            <a:solidFill>
              <a:srgbClr val="1C1B19"/>
            </a:solidFill>
            <a:prstDash val="solid"/>
          </a:ln>
        </p:spPr>
      </p:sp>
      <p:sp>
        <p:nvSpPr>
          <p:cNvPr id="32" name="Text 30"/>
          <p:cNvSpPr/>
          <p:nvPr/>
        </p:nvSpPr>
        <p:spPr>
          <a:xfrm>
            <a:off x="3803904" y="3703320"/>
            <a:ext cx="1463040" cy="274320"/>
          </a:xfrm>
          <a:prstGeom prst="rect">
            <a:avLst/>
          </a:prstGeom>
          <a:noFill/>
          <a:ln/>
        </p:spPr>
        <p:txBody>
          <a:bodyPr wrap="square" lIns="0" tIns="0" rIns="0" bIns="0" rtlCol="0" anchor="t"/>
          <a:lstStyle/>
          <a:p>
            <a:pPr indent="0" marL="0">
              <a:buNone/>
            </a:pPr>
            <a:r>
              <a:rPr lang="en-US" sz="1300" dirty="0">
                <a:solidFill>
                  <a:srgbClr val="1C1B19"/>
                </a:solidFill>
                <a:latin typeface="Georgia" pitchFamily="34" charset="0"/>
                <a:ea typeface="Georgia" pitchFamily="34" charset="-122"/>
                <a:cs typeface="Georgia" pitchFamily="34" charset="-120"/>
              </a:rPr>
              <a:t>Time</a:t>
            </a:r>
            <a:endParaRPr lang="en-US" sz="1300" dirty="0"/>
          </a:p>
        </p:txBody>
      </p:sp>
      <p:sp>
        <p:nvSpPr>
          <p:cNvPr id="33" name="Text 31"/>
          <p:cNvSpPr/>
          <p:nvPr/>
        </p:nvSpPr>
        <p:spPr>
          <a:xfrm>
            <a:off x="3803904" y="4005072"/>
            <a:ext cx="1463040" cy="548640"/>
          </a:xfrm>
          <a:prstGeom prst="rect">
            <a:avLst/>
          </a:prstGeom>
          <a:noFill/>
          <a:ln/>
        </p:spPr>
        <p:txBody>
          <a:bodyPr wrap="square" lIns="0" tIns="0" rIns="0" bIns="0" rtlCol="0" anchor="t"/>
          <a:lstStyle/>
          <a:p>
            <a:pPr indent="0" marL="0">
              <a:buNone/>
            </a:pPr>
            <a:r>
              <a:rPr lang="en-US" sz="950" dirty="0">
                <a:solidFill>
                  <a:srgbClr val="6B665C"/>
                </a:solidFill>
                <a:latin typeface="Arial" pitchFamily="34" charset="0"/>
                <a:ea typeface="Arial" pitchFamily="34" charset="-122"/>
                <a:cs typeface="Arial" pitchFamily="34" charset="-120"/>
              </a:rPr>
              <a:t>repeated CUDA-event runs</a:t>
            </a:r>
            <a:endParaRPr lang="en-US" sz="950" dirty="0"/>
          </a:p>
        </p:txBody>
      </p:sp>
      <p:sp>
        <p:nvSpPr>
          <p:cNvPr id="34" name="Text 32"/>
          <p:cNvSpPr/>
          <p:nvPr/>
        </p:nvSpPr>
        <p:spPr>
          <a:xfrm>
            <a:off x="5477256" y="3063240"/>
            <a:ext cx="548640" cy="457200"/>
          </a:xfrm>
          <a:prstGeom prst="rect">
            <a:avLst/>
          </a:prstGeom>
          <a:noFill/>
          <a:ln/>
        </p:spPr>
        <p:txBody>
          <a:bodyPr wrap="square" lIns="0" tIns="0" rIns="0" bIns="0" rtlCol="0" anchor="t"/>
          <a:lstStyle/>
          <a:p>
            <a:pPr indent="0" marL="0">
              <a:buNone/>
            </a:pPr>
            <a:r>
              <a:rPr lang="en-US" sz="2200" dirty="0">
                <a:solidFill>
                  <a:srgbClr val="D9482B"/>
                </a:solidFill>
                <a:latin typeface="Courier New" pitchFamily="34" charset="0"/>
                <a:ea typeface="Courier New" pitchFamily="34" charset="-122"/>
                <a:cs typeface="Courier New" pitchFamily="34" charset="-120"/>
              </a:rPr>
              <a:t>04</a:t>
            </a:r>
            <a:endParaRPr lang="en-US" sz="2200" dirty="0"/>
          </a:p>
        </p:txBody>
      </p:sp>
      <p:sp>
        <p:nvSpPr>
          <p:cNvPr id="35" name="Shape 33"/>
          <p:cNvSpPr/>
          <p:nvPr/>
        </p:nvSpPr>
        <p:spPr>
          <a:xfrm>
            <a:off x="5477256" y="3611880"/>
            <a:ext cx="1463040" cy="0"/>
          </a:xfrm>
          <a:prstGeom prst="line">
            <a:avLst/>
          </a:prstGeom>
          <a:noFill/>
          <a:ln w="9525">
            <a:solidFill>
              <a:srgbClr val="1C1B19"/>
            </a:solidFill>
            <a:prstDash val="solid"/>
          </a:ln>
        </p:spPr>
      </p:sp>
      <p:sp>
        <p:nvSpPr>
          <p:cNvPr id="36" name="Text 34"/>
          <p:cNvSpPr/>
          <p:nvPr/>
        </p:nvSpPr>
        <p:spPr>
          <a:xfrm>
            <a:off x="5477256" y="3703320"/>
            <a:ext cx="1463040" cy="274320"/>
          </a:xfrm>
          <a:prstGeom prst="rect">
            <a:avLst/>
          </a:prstGeom>
          <a:noFill/>
          <a:ln/>
        </p:spPr>
        <p:txBody>
          <a:bodyPr wrap="square" lIns="0" tIns="0" rIns="0" bIns="0" rtlCol="0" anchor="t"/>
          <a:lstStyle/>
          <a:p>
            <a:pPr indent="0" marL="0">
              <a:buNone/>
            </a:pPr>
            <a:r>
              <a:rPr lang="en-US" sz="1300" dirty="0">
                <a:solidFill>
                  <a:srgbClr val="1C1B19"/>
                </a:solidFill>
                <a:latin typeface="Georgia" pitchFamily="34" charset="0"/>
                <a:ea typeface="Georgia" pitchFamily="34" charset="-122"/>
                <a:cs typeface="Georgia" pitchFamily="34" charset="-120"/>
              </a:rPr>
              <a:t>Measure</a:t>
            </a:r>
            <a:endParaRPr lang="en-US" sz="1300" dirty="0"/>
          </a:p>
        </p:txBody>
      </p:sp>
      <p:sp>
        <p:nvSpPr>
          <p:cNvPr id="37" name="Text 35"/>
          <p:cNvSpPr/>
          <p:nvPr/>
        </p:nvSpPr>
        <p:spPr>
          <a:xfrm>
            <a:off x="5477256" y="4005072"/>
            <a:ext cx="1463040" cy="548640"/>
          </a:xfrm>
          <a:prstGeom prst="rect">
            <a:avLst/>
          </a:prstGeom>
          <a:noFill/>
          <a:ln/>
        </p:spPr>
        <p:txBody>
          <a:bodyPr wrap="square" lIns="0" tIns="0" rIns="0" bIns="0" rtlCol="0" anchor="t"/>
          <a:lstStyle/>
          <a:p>
            <a:pPr indent="0" marL="0">
              <a:buNone/>
            </a:pPr>
            <a:r>
              <a:rPr lang="en-US" sz="950" dirty="0">
                <a:solidFill>
                  <a:srgbClr val="6B665C"/>
                </a:solidFill>
                <a:latin typeface="Arial" pitchFamily="34" charset="0"/>
                <a:ea typeface="Arial" pitchFamily="34" charset="-122"/>
                <a:cs typeface="Arial" pitchFamily="34" charset="-120"/>
              </a:rPr>
              <a:t>peak memory, energy (NVML)</a:t>
            </a:r>
            <a:endParaRPr lang="en-US" sz="950" dirty="0"/>
          </a:p>
        </p:txBody>
      </p:sp>
      <p:sp>
        <p:nvSpPr>
          <p:cNvPr id="38" name="Text 36"/>
          <p:cNvSpPr/>
          <p:nvPr/>
        </p:nvSpPr>
        <p:spPr>
          <a:xfrm>
            <a:off x="7150608" y="3063240"/>
            <a:ext cx="548640" cy="457200"/>
          </a:xfrm>
          <a:prstGeom prst="rect">
            <a:avLst/>
          </a:prstGeom>
          <a:noFill/>
          <a:ln/>
        </p:spPr>
        <p:txBody>
          <a:bodyPr wrap="square" lIns="0" tIns="0" rIns="0" bIns="0" rtlCol="0" anchor="t"/>
          <a:lstStyle/>
          <a:p>
            <a:pPr indent="0" marL="0">
              <a:buNone/>
            </a:pPr>
            <a:r>
              <a:rPr lang="en-US" sz="2200" dirty="0">
                <a:solidFill>
                  <a:srgbClr val="D9482B"/>
                </a:solidFill>
                <a:latin typeface="Courier New" pitchFamily="34" charset="0"/>
                <a:ea typeface="Courier New" pitchFamily="34" charset="-122"/>
                <a:cs typeface="Courier New" pitchFamily="34" charset="-120"/>
              </a:rPr>
              <a:t>05</a:t>
            </a:r>
            <a:endParaRPr lang="en-US" sz="2200" dirty="0"/>
          </a:p>
        </p:txBody>
      </p:sp>
      <p:sp>
        <p:nvSpPr>
          <p:cNvPr id="39" name="Shape 37"/>
          <p:cNvSpPr/>
          <p:nvPr/>
        </p:nvSpPr>
        <p:spPr>
          <a:xfrm>
            <a:off x="7150608" y="3611880"/>
            <a:ext cx="1463040" cy="0"/>
          </a:xfrm>
          <a:prstGeom prst="line">
            <a:avLst/>
          </a:prstGeom>
          <a:noFill/>
          <a:ln w="9525">
            <a:solidFill>
              <a:srgbClr val="1C1B19"/>
            </a:solidFill>
            <a:prstDash val="solid"/>
          </a:ln>
        </p:spPr>
      </p:sp>
      <p:sp>
        <p:nvSpPr>
          <p:cNvPr id="40" name="Text 38"/>
          <p:cNvSpPr/>
          <p:nvPr/>
        </p:nvSpPr>
        <p:spPr>
          <a:xfrm>
            <a:off x="7150608" y="3703320"/>
            <a:ext cx="1463040" cy="274320"/>
          </a:xfrm>
          <a:prstGeom prst="rect">
            <a:avLst/>
          </a:prstGeom>
          <a:noFill/>
          <a:ln/>
        </p:spPr>
        <p:txBody>
          <a:bodyPr wrap="square" lIns="0" tIns="0" rIns="0" bIns="0" rtlCol="0" anchor="t"/>
          <a:lstStyle/>
          <a:p>
            <a:pPr indent="0" marL="0">
              <a:buNone/>
            </a:pPr>
            <a:r>
              <a:rPr lang="en-US" sz="1300" dirty="0">
                <a:solidFill>
                  <a:srgbClr val="1C1B19"/>
                </a:solidFill>
                <a:latin typeface="Georgia" pitchFamily="34" charset="0"/>
                <a:ea typeface="Georgia" pitchFamily="34" charset="-122"/>
                <a:cs typeface="Georgia" pitchFamily="34" charset="-120"/>
              </a:rPr>
              <a:t>Report</a:t>
            </a:r>
            <a:endParaRPr lang="en-US" sz="1300" dirty="0"/>
          </a:p>
        </p:txBody>
      </p:sp>
      <p:sp>
        <p:nvSpPr>
          <p:cNvPr id="41" name="Text 39"/>
          <p:cNvSpPr/>
          <p:nvPr/>
        </p:nvSpPr>
        <p:spPr>
          <a:xfrm>
            <a:off x="7150608" y="4005072"/>
            <a:ext cx="1463040" cy="548640"/>
          </a:xfrm>
          <a:prstGeom prst="rect">
            <a:avLst/>
          </a:prstGeom>
          <a:noFill/>
          <a:ln/>
        </p:spPr>
        <p:txBody>
          <a:bodyPr wrap="square" lIns="0" tIns="0" rIns="0" bIns="0" rtlCol="0" anchor="t"/>
          <a:lstStyle/>
          <a:p>
            <a:pPr indent="0" marL="0">
              <a:buNone/>
            </a:pPr>
            <a:r>
              <a:rPr lang="en-US" sz="950" dirty="0">
                <a:solidFill>
                  <a:srgbClr val="6B665C"/>
                </a:solidFill>
                <a:latin typeface="Arial" pitchFamily="34" charset="0"/>
                <a:ea typeface="Arial" pitchFamily="34" charset="-122"/>
                <a:cs typeface="Arial" pitchFamily="34" charset="-120"/>
              </a:rPr>
              <a:t>median + interquartile range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457200" y="292608"/>
            <a:ext cx="5486400" cy="201168"/>
          </a:xfrm>
          <a:prstGeom prst="rect">
            <a:avLst/>
          </a:prstGeom>
          <a:noFill/>
          <a:ln/>
        </p:spPr>
        <p:txBody>
          <a:bodyPr wrap="square" lIns="0" tIns="0" rIns="0" bIns="0" rtlCol="0" anchor="t"/>
          <a:lstStyle/>
          <a:p>
            <a:pPr indent="0" marL="0">
              <a:buNone/>
            </a:pPr>
            <a:r>
              <a:rPr lang="en-US" sz="900" dirty="0">
                <a:solidFill>
                  <a:srgbClr val="D9482B"/>
                </a:solidFill>
                <a:latin typeface="Courier New" pitchFamily="34" charset="0"/>
                <a:ea typeface="Courier New" pitchFamily="34" charset="-122"/>
                <a:cs typeface="Courier New" pitchFamily="34" charset="-120"/>
              </a:rPr>
              <a:t>06  /  QUALITY EVALUATION</a:t>
            </a:r>
            <a:endParaRPr lang="en-US" sz="900" dirty="0"/>
          </a:p>
        </p:txBody>
      </p:sp>
      <p:sp>
        <p:nvSpPr>
          <p:cNvPr id="3" name="Text 1"/>
          <p:cNvSpPr/>
          <p:nvPr/>
        </p:nvSpPr>
        <p:spPr>
          <a:xfrm>
            <a:off x="457200" y="530352"/>
            <a:ext cx="8229600" cy="566928"/>
          </a:xfrm>
          <a:prstGeom prst="rect">
            <a:avLst/>
          </a:prstGeom>
          <a:noFill/>
          <a:ln/>
        </p:spPr>
        <p:txBody>
          <a:bodyPr wrap="square" lIns="0" tIns="0" rIns="0" bIns="0" rtlCol="0" anchor="ctr"/>
          <a:lstStyle/>
          <a:p>
            <a:pPr indent="0" marL="0">
              <a:buNone/>
            </a:pPr>
            <a:r>
              <a:rPr lang="en-US" sz="2500" dirty="0">
                <a:solidFill>
                  <a:srgbClr val="1C1B19"/>
                </a:solidFill>
                <a:latin typeface="Georgia" pitchFamily="34" charset="0"/>
                <a:ea typeface="Georgia" pitchFamily="34" charset="-122"/>
                <a:cs typeface="Georgia" pitchFamily="34" charset="-120"/>
              </a:rPr>
              <a:t>Spend images only where the frontier is</a:t>
            </a:r>
            <a:endParaRPr lang="en-US" sz="2500" dirty="0"/>
          </a:p>
        </p:txBody>
      </p:sp>
      <p:sp>
        <p:nvSpPr>
          <p:cNvPr id="4" name="Shape 2"/>
          <p:cNvSpPr/>
          <p:nvPr/>
        </p:nvSpPr>
        <p:spPr>
          <a:xfrm>
            <a:off x="457200" y="1207008"/>
            <a:ext cx="8229600" cy="0"/>
          </a:xfrm>
          <a:prstGeom prst="line">
            <a:avLst/>
          </a:prstGeom>
          <a:noFill/>
          <a:ln w="9525">
            <a:solidFill>
              <a:srgbClr val="1C1B19"/>
            </a:solidFill>
            <a:prstDash val="solid"/>
          </a:ln>
        </p:spPr>
      </p:sp>
      <p:sp>
        <p:nvSpPr>
          <p:cNvPr id="5" name="Shape 3"/>
          <p:cNvSpPr/>
          <p:nvPr/>
        </p:nvSpPr>
        <p:spPr>
          <a:xfrm>
            <a:off x="457200" y="4736592"/>
            <a:ext cx="8229600" cy="0"/>
          </a:xfrm>
          <a:prstGeom prst="line">
            <a:avLst/>
          </a:prstGeom>
          <a:noFill/>
          <a:ln w="6350">
            <a:solidFill>
              <a:srgbClr val="C9C2B4"/>
            </a:solidFill>
            <a:prstDash val="solid"/>
          </a:ln>
        </p:spPr>
      </p:sp>
      <p:sp>
        <p:nvSpPr>
          <p:cNvPr id="6" name="Text 4"/>
          <p:cNvSpPr/>
          <p:nvPr/>
        </p:nvSpPr>
        <p:spPr>
          <a:xfrm>
            <a:off x="457200" y="4791456"/>
            <a:ext cx="5486400" cy="182880"/>
          </a:xfrm>
          <a:prstGeom prst="rect">
            <a:avLst/>
          </a:prstGeom>
          <a:noFill/>
          <a:ln/>
        </p:spPr>
        <p:txBody>
          <a:bodyPr wrap="square" lIns="0" tIns="0" rIns="0" bIns="0" rtlCol="0" anchor="t"/>
          <a:lstStyle/>
          <a:p>
            <a:pPr indent="0" marL="0">
              <a:buNone/>
            </a:pPr>
            <a:r>
              <a:rPr lang="en-US" sz="750" dirty="0">
                <a:solidFill>
                  <a:srgbClr val="6B665C"/>
                </a:solidFill>
                <a:latin typeface="Courier New" pitchFamily="34" charset="0"/>
                <a:ea typeface="Courier New" pitchFamily="34" charset="-122"/>
                <a:cs typeface="Courier New" pitchFamily="34" charset="-120"/>
              </a:rPr>
              <a:t>ZAKYNTHINOS — ADVANCED TOPICS IN AI — PROPOSAL</a:t>
            </a:r>
            <a:endParaRPr lang="en-US" sz="750" dirty="0"/>
          </a:p>
        </p:txBody>
      </p:sp>
      <p:sp>
        <p:nvSpPr>
          <p:cNvPr id="7" name="Text 5"/>
          <p:cNvSpPr/>
          <p:nvPr/>
        </p:nvSpPr>
        <p:spPr>
          <a:xfrm>
            <a:off x="7772400" y="4791456"/>
            <a:ext cx="914400" cy="182880"/>
          </a:xfrm>
          <a:prstGeom prst="rect">
            <a:avLst/>
          </a:prstGeom>
          <a:noFill/>
          <a:ln/>
        </p:spPr>
        <p:txBody>
          <a:bodyPr wrap="square" lIns="0" tIns="0" rIns="0" bIns="0" rtlCol="0" anchor="t"/>
          <a:lstStyle/>
          <a:p>
            <a:pPr algn="r" indent="0" marL="0">
              <a:buNone/>
            </a:pPr>
            <a:r>
              <a:rPr lang="en-US" sz="750" dirty="0">
                <a:solidFill>
                  <a:srgbClr val="6B665C"/>
                </a:solidFill>
                <a:latin typeface="Courier New" pitchFamily="34" charset="0"/>
                <a:ea typeface="Courier New" pitchFamily="34" charset="-122"/>
                <a:cs typeface="Courier New" pitchFamily="34" charset="-120"/>
              </a:rPr>
              <a:t>06 / 10</a:t>
            </a:r>
            <a:endParaRPr lang="en-US" sz="750" dirty="0"/>
          </a:p>
        </p:txBody>
      </p:sp>
      <p:sp>
        <p:nvSpPr>
          <p:cNvPr id="8" name="Shape 6"/>
          <p:cNvSpPr/>
          <p:nvPr/>
        </p:nvSpPr>
        <p:spPr>
          <a:xfrm>
            <a:off x="457200" y="1463040"/>
            <a:ext cx="8229600" cy="685800"/>
          </a:xfrm>
          <a:prstGeom prst="rect">
            <a:avLst/>
          </a:prstGeom>
          <a:solidFill>
            <a:srgbClr val="1C1B19"/>
          </a:solidFill>
          <a:ln w="12700">
            <a:solidFill>
              <a:srgbClr val="1C1B19"/>
            </a:solidFill>
            <a:prstDash val="solid"/>
          </a:ln>
        </p:spPr>
      </p:sp>
      <p:sp>
        <p:nvSpPr>
          <p:cNvPr id="9" name="Text 7"/>
          <p:cNvSpPr/>
          <p:nvPr/>
        </p:nvSpPr>
        <p:spPr>
          <a:xfrm>
            <a:off x="640080" y="1554480"/>
            <a:ext cx="7955280" cy="201168"/>
          </a:xfrm>
          <a:prstGeom prst="rect">
            <a:avLst/>
          </a:prstGeom>
          <a:noFill/>
          <a:ln/>
        </p:spPr>
        <p:txBody>
          <a:bodyPr wrap="square" lIns="0" tIns="0" rIns="0" bIns="0" rtlCol="0" anchor="t"/>
          <a:lstStyle/>
          <a:p>
            <a:pPr indent="0" marL="0">
              <a:buNone/>
            </a:pPr>
            <a:r>
              <a:rPr lang="en-US" sz="900" b="1" dirty="0">
                <a:solidFill>
                  <a:srgbClr val="F3EFE6"/>
                </a:solidFill>
                <a:latin typeface="Courier New" pitchFamily="34" charset="0"/>
                <a:ea typeface="Courier New" pitchFamily="34" charset="-122"/>
                <a:cs typeface="Courier New" pitchFamily="34" charset="-120"/>
              </a:rPr>
              <a:t>STAGE 1 — PILOT</a:t>
            </a:r>
            <a:endParaRPr lang="en-US" sz="900" dirty="0"/>
          </a:p>
        </p:txBody>
      </p:sp>
      <p:sp>
        <p:nvSpPr>
          <p:cNvPr id="10" name="Text 8"/>
          <p:cNvSpPr/>
          <p:nvPr/>
        </p:nvSpPr>
        <p:spPr>
          <a:xfrm>
            <a:off x="640080" y="1801368"/>
            <a:ext cx="7955280" cy="301752"/>
          </a:xfrm>
          <a:prstGeom prst="rect">
            <a:avLst/>
          </a:prstGeom>
          <a:noFill/>
          <a:ln/>
        </p:spPr>
        <p:txBody>
          <a:bodyPr wrap="square" lIns="0" tIns="0" rIns="0" bIns="0" rtlCol="0" anchor="t"/>
          <a:lstStyle/>
          <a:p>
            <a:pPr indent="0" marL="0">
              <a:buNone/>
            </a:pPr>
            <a:r>
              <a:rPr lang="en-US" sz="1050" dirty="0">
                <a:solidFill>
                  <a:srgbClr val="F3EFE6"/>
                </a:solidFill>
                <a:latin typeface="Arial" pitchFamily="34" charset="0"/>
                <a:ea typeface="Arial" pitchFamily="34" charset="-122"/>
                <a:cs typeface="Arial" pitchFamily="34" charset="-120"/>
              </a:rPr>
              <a:t>All 24 configurations × 2,000 images · clean-fid, fixed ImageNet reference statistics</a:t>
            </a:r>
            <a:endParaRPr lang="en-US" sz="1050" dirty="0"/>
          </a:p>
        </p:txBody>
      </p:sp>
      <p:sp>
        <p:nvSpPr>
          <p:cNvPr id="11" name="Shape 9"/>
          <p:cNvSpPr/>
          <p:nvPr/>
        </p:nvSpPr>
        <p:spPr>
          <a:xfrm>
            <a:off x="457200" y="2331720"/>
            <a:ext cx="5669280" cy="685800"/>
          </a:xfrm>
          <a:prstGeom prst="rect">
            <a:avLst/>
          </a:prstGeom>
          <a:solidFill>
            <a:srgbClr val="2F5D62"/>
          </a:solidFill>
          <a:ln w="12700">
            <a:solidFill>
              <a:srgbClr val="2F5D62"/>
            </a:solidFill>
            <a:prstDash val="solid"/>
          </a:ln>
        </p:spPr>
      </p:sp>
      <p:sp>
        <p:nvSpPr>
          <p:cNvPr id="12" name="Text 10"/>
          <p:cNvSpPr/>
          <p:nvPr/>
        </p:nvSpPr>
        <p:spPr>
          <a:xfrm>
            <a:off x="640080" y="2423160"/>
            <a:ext cx="5394960" cy="201168"/>
          </a:xfrm>
          <a:prstGeom prst="rect">
            <a:avLst/>
          </a:prstGeom>
          <a:noFill/>
          <a:ln/>
        </p:spPr>
        <p:txBody>
          <a:bodyPr wrap="square" lIns="0" tIns="0" rIns="0" bIns="0" rtlCol="0" anchor="t"/>
          <a:lstStyle/>
          <a:p>
            <a:pPr indent="0" marL="0">
              <a:buNone/>
            </a:pPr>
            <a:r>
              <a:rPr lang="en-US" sz="900" b="1" dirty="0">
                <a:solidFill>
                  <a:srgbClr val="F3EFE6"/>
                </a:solidFill>
                <a:latin typeface="Courier New" pitchFamily="34" charset="0"/>
                <a:ea typeface="Courier New" pitchFamily="34" charset="-122"/>
                <a:cs typeface="Courier New" pitchFamily="34" charset="-120"/>
              </a:rPr>
              <a:t>STAGE 2 — PROMOTE</a:t>
            </a:r>
            <a:endParaRPr lang="en-US" sz="900" dirty="0"/>
          </a:p>
        </p:txBody>
      </p:sp>
      <p:sp>
        <p:nvSpPr>
          <p:cNvPr id="13" name="Text 11"/>
          <p:cNvSpPr/>
          <p:nvPr/>
        </p:nvSpPr>
        <p:spPr>
          <a:xfrm>
            <a:off x="640080" y="2670048"/>
            <a:ext cx="5394960" cy="301752"/>
          </a:xfrm>
          <a:prstGeom prst="rect">
            <a:avLst/>
          </a:prstGeom>
          <a:noFill/>
          <a:ln/>
        </p:spPr>
        <p:txBody>
          <a:bodyPr wrap="square" lIns="0" tIns="0" rIns="0" bIns="0" rtlCol="0" anchor="t"/>
          <a:lstStyle/>
          <a:p>
            <a:pPr indent="0" marL="0">
              <a:buNone/>
            </a:pPr>
            <a:r>
              <a:rPr lang="en-US" sz="1050" dirty="0">
                <a:solidFill>
                  <a:srgbClr val="F3EFE6"/>
                </a:solidFill>
                <a:latin typeface="Arial" pitchFamily="34" charset="0"/>
                <a:ea typeface="Arial" pitchFamily="34" charset="-122"/>
                <a:cs typeface="Arial" pitchFamily="34" charset="-120"/>
              </a:rPr>
              <a:t>Keep configurations on or near the preliminary Pareto frontier</a:t>
            </a:r>
            <a:endParaRPr lang="en-US" sz="1050" dirty="0"/>
          </a:p>
        </p:txBody>
      </p:sp>
      <p:sp>
        <p:nvSpPr>
          <p:cNvPr id="14" name="Shape 12"/>
          <p:cNvSpPr/>
          <p:nvPr/>
        </p:nvSpPr>
        <p:spPr>
          <a:xfrm>
            <a:off x="457200" y="3200400"/>
            <a:ext cx="3291840" cy="685800"/>
          </a:xfrm>
          <a:prstGeom prst="rect">
            <a:avLst/>
          </a:prstGeom>
          <a:solidFill>
            <a:srgbClr val="D9482B"/>
          </a:solidFill>
          <a:ln w="12700">
            <a:solidFill>
              <a:srgbClr val="D9482B"/>
            </a:solidFill>
            <a:prstDash val="solid"/>
          </a:ln>
        </p:spPr>
      </p:sp>
      <p:sp>
        <p:nvSpPr>
          <p:cNvPr id="15" name="Text 13"/>
          <p:cNvSpPr/>
          <p:nvPr/>
        </p:nvSpPr>
        <p:spPr>
          <a:xfrm>
            <a:off x="640080" y="3291840"/>
            <a:ext cx="3017520" cy="201168"/>
          </a:xfrm>
          <a:prstGeom prst="rect">
            <a:avLst/>
          </a:prstGeom>
          <a:noFill/>
          <a:ln/>
        </p:spPr>
        <p:txBody>
          <a:bodyPr wrap="square" lIns="0" tIns="0" rIns="0" bIns="0" rtlCol="0" anchor="t"/>
          <a:lstStyle/>
          <a:p>
            <a:pPr indent="0" marL="0">
              <a:buNone/>
            </a:pPr>
            <a:r>
              <a:rPr lang="en-US" sz="900" b="1" dirty="0">
                <a:solidFill>
                  <a:srgbClr val="F3EFE6"/>
                </a:solidFill>
                <a:latin typeface="Courier New" pitchFamily="34" charset="0"/>
                <a:ea typeface="Courier New" pitchFamily="34" charset="-122"/>
                <a:cs typeface="Courier New" pitchFamily="34" charset="-120"/>
              </a:rPr>
              <a:t>STAGE 3 — CONFIRM</a:t>
            </a:r>
            <a:endParaRPr lang="en-US" sz="900" dirty="0"/>
          </a:p>
        </p:txBody>
      </p:sp>
      <p:sp>
        <p:nvSpPr>
          <p:cNvPr id="16" name="Text 14"/>
          <p:cNvSpPr/>
          <p:nvPr/>
        </p:nvSpPr>
        <p:spPr>
          <a:xfrm>
            <a:off x="640080" y="3538728"/>
            <a:ext cx="3017520" cy="301752"/>
          </a:xfrm>
          <a:prstGeom prst="rect">
            <a:avLst/>
          </a:prstGeom>
          <a:noFill/>
          <a:ln/>
        </p:spPr>
        <p:txBody>
          <a:bodyPr wrap="square" lIns="0" tIns="0" rIns="0" bIns="0" rtlCol="0" anchor="t"/>
          <a:lstStyle/>
          <a:p>
            <a:pPr indent="0" marL="0">
              <a:buNone/>
            </a:pPr>
            <a:r>
              <a:rPr lang="en-US" sz="1050" dirty="0">
                <a:solidFill>
                  <a:srgbClr val="F3EFE6"/>
                </a:solidFill>
                <a:latin typeface="Arial" pitchFamily="34" charset="0"/>
                <a:ea typeface="Arial" pitchFamily="34" charset="-122"/>
                <a:cs typeface="Arial" pitchFamily="34" charset="-120"/>
              </a:rPr>
              <a:t>10,000 images × 3 seeds · FID + precision/recall</a:t>
            </a:r>
            <a:endParaRPr lang="en-US" sz="1050" dirty="0"/>
          </a:p>
        </p:txBody>
      </p:sp>
      <p:sp>
        <p:nvSpPr>
          <p:cNvPr id="17" name="Shape 15"/>
          <p:cNvSpPr/>
          <p:nvPr/>
        </p:nvSpPr>
        <p:spPr>
          <a:xfrm>
            <a:off x="457200" y="4160520"/>
            <a:ext cx="8229600" cy="0"/>
          </a:xfrm>
          <a:prstGeom prst="line">
            <a:avLst/>
          </a:prstGeom>
          <a:noFill/>
          <a:ln w="6350">
            <a:solidFill>
              <a:srgbClr val="C9C2B4"/>
            </a:solidFill>
            <a:prstDash val="solid"/>
          </a:ln>
        </p:spPr>
      </p:sp>
      <p:sp>
        <p:nvSpPr>
          <p:cNvPr id="18" name="Text 16"/>
          <p:cNvSpPr/>
          <p:nvPr/>
        </p:nvSpPr>
        <p:spPr>
          <a:xfrm>
            <a:off x="457200" y="4224528"/>
            <a:ext cx="8229600" cy="457200"/>
          </a:xfrm>
          <a:prstGeom prst="rect">
            <a:avLst/>
          </a:prstGeom>
          <a:noFill/>
          <a:ln/>
        </p:spPr>
        <p:txBody>
          <a:bodyPr wrap="square" lIns="0" tIns="0" rIns="0" bIns="0" rtlCol="0" anchor="t"/>
          <a:lstStyle/>
          <a:p>
            <a:pPr indent="0" marL="0">
              <a:buNone/>
            </a:pPr>
            <a:r>
              <a:rPr lang="en-US" sz="1050" b="1" dirty="0">
                <a:solidFill>
                  <a:srgbClr val="1C1B19"/>
                </a:solidFill>
                <a:latin typeface="Arial" pitchFamily="34" charset="0"/>
                <a:ea typeface="Arial" pitchFamily="34" charset="-122"/>
                <a:cs typeface="Arial" pitchFamily="34" charset="-120"/>
              </a:rPr>
              <a:t>Why images are generated once, not per GPU:  </a:t>
            </a:r>
            <a:pPr indent="0" marL="0">
              <a:buNone/>
            </a:pPr>
            <a:r>
              <a:rPr lang="en-US" sz="1050" dirty="0">
                <a:solidFill>
                  <a:srgbClr val="6B665C"/>
                </a:solidFill>
                <a:latin typeface="Arial" pitchFamily="34" charset="0"/>
                <a:ea typeface="Arial" pitchFamily="34" charset="-122"/>
                <a:cs typeface="Arial" pitchFamily="34" charset="-120"/>
              </a:rPr>
              <a:t>same weights and seeds give the same images up to numerical noise — and selected outputs are re-generated on every device to verify exactly that.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457200" y="292608"/>
            <a:ext cx="5486400" cy="201168"/>
          </a:xfrm>
          <a:prstGeom prst="rect">
            <a:avLst/>
          </a:prstGeom>
          <a:noFill/>
          <a:ln/>
        </p:spPr>
        <p:txBody>
          <a:bodyPr wrap="square" lIns="0" tIns="0" rIns="0" bIns="0" rtlCol="0" anchor="t"/>
          <a:lstStyle/>
          <a:p>
            <a:pPr indent="0" marL="0">
              <a:buNone/>
            </a:pPr>
            <a:r>
              <a:rPr lang="en-US" sz="900" dirty="0">
                <a:solidFill>
                  <a:srgbClr val="D9482B"/>
                </a:solidFill>
                <a:latin typeface="Courier New" pitchFamily="34" charset="0"/>
                <a:ea typeface="Courier New" pitchFamily="34" charset="-122"/>
                <a:cs typeface="Courier New" pitchFamily="34" charset="-120"/>
              </a:rPr>
              <a:t>07  /  ANALYSIS</a:t>
            </a:r>
            <a:endParaRPr lang="en-US" sz="900" dirty="0"/>
          </a:p>
        </p:txBody>
      </p:sp>
      <p:sp>
        <p:nvSpPr>
          <p:cNvPr id="3" name="Text 1"/>
          <p:cNvSpPr/>
          <p:nvPr/>
        </p:nvSpPr>
        <p:spPr>
          <a:xfrm>
            <a:off x="457200" y="530352"/>
            <a:ext cx="8229600" cy="566928"/>
          </a:xfrm>
          <a:prstGeom prst="rect">
            <a:avLst/>
          </a:prstGeom>
          <a:noFill/>
          <a:ln/>
        </p:spPr>
        <p:txBody>
          <a:bodyPr wrap="square" lIns="0" tIns="0" rIns="0" bIns="0" rtlCol="0" anchor="ctr"/>
          <a:lstStyle/>
          <a:p>
            <a:pPr indent="0" marL="0">
              <a:buNone/>
            </a:pPr>
            <a:r>
              <a:rPr lang="en-US" sz="2500" dirty="0">
                <a:solidFill>
                  <a:srgbClr val="1C1B19"/>
                </a:solidFill>
                <a:latin typeface="Georgia" pitchFamily="34" charset="0"/>
                <a:ea typeface="Georgia" pitchFamily="34" charset="-122"/>
                <a:cs typeface="Georgia" pitchFamily="34" charset="-120"/>
              </a:rPr>
              <a:t>What a hardware-dependent frontier looks like</a:t>
            </a:r>
            <a:endParaRPr lang="en-US" sz="2500" dirty="0"/>
          </a:p>
        </p:txBody>
      </p:sp>
      <p:sp>
        <p:nvSpPr>
          <p:cNvPr id="4" name="Shape 2"/>
          <p:cNvSpPr/>
          <p:nvPr/>
        </p:nvSpPr>
        <p:spPr>
          <a:xfrm>
            <a:off x="457200" y="1207008"/>
            <a:ext cx="8229600" cy="0"/>
          </a:xfrm>
          <a:prstGeom prst="line">
            <a:avLst/>
          </a:prstGeom>
          <a:noFill/>
          <a:ln w="9525">
            <a:solidFill>
              <a:srgbClr val="1C1B19"/>
            </a:solidFill>
            <a:prstDash val="solid"/>
          </a:ln>
        </p:spPr>
      </p:sp>
      <p:sp>
        <p:nvSpPr>
          <p:cNvPr id="5" name="Shape 3"/>
          <p:cNvSpPr/>
          <p:nvPr/>
        </p:nvSpPr>
        <p:spPr>
          <a:xfrm>
            <a:off x="457200" y="4736592"/>
            <a:ext cx="8229600" cy="0"/>
          </a:xfrm>
          <a:prstGeom prst="line">
            <a:avLst/>
          </a:prstGeom>
          <a:noFill/>
          <a:ln w="6350">
            <a:solidFill>
              <a:srgbClr val="C9C2B4"/>
            </a:solidFill>
            <a:prstDash val="solid"/>
          </a:ln>
        </p:spPr>
      </p:sp>
      <p:sp>
        <p:nvSpPr>
          <p:cNvPr id="6" name="Text 4"/>
          <p:cNvSpPr/>
          <p:nvPr/>
        </p:nvSpPr>
        <p:spPr>
          <a:xfrm>
            <a:off x="457200" y="4791456"/>
            <a:ext cx="5486400" cy="182880"/>
          </a:xfrm>
          <a:prstGeom prst="rect">
            <a:avLst/>
          </a:prstGeom>
          <a:noFill/>
          <a:ln/>
        </p:spPr>
        <p:txBody>
          <a:bodyPr wrap="square" lIns="0" tIns="0" rIns="0" bIns="0" rtlCol="0" anchor="t"/>
          <a:lstStyle/>
          <a:p>
            <a:pPr indent="0" marL="0">
              <a:buNone/>
            </a:pPr>
            <a:r>
              <a:rPr lang="en-US" sz="750" dirty="0">
                <a:solidFill>
                  <a:srgbClr val="6B665C"/>
                </a:solidFill>
                <a:latin typeface="Courier New" pitchFamily="34" charset="0"/>
                <a:ea typeface="Courier New" pitchFamily="34" charset="-122"/>
                <a:cs typeface="Courier New" pitchFamily="34" charset="-120"/>
              </a:rPr>
              <a:t>ZAKYNTHINOS — ADVANCED TOPICS IN AI — PROPOSAL</a:t>
            </a:r>
            <a:endParaRPr lang="en-US" sz="750" dirty="0"/>
          </a:p>
        </p:txBody>
      </p:sp>
      <p:sp>
        <p:nvSpPr>
          <p:cNvPr id="7" name="Text 5"/>
          <p:cNvSpPr/>
          <p:nvPr/>
        </p:nvSpPr>
        <p:spPr>
          <a:xfrm>
            <a:off x="7772400" y="4791456"/>
            <a:ext cx="914400" cy="182880"/>
          </a:xfrm>
          <a:prstGeom prst="rect">
            <a:avLst/>
          </a:prstGeom>
          <a:noFill/>
          <a:ln/>
        </p:spPr>
        <p:txBody>
          <a:bodyPr wrap="square" lIns="0" tIns="0" rIns="0" bIns="0" rtlCol="0" anchor="t"/>
          <a:lstStyle/>
          <a:p>
            <a:pPr algn="r" indent="0" marL="0">
              <a:buNone/>
            </a:pPr>
            <a:r>
              <a:rPr lang="en-US" sz="750" dirty="0">
                <a:solidFill>
                  <a:srgbClr val="6B665C"/>
                </a:solidFill>
                <a:latin typeface="Courier New" pitchFamily="34" charset="0"/>
                <a:ea typeface="Courier New" pitchFamily="34" charset="-122"/>
                <a:cs typeface="Courier New" pitchFamily="34" charset="-120"/>
              </a:rPr>
              <a:t>07 / 10</a:t>
            </a:r>
            <a:endParaRPr lang="en-US" sz="750" dirty="0"/>
          </a:p>
        </p:txBody>
      </p:sp>
      <p:sp>
        <p:nvSpPr>
          <p:cNvPr id="8" name="Shape 6"/>
          <p:cNvSpPr/>
          <p:nvPr/>
        </p:nvSpPr>
        <p:spPr>
          <a:xfrm>
            <a:off x="822960" y="1554480"/>
            <a:ext cx="0" cy="2651760"/>
          </a:xfrm>
          <a:prstGeom prst="line">
            <a:avLst/>
          </a:prstGeom>
          <a:noFill/>
          <a:ln w="9525">
            <a:solidFill>
              <a:srgbClr val="1C1B19"/>
            </a:solidFill>
            <a:prstDash val="solid"/>
          </a:ln>
        </p:spPr>
      </p:sp>
      <p:sp>
        <p:nvSpPr>
          <p:cNvPr id="9" name="Shape 7"/>
          <p:cNvSpPr/>
          <p:nvPr/>
        </p:nvSpPr>
        <p:spPr>
          <a:xfrm>
            <a:off x="822960" y="4206240"/>
            <a:ext cx="3840480" cy="0"/>
          </a:xfrm>
          <a:prstGeom prst="line">
            <a:avLst/>
          </a:prstGeom>
          <a:noFill/>
          <a:ln w="9525">
            <a:solidFill>
              <a:srgbClr val="1C1B19"/>
            </a:solidFill>
            <a:prstDash val="solid"/>
          </a:ln>
        </p:spPr>
      </p:sp>
      <p:sp>
        <p:nvSpPr>
          <p:cNvPr id="10" name="Text 8"/>
          <p:cNvSpPr/>
          <p:nvPr/>
        </p:nvSpPr>
        <p:spPr>
          <a:xfrm>
            <a:off x="411480" y="1508760"/>
            <a:ext cx="411480" cy="182880"/>
          </a:xfrm>
          <a:prstGeom prst="rect">
            <a:avLst/>
          </a:prstGeom>
          <a:noFill/>
          <a:ln/>
        </p:spPr>
        <p:txBody>
          <a:bodyPr wrap="square" lIns="0" tIns="0" rIns="0" bIns="0" rtlCol="0" anchor="t"/>
          <a:lstStyle/>
          <a:p>
            <a:pPr indent="0" marL="0">
              <a:buNone/>
            </a:pPr>
            <a:r>
              <a:rPr lang="en-US" sz="800" dirty="0">
                <a:solidFill>
                  <a:srgbClr val="6B665C"/>
                </a:solidFill>
                <a:latin typeface="Courier New" pitchFamily="34" charset="0"/>
                <a:ea typeface="Courier New" pitchFamily="34" charset="-122"/>
                <a:cs typeface="Courier New" pitchFamily="34" charset="-120"/>
              </a:rPr>
              <a:t>FID ↓</a:t>
            </a:r>
            <a:endParaRPr lang="en-US" sz="800" dirty="0"/>
          </a:p>
        </p:txBody>
      </p:sp>
      <p:sp>
        <p:nvSpPr>
          <p:cNvPr id="11" name="Text 9"/>
          <p:cNvSpPr/>
          <p:nvPr/>
        </p:nvSpPr>
        <p:spPr>
          <a:xfrm>
            <a:off x="822960" y="4279392"/>
            <a:ext cx="3840480" cy="182880"/>
          </a:xfrm>
          <a:prstGeom prst="rect">
            <a:avLst/>
          </a:prstGeom>
          <a:noFill/>
          <a:ln/>
        </p:spPr>
        <p:txBody>
          <a:bodyPr wrap="square" lIns="0" tIns="0" rIns="0" bIns="0" rtlCol="0" anchor="t"/>
          <a:lstStyle/>
          <a:p>
            <a:pPr algn="r" indent="0" marL="0">
              <a:buNone/>
            </a:pPr>
            <a:r>
              <a:rPr lang="en-US" sz="800" dirty="0">
                <a:solidFill>
                  <a:srgbClr val="6B665C"/>
                </a:solidFill>
                <a:latin typeface="Courier New" pitchFamily="34" charset="0"/>
                <a:ea typeface="Courier New" pitchFamily="34" charset="-122"/>
                <a:cs typeface="Courier New" pitchFamily="34" charset="-120"/>
              </a:rPr>
              <a:t>measured latency or energy per image →</a:t>
            </a:r>
            <a:endParaRPr lang="en-US" sz="800" dirty="0"/>
          </a:p>
        </p:txBody>
      </p:sp>
      <p:sp>
        <p:nvSpPr>
          <p:cNvPr id="12" name="Shape 10"/>
          <p:cNvSpPr/>
          <p:nvPr/>
        </p:nvSpPr>
        <p:spPr>
          <a:xfrm>
            <a:off x="1097280" y="1920240"/>
            <a:ext cx="548640" cy="822960"/>
          </a:xfrm>
          <a:prstGeom prst="line">
            <a:avLst/>
          </a:prstGeom>
          <a:noFill/>
          <a:ln w="12700">
            <a:solidFill>
              <a:srgbClr val="D9482B"/>
            </a:solidFill>
            <a:prstDash val="solid"/>
          </a:ln>
        </p:spPr>
      </p:sp>
      <p:sp>
        <p:nvSpPr>
          <p:cNvPr id="13" name="Shape 11"/>
          <p:cNvSpPr/>
          <p:nvPr/>
        </p:nvSpPr>
        <p:spPr>
          <a:xfrm>
            <a:off x="1645920" y="2743200"/>
            <a:ext cx="822960" cy="640080"/>
          </a:xfrm>
          <a:prstGeom prst="line">
            <a:avLst/>
          </a:prstGeom>
          <a:noFill/>
          <a:ln w="12700">
            <a:solidFill>
              <a:srgbClr val="D9482B"/>
            </a:solidFill>
            <a:prstDash val="solid"/>
          </a:ln>
        </p:spPr>
      </p:sp>
      <p:sp>
        <p:nvSpPr>
          <p:cNvPr id="14" name="Shape 12"/>
          <p:cNvSpPr/>
          <p:nvPr/>
        </p:nvSpPr>
        <p:spPr>
          <a:xfrm>
            <a:off x="2468880" y="3383280"/>
            <a:ext cx="1280160" cy="365760"/>
          </a:xfrm>
          <a:prstGeom prst="line">
            <a:avLst/>
          </a:prstGeom>
          <a:noFill/>
          <a:ln w="12700">
            <a:solidFill>
              <a:srgbClr val="D9482B"/>
            </a:solidFill>
            <a:prstDash val="solid"/>
          </a:ln>
        </p:spPr>
      </p:sp>
      <p:sp>
        <p:nvSpPr>
          <p:cNvPr id="15" name="Shape 13"/>
          <p:cNvSpPr/>
          <p:nvPr/>
        </p:nvSpPr>
        <p:spPr>
          <a:xfrm>
            <a:off x="1280160" y="2011680"/>
            <a:ext cx="548640" cy="1280160"/>
          </a:xfrm>
          <a:prstGeom prst="line">
            <a:avLst/>
          </a:prstGeom>
          <a:noFill/>
          <a:ln w="12700">
            <a:solidFill>
              <a:srgbClr val="2F5D62"/>
            </a:solidFill>
            <a:prstDash val="dash"/>
          </a:ln>
        </p:spPr>
      </p:sp>
      <p:sp>
        <p:nvSpPr>
          <p:cNvPr id="16" name="Shape 14"/>
          <p:cNvSpPr/>
          <p:nvPr/>
        </p:nvSpPr>
        <p:spPr>
          <a:xfrm>
            <a:off x="1828800" y="3291840"/>
            <a:ext cx="2286000" cy="502920"/>
          </a:xfrm>
          <a:prstGeom prst="line">
            <a:avLst/>
          </a:prstGeom>
          <a:noFill/>
          <a:ln w="12700">
            <a:solidFill>
              <a:srgbClr val="2F5D62"/>
            </a:solidFill>
            <a:prstDash val="dash"/>
          </a:ln>
        </p:spPr>
      </p:sp>
      <p:sp>
        <p:nvSpPr>
          <p:cNvPr id="17" name="Shape 15"/>
          <p:cNvSpPr/>
          <p:nvPr/>
        </p:nvSpPr>
        <p:spPr>
          <a:xfrm>
            <a:off x="1037844" y="1860804"/>
            <a:ext cx="118872" cy="118872"/>
          </a:xfrm>
          <a:prstGeom prst="ellipse">
            <a:avLst/>
          </a:prstGeom>
          <a:solidFill>
            <a:srgbClr val="D9482B"/>
          </a:solidFill>
          <a:ln w="12700">
            <a:solidFill>
              <a:srgbClr val="D9482B"/>
            </a:solidFill>
            <a:prstDash val="solid"/>
          </a:ln>
        </p:spPr>
      </p:sp>
      <p:sp>
        <p:nvSpPr>
          <p:cNvPr id="18" name="Shape 16"/>
          <p:cNvSpPr/>
          <p:nvPr/>
        </p:nvSpPr>
        <p:spPr>
          <a:xfrm>
            <a:off x="1586484" y="2683764"/>
            <a:ext cx="118872" cy="118872"/>
          </a:xfrm>
          <a:prstGeom prst="ellipse">
            <a:avLst/>
          </a:prstGeom>
          <a:solidFill>
            <a:srgbClr val="D9482B"/>
          </a:solidFill>
          <a:ln w="12700">
            <a:solidFill>
              <a:srgbClr val="D9482B"/>
            </a:solidFill>
            <a:prstDash val="solid"/>
          </a:ln>
        </p:spPr>
      </p:sp>
      <p:sp>
        <p:nvSpPr>
          <p:cNvPr id="19" name="Shape 17"/>
          <p:cNvSpPr/>
          <p:nvPr/>
        </p:nvSpPr>
        <p:spPr>
          <a:xfrm>
            <a:off x="2409444" y="3323844"/>
            <a:ext cx="118872" cy="118872"/>
          </a:xfrm>
          <a:prstGeom prst="ellipse">
            <a:avLst/>
          </a:prstGeom>
          <a:solidFill>
            <a:srgbClr val="D9482B"/>
          </a:solidFill>
          <a:ln w="12700">
            <a:solidFill>
              <a:srgbClr val="D9482B"/>
            </a:solidFill>
            <a:prstDash val="solid"/>
          </a:ln>
        </p:spPr>
      </p:sp>
      <p:sp>
        <p:nvSpPr>
          <p:cNvPr id="20" name="Shape 18"/>
          <p:cNvSpPr/>
          <p:nvPr/>
        </p:nvSpPr>
        <p:spPr>
          <a:xfrm>
            <a:off x="3689604" y="3689604"/>
            <a:ext cx="118872" cy="118872"/>
          </a:xfrm>
          <a:prstGeom prst="ellipse">
            <a:avLst/>
          </a:prstGeom>
          <a:solidFill>
            <a:srgbClr val="D9482B"/>
          </a:solidFill>
          <a:ln w="12700">
            <a:solidFill>
              <a:srgbClr val="D9482B"/>
            </a:solidFill>
            <a:prstDash val="solid"/>
          </a:ln>
        </p:spPr>
      </p:sp>
      <p:sp>
        <p:nvSpPr>
          <p:cNvPr id="21" name="Shape 19"/>
          <p:cNvSpPr/>
          <p:nvPr/>
        </p:nvSpPr>
        <p:spPr>
          <a:xfrm>
            <a:off x="1220724" y="1952244"/>
            <a:ext cx="118872" cy="118872"/>
          </a:xfrm>
          <a:prstGeom prst="ellipse">
            <a:avLst/>
          </a:prstGeom>
          <a:solidFill>
            <a:srgbClr val="F3EFE6"/>
          </a:solidFill>
          <a:ln w="12700">
            <a:solidFill>
              <a:srgbClr val="2F5D62"/>
            </a:solidFill>
            <a:prstDash val="solid"/>
          </a:ln>
        </p:spPr>
      </p:sp>
      <p:sp>
        <p:nvSpPr>
          <p:cNvPr id="22" name="Shape 20"/>
          <p:cNvSpPr/>
          <p:nvPr/>
        </p:nvSpPr>
        <p:spPr>
          <a:xfrm>
            <a:off x="1769364" y="3232404"/>
            <a:ext cx="118872" cy="118872"/>
          </a:xfrm>
          <a:prstGeom prst="ellipse">
            <a:avLst/>
          </a:prstGeom>
          <a:solidFill>
            <a:srgbClr val="F3EFE6"/>
          </a:solidFill>
          <a:ln w="12700">
            <a:solidFill>
              <a:srgbClr val="2F5D62"/>
            </a:solidFill>
            <a:prstDash val="solid"/>
          </a:ln>
        </p:spPr>
      </p:sp>
      <p:sp>
        <p:nvSpPr>
          <p:cNvPr id="23" name="Shape 21"/>
          <p:cNvSpPr/>
          <p:nvPr/>
        </p:nvSpPr>
        <p:spPr>
          <a:xfrm>
            <a:off x="2775204" y="2866644"/>
            <a:ext cx="118872" cy="118872"/>
          </a:xfrm>
          <a:prstGeom prst="ellipse">
            <a:avLst/>
          </a:prstGeom>
          <a:solidFill>
            <a:srgbClr val="F3EFE6"/>
          </a:solidFill>
          <a:ln w="12700">
            <a:solidFill>
              <a:srgbClr val="2F5D62"/>
            </a:solidFill>
            <a:prstDash val="solid"/>
          </a:ln>
        </p:spPr>
      </p:sp>
      <p:sp>
        <p:nvSpPr>
          <p:cNvPr id="24" name="Shape 22"/>
          <p:cNvSpPr/>
          <p:nvPr/>
        </p:nvSpPr>
        <p:spPr>
          <a:xfrm>
            <a:off x="4055364" y="3735324"/>
            <a:ext cx="118872" cy="118872"/>
          </a:xfrm>
          <a:prstGeom prst="ellipse">
            <a:avLst/>
          </a:prstGeom>
          <a:solidFill>
            <a:srgbClr val="F3EFE6"/>
          </a:solidFill>
          <a:ln w="12700">
            <a:solidFill>
              <a:srgbClr val="2F5D62"/>
            </a:solidFill>
            <a:prstDash val="solid"/>
          </a:ln>
        </p:spPr>
      </p:sp>
      <p:sp>
        <p:nvSpPr>
          <p:cNvPr id="25" name="Text 23"/>
          <p:cNvSpPr/>
          <p:nvPr/>
        </p:nvSpPr>
        <p:spPr>
          <a:xfrm>
            <a:off x="2944368" y="2834640"/>
            <a:ext cx="1463040" cy="182880"/>
          </a:xfrm>
          <a:prstGeom prst="rect">
            <a:avLst/>
          </a:prstGeom>
          <a:noFill/>
          <a:ln/>
        </p:spPr>
        <p:txBody>
          <a:bodyPr wrap="square" lIns="0" tIns="0" rIns="0" bIns="0" rtlCol="0" anchor="t"/>
          <a:lstStyle/>
          <a:p>
            <a:pPr indent="0" marL="0">
              <a:buNone/>
            </a:pPr>
            <a:r>
              <a:rPr lang="en-US" sz="750" dirty="0">
                <a:solidFill>
                  <a:srgbClr val="2F5D62"/>
                </a:solidFill>
                <a:latin typeface="Courier New" pitchFamily="34" charset="0"/>
                <a:ea typeface="Courier New" pitchFamily="34" charset="-122"/>
                <a:cs typeface="Courier New" pitchFamily="34" charset="-120"/>
              </a:rPr>
              <a:t>dominated on GPU B</a:t>
            </a:r>
            <a:endParaRPr lang="en-US" sz="750" dirty="0"/>
          </a:p>
        </p:txBody>
      </p:sp>
      <p:sp>
        <p:nvSpPr>
          <p:cNvPr id="26" name="Text 24"/>
          <p:cNvSpPr/>
          <p:nvPr/>
        </p:nvSpPr>
        <p:spPr>
          <a:xfrm>
            <a:off x="822960" y="1325880"/>
            <a:ext cx="3931920" cy="182880"/>
          </a:xfrm>
          <a:prstGeom prst="rect">
            <a:avLst/>
          </a:prstGeom>
          <a:noFill/>
          <a:ln/>
        </p:spPr>
        <p:txBody>
          <a:bodyPr wrap="square" lIns="0" tIns="0" rIns="0" bIns="0" rtlCol="0" anchor="t"/>
          <a:lstStyle/>
          <a:p>
            <a:pPr indent="0" marL="0">
              <a:buNone/>
            </a:pPr>
            <a:r>
              <a:rPr lang="en-US" sz="800" dirty="0">
                <a:solidFill>
                  <a:srgbClr val="D9482B"/>
                </a:solidFill>
                <a:latin typeface="Courier New" pitchFamily="34" charset="0"/>
                <a:ea typeface="Courier New" pitchFamily="34" charset="-122"/>
                <a:cs typeface="Courier New" pitchFamily="34" charset="-120"/>
              </a:rPr>
              <a:t>● </a:t>
            </a:r>
            <a:pPr indent="0" marL="0">
              <a:buNone/>
            </a:pPr>
            <a:r>
              <a:rPr lang="en-US" sz="800" dirty="0">
                <a:solidFill>
                  <a:srgbClr val="6B665C"/>
                </a:solidFill>
                <a:latin typeface="Courier New" pitchFamily="34" charset="0"/>
                <a:ea typeface="Courier New" pitchFamily="34" charset="-122"/>
                <a:cs typeface="Courier New" pitchFamily="34" charset="-120"/>
              </a:rPr>
              <a:t>GPU A    </a:t>
            </a:r>
            <a:pPr indent="0" marL="0">
              <a:buNone/>
            </a:pPr>
            <a:r>
              <a:rPr lang="en-US" sz="800" dirty="0">
                <a:solidFill>
                  <a:srgbClr val="2F5D62"/>
                </a:solidFill>
                <a:latin typeface="Courier New" pitchFamily="34" charset="0"/>
                <a:ea typeface="Courier New" pitchFamily="34" charset="-122"/>
                <a:cs typeface="Courier New" pitchFamily="34" charset="-120"/>
              </a:rPr>
              <a:t>○ </a:t>
            </a:r>
            <a:pPr indent="0" marL="0">
              <a:buNone/>
            </a:pPr>
            <a:r>
              <a:rPr lang="en-US" sz="800" dirty="0">
                <a:solidFill>
                  <a:srgbClr val="6B665C"/>
                </a:solidFill>
                <a:latin typeface="Courier New" pitchFamily="34" charset="0"/>
                <a:ea typeface="Courier New" pitchFamily="34" charset="-122"/>
                <a:cs typeface="Courier New" pitchFamily="34" charset="-120"/>
              </a:rPr>
              <a:t>GPU B    </a:t>
            </a:r>
            <a:pPr indent="0" marL="0">
              <a:buNone/>
            </a:pPr>
            <a:r>
              <a:rPr lang="en-US" sz="800" i="1" dirty="0">
                <a:solidFill>
                  <a:srgbClr val="6B665C"/>
                </a:solidFill>
                <a:latin typeface="Courier New" pitchFamily="34" charset="0"/>
                <a:ea typeface="Courier New" pitchFamily="34" charset="-122"/>
                <a:cs typeface="Courier New" pitchFamily="34" charset="-120"/>
              </a:rPr>
              <a:t>schematic, not data</a:t>
            </a:r>
            <a:endParaRPr lang="en-US" sz="800" dirty="0"/>
          </a:p>
        </p:txBody>
      </p:sp>
      <p:sp>
        <p:nvSpPr>
          <p:cNvPr id="27" name="Shape 25"/>
          <p:cNvSpPr/>
          <p:nvPr/>
        </p:nvSpPr>
        <p:spPr>
          <a:xfrm>
            <a:off x="5212080" y="1463040"/>
            <a:ext cx="3474720" cy="0"/>
          </a:xfrm>
          <a:prstGeom prst="line">
            <a:avLst/>
          </a:prstGeom>
          <a:noFill/>
          <a:ln w="6350">
            <a:solidFill>
              <a:srgbClr val="E4DED1"/>
            </a:solidFill>
            <a:prstDash val="solid"/>
          </a:ln>
        </p:spPr>
      </p:sp>
      <p:sp>
        <p:nvSpPr>
          <p:cNvPr id="28" name="Text 26"/>
          <p:cNvSpPr/>
          <p:nvPr/>
        </p:nvSpPr>
        <p:spPr>
          <a:xfrm>
            <a:off x="5212080" y="1554480"/>
            <a:ext cx="502920" cy="274320"/>
          </a:xfrm>
          <a:prstGeom prst="rect">
            <a:avLst/>
          </a:prstGeom>
          <a:noFill/>
          <a:ln/>
        </p:spPr>
        <p:txBody>
          <a:bodyPr wrap="square" lIns="0" tIns="0" rIns="0" bIns="0" rtlCol="0" anchor="t"/>
          <a:lstStyle/>
          <a:p>
            <a:pPr indent="0" marL="0">
              <a:buNone/>
            </a:pPr>
            <a:r>
              <a:rPr lang="en-US" sz="1200" b="1" dirty="0">
                <a:solidFill>
                  <a:srgbClr val="D9482B"/>
                </a:solidFill>
                <a:latin typeface="Courier New" pitchFamily="34" charset="0"/>
                <a:ea typeface="Courier New" pitchFamily="34" charset="-122"/>
                <a:cs typeface="Courier New" pitchFamily="34" charset="-120"/>
              </a:rPr>
              <a:t>H1</a:t>
            </a:r>
            <a:endParaRPr lang="en-US" sz="1200" dirty="0"/>
          </a:p>
        </p:txBody>
      </p:sp>
      <p:sp>
        <p:nvSpPr>
          <p:cNvPr id="29" name="Text 27"/>
          <p:cNvSpPr/>
          <p:nvPr/>
        </p:nvSpPr>
        <p:spPr>
          <a:xfrm>
            <a:off x="5760720" y="1554480"/>
            <a:ext cx="2926080" cy="594360"/>
          </a:xfrm>
          <a:prstGeom prst="rect">
            <a:avLst/>
          </a:prstGeom>
          <a:noFill/>
          <a:ln/>
        </p:spPr>
        <p:txBody>
          <a:bodyPr wrap="square" lIns="0" tIns="0" rIns="0" bIns="0" rtlCol="0" anchor="t"/>
          <a:lstStyle/>
          <a:p>
            <a:pPr indent="0" marL="0">
              <a:buNone/>
            </a:pPr>
            <a:r>
              <a:rPr lang="en-US" sz="1050" dirty="0">
                <a:solidFill>
                  <a:srgbClr val="1C1B19"/>
                </a:solidFill>
                <a:latin typeface="Arial" pitchFamily="34" charset="0"/>
                <a:ea typeface="Arial" pitchFamily="34" charset="-122"/>
                <a:cs typeface="Arial" pitchFamily="34" charset="-120"/>
              </a:rPr>
              <a:t>Regress latency &amp; energy on NFE per device; read the sampler-specific residuals.</a:t>
            </a:r>
            <a:endParaRPr lang="en-US" sz="1050" dirty="0"/>
          </a:p>
        </p:txBody>
      </p:sp>
      <p:sp>
        <p:nvSpPr>
          <p:cNvPr id="30" name="Shape 28"/>
          <p:cNvSpPr/>
          <p:nvPr/>
        </p:nvSpPr>
        <p:spPr>
          <a:xfrm>
            <a:off x="5212080" y="2212848"/>
            <a:ext cx="3474720" cy="0"/>
          </a:xfrm>
          <a:prstGeom prst="line">
            <a:avLst/>
          </a:prstGeom>
          <a:noFill/>
          <a:ln w="6350">
            <a:solidFill>
              <a:srgbClr val="E4DED1"/>
            </a:solidFill>
            <a:prstDash val="solid"/>
          </a:ln>
        </p:spPr>
      </p:sp>
      <p:sp>
        <p:nvSpPr>
          <p:cNvPr id="31" name="Text 29"/>
          <p:cNvSpPr/>
          <p:nvPr/>
        </p:nvSpPr>
        <p:spPr>
          <a:xfrm>
            <a:off x="5212080" y="2304288"/>
            <a:ext cx="502920" cy="274320"/>
          </a:xfrm>
          <a:prstGeom prst="rect">
            <a:avLst/>
          </a:prstGeom>
          <a:noFill/>
          <a:ln/>
        </p:spPr>
        <p:txBody>
          <a:bodyPr wrap="square" lIns="0" tIns="0" rIns="0" bIns="0" rtlCol="0" anchor="t"/>
          <a:lstStyle/>
          <a:p>
            <a:pPr indent="0" marL="0">
              <a:buNone/>
            </a:pPr>
            <a:r>
              <a:rPr lang="en-US" sz="1200" b="1" dirty="0">
                <a:solidFill>
                  <a:srgbClr val="D9482B"/>
                </a:solidFill>
                <a:latin typeface="Courier New" pitchFamily="34" charset="0"/>
                <a:ea typeface="Courier New" pitchFamily="34" charset="-122"/>
                <a:cs typeface="Courier New" pitchFamily="34" charset="-120"/>
              </a:rPr>
              <a:t>H2</a:t>
            </a:r>
            <a:endParaRPr lang="en-US" sz="1200" dirty="0"/>
          </a:p>
        </p:txBody>
      </p:sp>
      <p:sp>
        <p:nvSpPr>
          <p:cNvPr id="32" name="Text 30"/>
          <p:cNvSpPr/>
          <p:nvPr/>
        </p:nvSpPr>
        <p:spPr>
          <a:xfrm>
            <a:off x="5760720" y="2304288"/>
            <a:ext cx="2926080" cy="594360"/>
          </a:xfrm>
          <a:prstGeom prst="rect">
            <a:avLst/>
          </a:prstGeom>
          <a:noFill/>
          <a:ln/>
        </p:spPr>
        <p:txBody>
          <a:bodyPr wrap="square" lIns="0" tIns="0" rIns="0" bIns="0" rtlCol="0" anchor="t"/>
          <a:lstStyle/>
          <a:p>
            <a:pPr indent="0" marL="0">
              <a:buNone/>
            </a:pPr>
            <a:r>
              <a:rPr lang="en-US" sz="1050" dirty="0">
                <a:solidFill>
                  <a:srgbClr val="1C1B19"/>
                </a:solidFill>
                <a:latin typeface="Arial" pitchFamily="34" charset="0"/>
                <a:ea typeface="Arial" pitchFamily="34" charset="-122"/>
                <a:cs typeface="Arial" pitchFamily="34" charset="-120"/>
              </a:rPr>
              <a:t>FID–latency and FID–energy Pareto frontiers per device; flag configs that change status.</a:t>
            </a:r>
            <a:endParaRPr lang="en-US" sz="1050" dirty="0"/>
          </a:p>
        </p:txBody>
      </p:sp>
      <p:sp>
        <p:nvSpPr>
          <p:cNvPr id="33" name="Shape 31"/>
          <p:cNvSpPr/>
          <p:nvPr/>
        </p:nvSpPr>
        <p:spPr>
          <a:xfrm>
            <a:off x="5212080" y="2962656"/>
            <a:ext cx="3474720" cy="0"/>
          </a:xfrm>
          <a:prstGeom prst="line">
            <a:avLst/>
          </a:prstGeom>
          <a:noFill/>
          <a:ln w="6350">
            <a:solidFill>
              <a:srgbClr val="E4DED1"/>
            </a:solidFill>
            <a:prstDash val="solid"/>
          </a:ln>
        </p:spPr>
      </p:sp>
      <p:sp>
        <p:nvSpPr>
          <p:cNvPr id="34" name="Text 32"/>
          <p:cNvSpPr/>
          <p:nvPr/>
        </p:nvSpPr>
        <p:spPr>
          <a:xfrm>
            <a:off x="5212080" y="3054096"/>
            <a:ext cx="502920" cy="274320"/>
          </a:xfrm>
          <a:prstGeom prst="rect">
            <a:avLst/>
          </a:prstGeom>
          <a:noFill/>
          <a:ln/>
        </p:spPr>
        <p:txBody>
          <a:bodyPr wrap="square" lIns="0" tIns="0" rIns="0" bIns="0" rtlCol="0" anchor="t"/>
          <a:lstStyle/>
          <a:p>
            <a:pPr indent="0" marL="0">
              <a:buNone/>
            </a:pPr>
            <a:r>
              <a:rPr lang="en-US" sz="1200" b="1" dirty="0">
                <a:solidFill>
                  <a:srgbClr val="D9482B"/>
                </a:solidFill>
                <a:latin typeface="Courier New" pitchFamily="34" charset="0"/>
                <a:ea typeface="Courier New" pitchFamily="34" charset="-122"/>
                <a:cs typeface="Courier New" pitchFamily="34" charset="-120"/>
              </a:rPr>
              <a:t>H2</a:t>
            </a:r>
            <a:endParaRPr lang="en-US" sz="1200" dirty="0"/>
          </a:p>
        </p:txBody>
      </p:sp>
      <p:sp>
        <p:nvSpPr>
          <p:cNvPr id="35" name="Text 33"/>
          <p:cNvSpPr/>
          <p:nvPr/>
        </p:nvSpPr>
        <p:spPr>
          <a:xfrm>
            <a:off x="5760720" y="3054096"/>
            <a:ext cx="2926080" cy="594360"/>
          </a:xfrm>
          <a:prstGeom prst="rect">
            <a:avLst/>
          </a:prstGeom>
          <a:noFill/>
          <a:ln/>
        </p:spPr>
        <p:txBody>
          <a:bodyPr wrap="square" lIns="0" tIns="0" rIns="0" bIns="0" rtlCol="0" anchor="t"/>
          <a:lstStyle/>
          <a:p>
            <a:pPr indent="0" marL="0">
              <a:buNone/>
            </a:pPr>
            <a:r>
              <a:rPr lang="en-US" sz="1050" dirty="0">
                <a:solidFill>
                  <a:srgbClr val="1C1B19"/>
                </a:solidFill>
                <a:latin typeface="Arial" pitchFamily="34" charset="0"/>
                <a:ea typeface="Arial" pitchFamily="34" charset="-122"/>
                <a:cs typeface="Arial" pitchFamily="34" charset="-120"/>
              </a:rPr>
              <a:t>Kendall's τ between device rankings.</a:t>
            </a:r>
            <a:endParaRPr lang="en-US" sz="1050" dirty="0"/>
          </a:p>
        </p:txBody>
      </p:sp>
      <p:sp>
        <p:nvSpPr>
          <p:cNvPr id="36" name="Shape 34"/>
          <p:cNvSpPr/>
          <p:nvPr/>
        </p:nvSpPr>
        <p:spPr>
          <a:xfrm>
            <a:off x="5212080" y="3712464"/>
            <a:ext cx="3474720" cy="0"/>
          </a:xfrm>
          <a:prstGeom prst="line">
            <a:avLst/>
          </a:prstGeom>
          <a:noFill/>
          <a:ln w="6350">
            <a:solidFill>
              <a:srgbClr val="E4DED1"/>
            </a:solidFill>
            <a:prstDash val="solid"/>
          </a:ln>
        </p:spPr>
      </p:sp>
      <p:sp>
        <p:nvSpPr>
          <p:cNvPr id="37" name="Text 35"/>
          <p:cNvSpPr/>
          <p:nvPr/>
        </p:nvSpPr>
        <p:spPr>
          <a:xfrm>
            <a:off x="5212080" y="3803904"/>
            <a:ext cx="502920" cy="274320"/>
          </a:xfrm>
          <a:prstGeom prst="rect">
            <a:avLst/>
          </a:prstGeom>
          <a:noFill/>
          <a:ln/>
        </p:spPr>
        <p:txBody>
          <a:bodyPr wrap="square" lIns="0" tIns="0" rIns="0" bIns="0" rtlCol="0" anchor="t"/>
          <a:lstStyle/>
          <a:p>
            <a:pPr indent="0" marL="0">
              <a:buNone/>
            </a:pPr>
            <a:r>
              <a:rPr lang="en-US" sz="1200" b="1" dirty="0">
                <a:solidFill>
                  <a:srgbClr val="D9482B"/>
                </a:solidFill>
                <a:latin typeface="Courier New" pitchFamily="34" charset="0"/>
                <a:ea typeface="Courier New" pitchFamily="34" charset="-122"/>
                <a:cs typeface="Courier New" pitchFamily="34" charset="-120"/>
              </a:rPr>
              <a:t>H3</a:t>
            </a:r>
            <a:endParaRPr lang="en-US" sz="1200" dirty="0"/>
          </a:p>
        </p:txBody>
      </p:sp>
      <p:sp>
        <p:nvSpPr>
          <p:cNvPr id="38" name="Text 36"/>
          <p:cNvSpPr/>
          <p:nvPr/>
        </p:nvSpPr>
        <p:spPr>
          <a:xfrm>
            <a:off x="5760720" y="3803904"/>
            <a:ext cx="2926080" cy="594360"/>
          </a:xfrm>
          <a:prstGeom prst="rect">
            <a:avLst/>
          </a:prstGeom>
          <a:noFill/>
          <a:ln/>
        </p:spPr>
        <p:txBody>
          <a:bodyPr wrap="square" lIns="0" tIns="0" rIns="0" bIns="0" rtlCol="0" anchor="t"/>
          <a:lstStyle/>
          <a:p>
            <a:pPr indent="0" marL="0">
              <a:buNone/>
            </a:pPr>
            <a:r>
              <a:rPr lang="en-US" sz="1050" dirty="0">
                <a:solidFill>
                  <a:srgbClr val="1C1B19"/>
                </a:solidFill>
                <a:latin typeface="Arial" pitchFamily="34" charset="0"/>
                <a:ea typeface="Arial" pitchFamily="34" charset="-122"/>
                <a:cs typeface="Arial" pitchFamily="34" charset="-120"/>
              </a:rPr>
              <a:t>FID increase at matched measured cost — not matched NFE.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457200" y="292608"/>
            <a:ext cx="5486400" cy="201168"/>
          </a:xfrm>
          <a:prstGeom prst="rect">
            <a:avLst/>
          </a:prstGeom>
          <a:noFill/>
          <a:ln/>
        </p:spPr>
        <p:txBody>
          <a:bodyPr wrap="square" lIns="0" tIns="0" rIns="0" bIns="0" rtlCol="0" anchor="t"/>
          <a:lstStyle/>
          <a:p>
            <a:pPr indent="0" marL="0">
              <a:buNone/>
            </a:pPr>
            <a:r>
              <a:rPr lang="en-US" sz="900" dirty="0">
                <a:solidFill>
                  <a:srgbClr val="D9482B"/>
                </a:solidFill>
                <a:latin typeface="Courier New" pitchFamily="34" charset="0"/>
                <a:ea typeface="Courier New" pitchFamily="34" charset="-122"/>
                <a:cs typeface="Courier New" pitchFamily="34" charset="-120"/>
              </a:rPr>
              <a:t>08  /  FEASIBILITY</a:t>
            </a:r>
            <a:endParaRPr lang="en-US" sz="900" dirty="0"/>
          </a:p>
        </p:txBody>
      </p:sp>
      <p:sp>
        <p:nvSpPr>
          <p:cNvPr id="3" name="Text 1"/>
          <p:cNvSpPr/>
          <p:nvPr/>
        </p:nvSpPr>
        <p:spPr>
          <a:xfrm>
            <a:off x="457200" y="530352"/>
            <a:ext cx="8229600" cy="566928"/>
          </a:xfrm>
          <a:prstGeom prst="rect">
            <a:avLst/>
          </a:prstGeom>
          <a:noFill/>
          <a:ln/>
        </p:spPr>
        <p:txBody>
          <a:bodyPr wrap="square" lIns="0" tIns="0" rIns="0" bIns="0" rtlCol="0" anchor="ctr"/>
          <a:lstStyle/>
          <a:p>
            <a:pPr indent="0" marL="0">
              <a:buNone/>
            </a:pPr>
            <a:r>
              <a:rPr lang="en-US" sz="2500" dirty="0">
                <a:solidFill>
                  <a:srgbClr val="1C1B19"/>
                </a:solidFill>
                <a:latin typeface="Georgia" pitchFamily="34" charset="0"/>
                <a:ea typeface="Georgia" pitchFamily="34" charset="-122"/>
                <a:cs typeface="Georgia" pitchFamily="34" charset="-120"/>
              </a:rPr>
              <a:t>The question survives every cut</a:t>
            </a:r>
            <a:endParaRPr lang="en-US" sz="2500" dirty="0"/>
          </a:p>
        </p:txBody>
      </p:sp>
      <p:sp>
        <p:nvSpPr>
          <p:cNvPr id="4" name="Shape 2"/>
          <p:cNvSpPr/>
          <p:nvPr/>
        </p:nvSpPr>
        <p:spPr>
          <a:xfrm>
            <a:off x="457200" y="1207008"/>
            <a:ext cx="8229600" cy="0"/>
          </a:xfrm>
          <a:prstGeom prst="line">
            <a:avLst/>
          </a:prstGeom>
          <a:noFill/>
          <a:ln w="9525">
            <a:solidFill>
              <a:srgbClr val="1C1B19"/>
            </a:solidFill>
            <a:prstDash val="solid"/>
          </a:ln>
        </p:spPr>
      </p:sp>
      <p:sp>
        <p:nvSpPr>
          <p:cNvPr id="5" name="Shape 3"/>
          <p:cNvSpPr/>
          <p:nvPr/>
        </p:nvSpPr>
        <p:spPr>
          <a:xfrm>
            <a:off x="457200" y="4736592"/>
            <a:ext cx="8229600" cy="0"/>
          </a:xfrm>
          <a:prstGeom prst="line">
            <a:avLst/>
          </a:prstGeom>
          <a:noFill/>
          <a:ln w="6350">
            <a:solidFill>
              <a:srgbClr val="C9C2B4"/>
            </a:solidFill>
            <a:prstDash val="solid"/>
          </a:ln>
        </p:spPr>
      </p:sp>
      <p:sp>
        <p:nvSpPr>
          <p:cNvPr id="6" name="Text 4"/>
          <p:cNvSpPr/>
          <p:nvPr/>
        </p:nvSpPr>
        <p:spPr>
          <a:xfrm>
            <a:off x="457200" y="4791456"/>
            <a:ext cx="5486400" cy="182880"/>
          </a:xfrm>
          <a:prstGeom prst="rect">
            <a:avLst/>
          </a:prstGeom>
          <a:noFill/>
          <a:ln/>
        </p:spPr>
        <p:txBody>
          <a:bodyPr wrap="square" lIns="0" tIns="0" rIns="0" bIns="0" rtlCol="0" anchor="t"/>
          <a:lstStyle/>
          <a:p>
            <a:pPr indent="0" marL="0">
              <a:buNone/>
            </a:pPr>
            <a:r>
              <a:rPr lang="en-US" sz="750" dirty="0">
                <a:solidFill>
                  <a:srgbClr val="6B665C"/>
                </a:solidFill>
                <a:latin typeface="Courier New" pitchFamily="34" charset="0"/>
                <a:ea typeface="Courier New" pitchFamily="34" charset="-122"/>
                <a:cs typeface="Courier New" pitchFamily="34" charset="-120"/>
              </a:rPr>
              <a:t>ZAKYNTHINOS — ADVANCED TOPICS IN AI — PROPOSAL</a:t>
            </a:r>
            <a:endParaRPr lang="en-US" sz="750" dirty="0"/>
          </a:p>
        </p:txBody>
      </p:sp>
      <p:sp>
        <p:nvSpPr>
          <p:cNvPr id="7" name="Text 5"/>
          <p:cNvSpPr/>
          <p:nvPr/>
        </p:nvSpPr>
        <p:spPr>
          <a:xfrm>
            <a:off x="7772400" y="4791456"/>
            <a:ext cx="914400" cy="182880"/>
          </a:xfrm>
          <a:prstGeom prst="rect">
            <a:avLst/>
          </a:prstGeom>
          <a:noFill/>
          <a:ln/>
        </p:spPr>
        <p:txBody>
          <a:bodyPr wrap="square" lIns="0" tIns="0" rIns="0" bIns="0" rtlCol="0" anchor="t"/>
          <a:lstStyle/>
          <a:p>
            <a:pPr algn="r" indent="0" marL="0">
              <a:buNone/>
            </a:pPr>
            <a:r>
              <a:rPr lang="en-US" sz="750" dirty="0">
                <a:solidFill>
                  <a:srgbClr val="6B665C"/>
                </a:solidFill>
                <a:latin typeface="Courier New" pitchFamily="34" charset="0"/>
                <a:ea typeface="Courier New" pitchFamily="34" charset="-122"/>
                <a:cs typeface="Courier New" pitchFamily="34" charset="-120"/>
              </a:rPr>
              <a:t>08 / 10</a:t>
            </a:r>
            <a:endParaRPr lang="en-US" sz="750" dirty="0"/>
          </a:p>
        </p:txBody>
      </p:sp>
      <p:sp>
        <p:nvSpPr>
          <p:cNvPr id="8" name="Text 6"/>
          <p:cNvSpPr/>
          <p:nvPr/>
        </p:nvSpPr>
        <p:spPr>
          <a:xfrm>
            <a:off x="457200" y="1417320"/>
            <a:ext cx="3840480" cy="201168"/>
          </a:xfrm>
          <a:prstGeom prst="rect">
            <a:avLst/>
          </a:prstGeom>
          <a:noFill/>
          <a:ln/>
        </p:spPr>
        <p:txBody>
          <a:bodyPr wrap="square" lIns="0" tIns="0" rIns="0" bIns="0" rtlCol="0" anchor="t"/>
          <a:lstStyle/>
          <a:p>
            <a:pPr indent="0" marL="0">
              <a:buNone/>
            </a:pPr>
            <a:r>
              <a:rPr lang="en-US" sz="900" dirty="0">
                <a:solidFill>
                  <a:srgbClr val="6B665C"/>
                </a:solidFill>
                <a:latin typeface="Courier New" pitchFamily="34" charset="0"/>
                <a:ea typeface="Courier New" pitchFamily="34" charset="-122"/>
                <a:cs typeface="Courier New" pitchFamily="34" charset="-120"/>
              </a:rPr>
              <a:t>WHY IT FITS A SEMESTER</a:t>
            </a:r>
            <a:endParaRPr lang="en-US" sz="900" dirty="0"/>
          </a:p>
        </p:txBody>
      </p:sp>
      <p:sp>
        <p:nvSpPr>
          <p:cNvPr id="9" name="Text 7"/>
          <p:cNvSpPr/>
          <p:nvPr/>
        </p:nvSpPr>
        <p:spPr>
          <a:xfrm>
            <a:off x="457200" y="1737360"/>
            <a:ext cx="274320" cy="274320"/>
          </a:xfrm>
          <a:prstGeom prst="rect">
            <a:avLst/>
          </a:prstGeom>
          <a:noFill/>
          <a:ln/>
        </p:spPr>
        <p:txBody>
          <a:bodyPr wrap="square" lIns="0" tIns="0" rIns="0" bIns="0" rtlCol="0" anchor="t"/>
          <a:lstStyle/>
          <a:p>
            <a:pPr indent="0" marL="0">
              <a:buNone/>
            </a:pPr>
            <a:r>
              <a:rPr lang="en-US" sz="1300" b="1" dirty="0">
                <a:solidFill>
                  <a:srgbClr val="2F5D62"/>
                </a:solidFill>
                <a:latin typeface="Arial" pitchFamily="34" charset="0"/>
                <a:ea typeface="Arial" pitchFamily="34" charset="-122"/>
                <a:cs typeface="Arial" pitchFamily="34" charset="-120"/>
              </a:rPr>
              <a:t>✓</a:t>
            </a:r>
            <a:endParaRPr lang="en-US" sz="1300" dirty="0"/>
          </a:p>
        </p:txBody>
      </p:sp>
      <p:sp>
        <p:nvSpPr>
          <p:cNvPr id="10" name="Text 8"/>
          <p:cNvSpPr/>
          <p:nvPr/>
        </p:nvSpPr>
        <p:spPr>
          <a:xfrm>
            <a:off x="777240" y="1755648"/>
            <a:ext cx="3566160" cy="411480"/>
          </a:xfrm>
          <a:prstGeom prst="rect">
            <a:avLst/>
          </a:prstGeom>
          <a:noFill/>
          <a:ln/>
        </p:spPr>
        <p:txBody>
          <a:bodyPr wrap="square" lIns="0" tIns="0" rIns="0" bIns="0" rtlCol="0" anchor="t"/>
          <a:lstStyle/>
          <a:p>
            <a:pPr indent="0" marL="0">
              <a:buNone/>
            </a:pPr>
            <a:r>
              <a:rPr lang="en-US" sz="1150" dirty="0">
                <a:solidFill>
                  <a:srgbClr val="1C1B19"/>
                </a:solidFill>
                <a:latin typeface="Arial" pitchFamily="34" charset="0"/>
                <a:ea typeface="Arial" pitchFamily="34" charset="-122"/>
                <a:cs typeface="Arial" pitchFamily="34" charset="-120"/>
              </a:rPr>
              <a:t>Public DiT / SiT checkpoints — zero training</a:t>
            </a:r>
            <a:endParaRPr lang="en-US" sz="1150" dirty="0"/>
          </a:p>
        </p:txBody>
      </p:sp>
      <p:sp>
        <p:nvSpPr>
          <p:cNvPr id="11" name="Text 9"/>
          <p:cNvSpPr/>
          <p:nvPr/>
        </p:nvSpPr>
        <p:spPr>
          <a:xfrm>
            <a:off x="457200" y="2286000"/>
            <a:ext cx="274320" cy="274320"/>
          </a:xfrm>
          <a:prstGeom prst="rect">
            <a:avLst/>
          </a:prstGeom>
          <a:noFill/>
          <a:ln/>
        </p:spPr>
        <p:txBody>
          <a:bodyPr wrap="square" lIns="0" tIns="0" rIns="0" bIns="0" rtlCol="0" anchor="t"/>
          <a:lstStyle/>
          <a:p>
            <a:pPr indent="0" marL="0">
              <a:buNone/>
            </a:pPr>
            <a:r>
              <a:rPr lang="en-US" sz="1300" b="1" dirty="0">
                <a:solidFill>
                  <a:srgbClr val="2F5D62"/>
                </a:solidFill>
                <a:latin typeface="Arial" pitchFamily="34" charset="0"/>
                <a:ea typeface="Arial" pitchFamily="34" charset="-122"/>
                <a:cs typeface="Arial" pitchFamily="34" charset="-120"/>
              </a:rPr>
              <a:t>✓</a:t>
            </a:r>
            <a:endParaRPr lang="en-US" sz="1300" dirty="0"/>
          </a:p>
        </p:txBody>
      </p:sp>
      <p:sp>
        <p:nvSpPr>
          <p:cNvPr id="12" name="Text 10"/>
          <p:cNvSpPr/>
          <p:nvPr/>
        </p:nvSpPr>
        <p:spPr>
          <a:xfrm>
            <a:off x="777240" y="2304288"/>
            <a:ext cx="3566160" cy="411480"/>
          </a:xfrm>
          <a:prstGeom prst="rect">
            <a:avLst/>
          </a:prstGeom>
          <a:noFill/>
          <a:ln/>
        </p:spPr>
        <p:txBody>
          <a:bodyPr wrap="square" lIns="0" tIns="0" rIns="0" bIns="0" rtlCol="0" anchor="t"/>
          <a:lstStyle/>
          <a:p>
            <a:pPr indent="0" marL="0">
              <a:buNone/>
            </a:pPr>
            <a:r>
              <a:rPr lang="en-US" sz="1150" dirty="0">
                <a:solidFill>
                  <a:srgbClr val="1C1B19"/>
                </a:solidFill>
                <a:latin typeface="Arial" pitchFamily="34" charset="0"/>
                <a:ea typeface="Arial" pitchFamily="34" charset="-122"/>
                <a:cs typeface="Arial" pitchFamily="34" charset="-120"/>
              </a:rPr>
              <a:t>One large job: 24 configs × 2,000 pilot images</a:t>
            </a:r>
            <a:endParaRPr lang="en-US" sz="1150" dirty="0"/>
          </a:p>
        </p:txBody>
      </p:sp>
      <p:sp>
        <p:nvSpPr>
          <p:cNvPr id="13" name="Text 11"/>
          <p:cNvSpPr/>
          <p:nvPr/>
        </p:nvSpPr>
        <p:spPr>
          <a:xfrm>
            <a:off x="457200" y="2834640"/>
            <a:ext cx="274320" cy="274320"/>
          </a:xfrm>
          <a:prstGeom prst="rect">
            <a:avLst/>
          </a:prstGeom>
          <a:noFill/>
          <a:ln/>
        </p:spPr>
        <p:txBody>
          <a:bodyPr wrap="square" lIns="0" tIns="0" rIns="0" bIns="0" rtlCol="0" anchor="t"/>
          <a:lstStyle/>
          <a:p>
            <a:pPr indent="0" marL="0">
              <a:buNone/>
            </a:pPr>
            <a:r>
              <a:rPr lang="en-US" sz="1300" b="1" dirty="0">
                <a:solidFill>
                  <a:srgbClr val="2F5D62"/>
                </a:solidFill>
                <a:latin typeface="Arial" pitchFamily="34" charset="0"/>
                <a:ea typeface="Arial" pitchFamily="34" charset="-122"/>
                <a:cs typeface="Arial" pitchFamily="34" charset="-120"/>
              </a:rPr>
              <a:t>✓</a:t>
            </a:r>
            <a:endParaRPr lang="en-US" sz="1300" dirty="0"/>
          </a:p>
        </p:txBody>
      </p:sp>
      <p:sp>
        <p:nvSpPr>
          <p:cNvPr id="14" name="Text 12"/>
          <p:cNvSpPr/>
          <p:nvPr/>
        </p:nvSpPr>
        <p:spPr>
          <a:xfrm>
            <a:off x="777240" y="2852928"/>
            <a:ext cx="3566160" cy="411480"/>
          </a:xfrm>
          <a:prstGeom prst="rect">
            <a:avLst/>
          </a:prstGeom>
          <a:noFill/>
          <a:ln/>
        </p:spPr>
        <p:txBody>
          <a:bodyPr wrap="square" lIns="0" tIns="0" rIns="0" bIns="0" rtlCol="0" anchor="t"/>
          <a:lstStyle/>
          <a:p>
            <a:pPr indent="0" marL="0">
              <a:buNone/>
            </a:pPr>
            <a:r>
              <a:rPr lang="en-US" sz="1150" dirty="0">
                <a:solidFill>
                  <a:srgbClr val="1C1B19"/>
                </a:solidFill>
                <a:latin typeface="Arial" pitchFamily="34" charset="0"/>
                <a:ea typeface="Arial" pitchFamily="34" charset="-122"/>
                <a:cs typeface="Arial" pitchFamily="34" charset="-120"/>
              </a:rPr>
              <a:t>Only frontier configs get 10k × 3 seeds</a:t>
            </a:r>
            <a:endParaRPr lang="en-US" sz="1150" dirty="0"/>
          </a:p>
        </p:txBody>
      </p:sp>
      <p:sp>
        <p:nvSpPr>
          <p:cNvPr id="15" name="Text 13"/>
          <p:cNvSpPr/>
          <p:nvPr/>
        </p:nvSpPr>
        <p:spPr>
          <a:xfrm>
            <a:off x="457200" y="3383280"/>
            <a:ext cx="274320" cy="274320"/>
          </a:xfrm>
          <a:prstGeom prst="rect">
            <a:avLst/>
          </a:prstGeom>
          <a:noFill/>
          <a:ln/>
        </p:spPr>
        <p:txBody>
          <a:bodyPr wrap="square" lIns="0" tIns="0" rIns="0" bIns="0" rtlCol="0" anchor="t"/>
          <a:lstStyle/>
          <a:p>
            <a:pPr indent="0" marL="0">
              <a:buNone/>
            </a:pPr>
            <a:r>
              <a:rPr lang="en-US" sz="1300" b="1" dirty="0">
                <a:solidFill>
                  <a:srgbClr val="2F5D62"/>
                </a:solidFill>
                <a:latin typeface="Arial" pitchFamily="34" charset="0"/>
                <a:ea typeface="Arial" pitchFamily="34" charset="-122"/>
                <a:cs typeface="Arial" pitchFamily="34" charset="-120"/>
              </a:rPr>
              <a:t>✓</a:t>
            </a:r>
            <a:endParaRPr lang="en-US" sz="1300" dirty="0"/>
          </a:p>
        </p:txBody>
      </p:sp>
      <p:sp>
        <p:nvSpPr>
          <p:cNvPr id="16" name="Text 14"/>
          <p:cNvSpPr/>
          <p:nvPr/>
        </p:nvSpPr>
        <p:spPr>
          <a:xfrm>
            <a:off x="777240" y="3401568"/>
            <a:ext cx="3566160" cy="411480"/>
          </a:xfrm>
          <a:prstGeom prst="rect">
            <a:avLst/>
          </a:prstGeom>
          <a:noFill/>
          <a:ln/>
        </p:spPr>
        <p:txBody>
          <a:bodyPr wrap="square" lIns="0" tIns="0" rIns="0" bIns="0" rtlCol="0" anchor="t"/>
          <a:lstStyle/>
          <a:p>
            <a:pPr indent="0" marL="0">
              <a:buNone/>
            </a:pPr>
            <a:r>
              <a:rPr lang="en-US" sz="1150" dirty="0">
                <a:solidFill>
                  <a:srgbClr val="1C1B19"/>
                </a:solidFill>
                <a:latin typeface="Arial" pitchFamily="34" charset="0"/>
                <a:ea typeface="Arial" pitchFamily="34" charset="-122"/>
                <a:cs typeface="Arial" pitchFamily="34" charset="-120"/>
              </a:rPr>
              <a:t>Cross-device work = short timing sweeps</a:t>
            </a:r>
            <a:endParaRPr lang="en-US" sz="1150" dirty="0"/>
          </a:p>
        </p:txBody>
      </p:sp>
      <p:sp>
        <p:nvSpPr>
          <p:cNvPr id="17" name="Text 15"/>
          <p:cNvSpPr/>
          <p:nvPr/>
        </p:nvSpPr>
        <p:spPr>
          <a:xfrm>
            <a:off x="457200" y="3931920"/>
            <a:ext cx="274320" cy="274320"/>
          </a:xfrm>
          <a:prstGeom prst="rect">
            <a:avLst/>
          </a:prstGeom>
          <a:noFill/>
          <a:ln/>
        </p:spPr>
        <p:txBody>
          <a:bodyPr wrap="square" lIns="0" tIns="0" rIns="0" bIns="0" rtlCol="0" anchor="t"/>
          <a:lstStyle/>
          <a:p>
            <a:pPr indent="0" marL="0">
              <a:buNone/>
            </a:pPr>
            <a:r>
              <a:rPr lang="en-US" sz="1300" b="1" dirty="0">
                <a:solidFill>
                  <a:srgbClr val="2F5D62"/>
                </a:solidFill>
                <a:latin typeface="Arial" pitchFamily="34" charset="0"/>
                <a:ea typeface="Arial" pitchFamily="34" charset="-122"/>
                <a:cs typeface="Arial" pitchFamily="34" charset="-120"/>
              </a:rPr>
              <a:t>✓</a:t>
            </a:r>
            <a:endParaRPr lang="en-US" sz="1300" dirty="0"/>
          </a:p>
        </p:txBody>
      </p:sp>
      <p:sp>
        <p:nvSpPr>
          <p:cNvPr id="18" name="Text 16"/>
          <p:cNvSpPr/>
          <p:nvPr/>
        </p:nvSpPr>
        <p:spPr>
          <a:xfrm>
            <a:off x="777240" y="3950208"/>
            <a:ext cx="3566160" cy="411480"/>
          </a:xfrm>
          <a:prstGeom prst="rect">
            <a:avLst/>
          </a:prstGeom>
          <a:noFill/>
          <a:ln/>
        </p:spPr>
        <p:txBody>
          <a:bodyPr wrap="square" lIns="0" tIns="0" rIns="0" bIns="0" rtlCol="0" anchor="t"/>
          <a:lstStyle/>
          <a:p>
            <a:pPr indent="0" marL="0">
              <a:buNone/>
            </a:pPr>
            <a:r>
              <a:rPr lang="en-US" sz="1150" dirty="0">
                <a:solidFill>
                  <a:srgbClr val="1C1B19"/>
                </a:solidFill>
                <a:latin typeface="Arial" pitchFamily="34" charset="0"/>
                <a:ea typeface="Arial" pitchFamily="34" charset="-122"/>
                <a:cs typeface="Arial" pitchFamily="34" charset="-120"/>
              </a:rPr>
              <a:t>Free or already-available hardware only</a:t>
            </a:r>
            <a:endParaRPr lang="en-US" sz="1150" dirty="0"/>
          </a:p>
        </p:txBody>
      </p:sp>
      <p:sp>
        <p:nvSpPr>
          <p:cNvPr id="19" name="Shape 17"/>
          <p:cNvSpPr/>
          <p:nvPr/>
        </p:nvSpPr>
        <p:spPr>
          <a:xfrm>
            <a:off x="4663440" y="1417320"/>
            <a:ext cx="0" cy="3154680"/>
          </a:xfrm>
          <a:prstGeom prst="line">
            <a:avLst/>
          </a:prstGeom>
          <a:noFill/>
          <a:ln w="6350">
            <a:solidFill>
              <a:srgbClr val="C9C2B4"/>
            </a:solidFill>
            <a:prstDash val="solid"/>
          </a:ln>
        </p:spPr>
      </p:sp>
      <p:sp>
        <p:nvSpPr>
          <p:cNvPr id="20" name="Text 18"/>
          <p:cNvSpPr/>
          <p:nvPr/>
        </p:nvSpPr>
        <p:spPr>
          <a:xfrm>
            <a:off x="4937760" y="1417320"/>
            <a:ext cx="3749040" cy="201168"/>
          </a:xfrm>
          <a:prstGeom prst="rect">
            <a:avLst/>
          </a:prstGeom>
          <a:noFill/>
          <a:ln/>
        </p:spPr>
        <p:txBody>
          <a:bodyPr wrap="square" lIns="0" tIns="0" rIns="0" bIns="0" rtlCol="0" anchor="t"/>
          <a:lstStyle/>
          <a:p>
            <a:pPr indent="0" marL="0">
              <a:buNone/>
            </a:pPr>
            <a:r>
              <a:rPr lang="en-US" sz="900" dirty="0">
                <a:solidFill>
                  <a:srgbClr val="D9482B"/>
                </a:solidFill>
                <a:latin typeface="Courier New" pitchFamily="34" charset="0"/>
                <a:ea typeface="Courier New" pitchFamily="34" charset="-122"/>
                <a:cs typeface="Courier New" pitchFamily="34" charset="-120"/>
              </a:rPr>
              <a:t>IF COMPUTE TIGHTENS, CUT IN THIS ORDER</a:t>
            </a:r>
            <a:endParaRPr lang="en-US" sz="900" dirty="0"/>
          </a:p>
        </p:txBody>
      </p:sp>
      <p:sp>
        <p:nvSpPr>
          <p:cNvPr id="21" name="Text 19"/>
          <p:cNvSpPr/>
          <p:nvPr/>
        </p:nvSpPr>
        <p:spPr>
          <a:xfrm>
            <a:off x="4937760" y="1783080"/>
            <a:ext cx="365760" cy="411480"/>
          </a:xfrm>
          <a:prstGeom prst="rect">
            <a:avLst/>
          </a:prstGeom>
          <a:noFill/>
          <a:ln/>
        </p:spPr>
        <p:txBody>
          <a:bodyPr wrap="square" lIns="0" tIns="0" rIns="0" bIns="0" rtlCol="0" anchor="t"/>
          <a:lstStyle/>
          <a:p>
            <a:pPr indent="0" marL="0">
              <a:buNone/>
            </a:pPr>
            <a:r>
              <a:rPr lang="en-US" sz="2200" dirty="0">
                <a:solidFill>
                  <a:srgbClr val="D9482B"/>
                </a:solidFill>
                <a:latin typeface="Georgia" pitchFamily="34" charset="0"/>
                <a:ea typeface="Georgia" pitchFamily="34" charset="-122"/>
                <a:cs typeface="Georgia" pitchFamily="34" charset="-120"/>
              </a:rPr>
              <a:t>1</a:t>
            </a:r>
            <a:endParaRPr lang="en-US" sz="2200" dirty="0"/>
          </a:p>
        </p:txBody>
      </p:sp>
      <p:sp>
        <p:nvSpPr>
          <p:cNvPr id="22" name="Text 20"/>
          <p:cNvSpPr/>
          <p:nvPr/>
        </p:nvSpPr>
        <p:spPr>
          <a:xfrm>
            <a:off x="5349240" y="1837944"/>
            <a:ext cx="3291840" cy="548640"/>
          </a:xfrm>
          <a:prstGeom prst="rect">
            <a:avLst/>
          </a:prstGeom>
          <a:noFill/>
          <a:ln/>
        </p:spPr>
        <p:txBody>
          <a:bodyPr wrap="square" lIns="0" tIns="0" rIns="0" bIns="0" rtlCol="0" anchor="t"/>
          <a:lstStyle/>
          <a:p>
            <a:pPr indent="0" marL="0">
              <a:buNone/>
            </a:pPr>
            <a:r>
              <a:rPr lang="en-US" sz="1150" dirty="0">
                <a:solidFill>
                  <a:srgbClr val="1C1B19"/>
                </a:solidFill>
                <a:latin typeface="Arial" pitchFamily="34" charset="0"/>
                <a:ea typeface="Arial" pitchFamily="34" charset="-122"/>
                <a:cs typeface="Arial" pitchFamily="34" charset="-120"/>
              </a:rPr>
              <a:t>Drop fp32 quality generation</a:t>
            </a:r>
            <a:endParaRPr lang="en-US" sz="1150" dirty="0"/>
          </a:p>
        </p:txBody>
      </p:sp>
      <p:sp>
        <p:nvSpPr>
          <p:cNvPr id="23" name="Text 21"/>
          <p:cNvSpPr/>
          <p:nvPr/>
        </p:nvSpPr>
        <p:spPr>
          <a:xfrm>
            <a:off x="4937760" y="2423160"/>
            <a:ext cx="365760" cy="411480"/>
          </a:xfrm>
          <a:prstGeom prst="rect">
            <a:avLst/>
          </a:prstGeom>
          <a:noFill/>
          <a:ln/>
        </p:spPr>
        <p:txBody>
          <a:bodyPr wrap="square" lIns="0" tIns="0" rIns="0" bIns="0" rtlCol="0" anchor="t"/>
          <a:lstStyle/>
          <a:p>
            <a:pPr indent="0" marL="0">
              <a:buNone/>
            </a:pPr>
            <a:r>
              <a:rPr lang="en-US" sz="2200" dirty="0">
                <a:solidFill>
                  <a:srgbClr val="D9482B"/>
                </a:solidFill>
                <a:latin typeface="Georgia" pitchFamily="34" charset="0"/>
                <a:ea typeface="Georgia" pitchFamily="34" charset="-122"/>
                <a:cs typeface="Georgia" pitchFamily="34" charset="-120"/>
              </a:rPr>
              <a:t>2</a:t>
            </a:r>
            <a:endParaRPr lang="en-US" sz="2200" dirty="0"/>
          </a:p>
        </p:txBody>
      </p:sp>
      <p:sp>
        <p:nvSpPr>
          <p:cNvPr id="24" name="Text 22"/>
          <p:cNvSpPr/>
          <p:nvPr/>
        </p:nvSpPr>
        <p:spPr>
          <a:xfrm>
            <a:off x="5349240" y="2478024"/>
            <a:ext cx="3291840" cy="548640"/>
          </a:xfrm>
          <a:prstGeom prst="rect">
            <a:avLst/>
          </a:prstGeom>
          <a:noFill/>
          <a:ln/>
        </p:spPr>
        <p:txBody>
          <a:bodyPr wrap="square" lIns="0" tIns="0" rIns="0" bIns="0" rtlCol="0" anchor="t"/>
          <a:lstStyle/>
          <a:p>
            <a:pPr indent="0" marL="0">
              <a:buNone/>
            </a:pPr>
            <a:r>
              <a:rPr lang="en-US" sz="1150" dirty="0">
                <a:solidFill>
                  <a:srgbClr val="1C1B19"/>
                </a:solidFill>
                <a:latin typeface="Arial" pitchFamily="34" charset="0"/>
                <a:ea typeface="Arial" pitchFamily="34" charset="-122"/>
                <a:cs typeface="Arial" pitchFamily="34" charset="-120"/>
              </a:rPr>
              <a:t>Ikaros: batch size 1 only</a:t>
            </a:r>
            <a:endParaRPr lang="en-US" sz="1150" dirty="0"/>
          </a:p>
        </p:txBody>
      </p:sp>
      <p:sp>
        <p:nvSpPr>
          <p:cNvPr id="25" name="Text 23"/>
          <p:cNvSpPr/>
          <p:nvPr/>
        </p:nvSpPr>
        <p:spPr>
          <a:xfrm>
            <a:off x="4937760" y="3063240"/>
            <a:ext cx="365760" cy="411480"/>
          </a:xfrm>
          <a:prstGeom prst="rect">
            <a:avLst/>
          </a:prstGeom>
          <a:noFill/>
          <a:ln/>
        </p:spPr>
        <p:txBody>
          <a:bodyPr wrap="square" lIns="0" tIns="0" rIns="0" bIns="0" rtlCol="0" anchor="t"/>
          <a:lstStyle/>
          <a:p>
            <a:pPr indent="0" marL="0">
              <a:buNone/>
            </a:pPr>
            <a:r>
              <a:rPr lang="en-US" sz="2200" dirty="0">
                <a:solidFill>
                  <a:srgbClr val="D9482B"/>
                </a:solidFill>
                <a:latin typeface="Georgia" pitchFamily="34" charset="0"/>
                <a:ea typeface="Georgia" pitchFamily="34" charset="-122"/>
                <a:cs typeface="Georgia" pitchFamily="34" charset="-120"/>
              </a:rPr>
              <a:t>3</a:t>
            </a:r>
            <a:endParaRPr lang="en-US" sz="2200" dirty="0"/>
          </a:p>
        </p:txBody>
      </p:sp>
      <p:sp>
        <p:nvSpPr>
          <p:cNvPr id="26" name="Text 24"/>
          <p:cNvSpPr/>
          <p:nvPr/>
        </p:nvSpPr>
        <p:spPr>
          <a:xfrm>
            <a:off x="5349240" y="3118104"/>
            <a:ext cx="3291840" cy="548640"/>
          </a:xfrm>
          <a:prstGeom prst="rect">
            <a:avLst/>
          </a:prstGeom>
          <a:noFill/>
          <a:ln/>
        </p:spPr>
        <p:txBody>
          <a:bodyPr wrap="square" lIns="0" tIns="0" rIns="0" bIns="0" rtlCol="0" anchor="t"/>
          <a:lstStyle/>
          <a:p>
            <a:pPr indent="0" marL="0">
              <a:buNone/>
            </a:pPr>
            <a:r>
              <a:rPr lang="en-US" sz="1150" dirty="0">
                <a:solidFill>
                  <a:srgbClr val="1C1B19"/>
                </a:solidFill>
                <a:latin typeface="Arial" pitchFamily="34" charset="0"/>
                <a:ea typeface="Arial" pitchFamily="34" charset="-122"/>
                <a:cs typeface="Arial" pitchFamily="34" charset="-120"/>
              </a:rPr>
              <a:t>Checkpoint mismatch → small parameter-efficient pilot, never full training</a:t>
            </a:r>
            <a:endParaRPr lang="en-US" sz="1150" dirty="0"/>
          </a:p>
        </p:txBody>
      </p:sp>
      <p:sp>
        <p:nvSpPr>
          <p:cNvPr id="27" name="Text 25"/>
          <p:cNvSpPr/>
          <p:nvPr/>
        </p:nvSpPr>
        <p:spPr>
          <a:xfrm>
            <a:off x="4937760" y="3794760"/>
            <a:ext cx="3749040" cy="457200"/>
          </a:xfrm>
          <a:prstGeom prst="rect">
            <a:avLst/>
          </a:prstGeom>
          <a:noFill/>
          <a:ln/>
        </p:spPr>
        <p:txBody>
          <a:bodyPr wrap="square" lIns="0" tIns="0" rIns="0" bIns="0" rtlCol="0" anchor="t"/>
          <a:lstStyle/>
          <a:p>
            <a:pPr indent="0" marL="0">
              <a:buNone/>
            </a:pPr>
            <a:r>
              <a:rPr lang="en-US" sz="1050" b="1" dirty="0">
                <a:solidFill>
                  <a:srgbClr val="1C1B19"/>
                </a:solidFill>
                <a:latin typeface="Arial" pitchFamily="34" charset="0"/>
                <a:ea typeface="Arial" pitchFamily="34" charset="-122"/>
                <a:cs typeface="Arial" pitchFamily="34" charset="-120"/>
              </a:rPr>
              <a:t>Never cut: </a:t>
            </a:r>
            <a:pPr indent="0" marL="0">
              <a:buNone/>
            </a:pPr>
            <a:r>
              <a:rPr lang="en-US" sz="1050" dirty="0">
                <a:solidFill>
                  <a:srgbClr val="6B665C"/>
                </a:solidFill>
                <a:latin typeface="Arial" pitchFamily="34" charset="0"/>
                <a:ea typeface="Arial" pitchFamily="34" charset="-122"/>
                <a:cs typeface="Arial" pitchFamily="34" charset="-120"/>
              </a:rPr>
              <a:t>both model families, all three step counts, cross-device timing.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457200" y="292608"/>
            <a:ext cx="5486400" cy="201168"/>
          </a:xfrm>
          <a:prstGeom prst="rect">
            <a:avLst/>
          </a:prstGeom>
          <a:noFill/>
          <a:ln/>
        </p:spPr>
        <p:txBody>
          <a:bodyPr wrap="square" lIns="0" tIns="0" rIns="0" bIns="0" rtlCol="0" anchor="t"/>
          <a:lstStyle/>
          <a:p>
            <a:pPr indent="0" marL="0">
              <a:buNone/>
            </a:pPr>
            <a:r>
              <a:rPr lang="en-US" sz="900" dirty="0">
                <a:solidFill>
                  <a:srgbClr val="D9482B"/>
                </a:solidFill>
                <a:latin typeface="Courier New" pitchFamily="34" charset="0"/>
                <a:ea typeface="Courier New" pitchFamily="34" charset="-122"/>
                <a:cs typeface="Courier New" pitchFamily="34" charset="-120"/>
              </a:rPr>
              <a:t>09  /  SCHEDULE</a:t>
            </a:r>
            <a:endParaRPr lang="en-US" sz="900" dirty="0"/>
          </a:p>
        </p:txBody>
      </p:sp>
      <p:sp>
        <p:nvSpPr>
          <p:cNvPr id="3" name="Text 1"/>
          <p:cNvSpPr/>
          <p:nvPr/>
        </p:nvSpPr>
        <p:spPr>
          <a:xfrm>
            <a:off x="457200" y="530352"/>
            <a:ext cx="8229600" cy="566928"/>
          </a:xfrm>
          <a:prstGeom prst="rect">
            <a:avLst/>
          </a:prstGeom>
          <a:noFill/>
          <a:ln/>
        </p:spPr>
        <p:txBody>
          <a:bodyPr wrap="square" lIns="0" tIns="0" rIns="0" bIns="0" rtlCol="0" anchor="ctr"/>
          <a:lstStyle/>
          <a:p>
            <a:pPr indent="0" marL="0">
              <a:buNone/>
            </a:pPr>
            <a:r>
              <a:rPr lang="en-US" sz="2500" dirty="0">
                <a:solidFill>
                  <a:srgbClr val="1C1B19"/>
                </a:solidFill>
                <a:latin typeface="Georgia" pitchFamily="34" charset="0"/>
                <a:ea typeface="Georgia" pitchFamily="34" charset="-122"/>
                <a:cs typeface="Georgia" pitchFamily="34" charset="-120"/>
              </a:rPr>
              <a:t>Thirteen weeks, measurement harness first</a:t>
            </a:r>
            <a:endParaRPr lang="en-US" sz="2500" dirty="0"/>
          </a:p>
        </p:txBody>
      </p:sp>
      <p:sp>
        <p:nvSpPr>
          <p:cNvPr id="4" name="Shape 2"/>
          <p:cNvSpPr/>
          <p:nvPr/>
        </p:nvSpPr>
        <p:spPr>
          <a:xfrm>
            <a:off x="457200" y="1207008"/>
            <a:ext cx="8229600" cy="0"/>
          </a:xfrm>
          <a:prstGeom prst="line">
            <a:avLst/>
          </a:prstGeom>
          <a:noFill/>
          <a:ln w="9525">
            <a:solidFill>
              <a:srgbClr val="1C1B19"/>
            </a:solidFill>
            <a:prstDash val="solid"/>
          </a:ln>
        </p:spPr>
      </p:sp>
      <p:sp>
        <p:nvSpPr>
          <p:cNvPr id="5" name="Shape 3"/>
          <p:cNvSpPr/>
          <p:nvPr/>
        </p:nvSpPr>
        <p:spPr>
          <a:xfrm>
            <a:off x="457200" y="4736592"/>
            <a:ext cx="8229600" cy="0"/>
          </a:xfrm>
          <a:prstGeom prst="line">
            <a:avLst/>
          </a:prstGeom>
          <a:noFill/>
          <a:ln w="6350">
            <a:solidFill>
              <a:srgbClr val="C9C2B4"/>
            </a:solidFill>
            <a:prstDash val="solid"/>
          </a:ln>
        </p:spPr>
      </p:sp>
      <p:sp>
        <p:nvSpPr>
          <p:cNvPr id="6" name="Text 4"/>
          <p:cNvSpPr/>
          <p:nvPr/>
        </p:nvSpPr>
        <p:spPr>
          <a:xfrm>
            <a:off x="457200" y="4791456"/>
            <a:ext cx="5486400" cy="182880"/>
          </a:xfrm>
          <a:prstGeom prst="rect">
            <a:avLst/>
          </a:prstGeom>
          <a:noFill/>
          <a:ln/>
        </p:spPr>
        <p:txBody>
          <a:bodyPr wrap="square" lIns="0" tIns="0" rIns="0" bIns="0" rtlCol="0" anchor="t"/>
          <a:lstStyle/>
          <a:p>
            <a:pPr indent="0" marL="0">
              <a:buNone/>
            </a:pPr>
            <a:r>
              <a:rPr lang="en-US" sz="750" dirty="0">
                <a:solidFill>
                  <a:srgbClr val="6B665C"/>
                </a:solidFill>
                <a:latin typeface="Courier New" pitchFamily="34" charset="0"/>
                <a:ea typeface="Courier New" pitchFamily="34" charset="-122"/>
                <a:cs typeface="Courier New" pitchFamily="34" charset="-120"/>
              </a:rPr>
              <a:t>ZAKYNTHINOS — ADVANCED TOPICS IN AI — PROPOSAL</a:t>
            </a:r>
            <a:endParaRPr lang="en-US" sz="750" dirty="0"/>
          </a:p>
        </p:txBody>
      </p:sp>
      <p:sp>
        <p:nvSpPr>
          <p:cNvPr id="7" name="Text 5"/>
          <p:cNvSpPr/>
          <p:nvPr/>
        </p:nvSpPr>
        <p:spPr>
          <a:xfrm>
            <a:off x="7772400" y="4791456"/>
            <a:ext cx="914400" cy="182880"/>
          </a:xfrm>
          <a:prstGeom prst="rect">
            <a:avLst/>
          </a:prstGeom>
          <a:noFill/>
          <a:ln/>
        </p:spPr>
        <p:txBody>
          <a:bodyPr wrap="square" lIns="0" tIns="0" rIns="0" bIns="0" rtlCol="0" anchor="t"/>
          <a:lstStyle/>
          <a:p>
            <a:pPr algn="r" indent="0" marL="0">
              <a:buNone/>
            </a:pPr>
            <a:r>
              <a:rPr lang="en-US" sz="750" dirty="0">
                <a:solidFill>
                  <a:srgbClr val="6B665C"/>
                </a:solidFill>
                <a:latin typeface="Courier New" pitchFamily="34" charset="0"/>
                <a:ea typeface="Courier New" pitchFamily="34" charset="-122"/>
                <a:cs typeface="Courier New" pitchFamily="34" charset="-120"/>
              </a:rPr>
              <a:t>09 / 10</a:t>
            </a:r>
            <a:endParaRPr lang="en-US" sz="750" dirty="0"/>
          </a:p>
        </p:txBody>
      </p:sp>
      <p:sp>
        <p:nvSpPr>
          <p:cNvPr id="8" name="Text 6"/>
          <p:cNvSpPr/>
          <p:nvPr/>
        </p:nvSpPr>
        <p:spPr>
          <a:xfrm>
            <a:off x="2514600"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1</a:t>
            </a:r>
            <a:endParaRPr lang="en-US" sz="800" dirty="0"/>
          </a:p>
        </p:txBody>
      </p:sp>
      <p:sp>
        <p:nvSpPr>
          <p:cNvPr id="9" name="Shape 7"/>
          <p:cNvSpPr/>
          <p:nvPr/>
        </p:nvSpPr>
        <p:spPr>
          <a:xfrm>
            <a:off x="2514600" y="1691640"/>
            <a:ext cx="0" cy="2926080"/>
          </a:xfrm>
          <a:prstGeom prst="line">
            <a:avLst/>
          </a:prstGeom>
          <a:noFill/>
          <a:ln w="6350">
            <a:solidFill>
              <a:srgbClr val="E4DED1"/>
            </a:solidFill>
            <a:prstDash val="solid"/>
          </a:ln>
        </p:spPr>
      </p:sp>
      <p:sp>
        <p:nvSpPr>
          <p:cNvPr id="10" name="Text 8"/>
          <p:cNvSpPr/>
          <p:nvPr/>
        </p:nvSpPr>
        <p:spPr>
          <a:xfrm>
            <a:off x="2989385"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2</a:t>
            </a:r>
            <a:endParaRPr lang="en-US" sz="800" dirty="0"/>
          </a:p>
        </p:txBody>
      </p:sp>
      <p:sp>
        <p:nvSpPr>
          <p:cNvPr id="11" name="Shape 9"/>
          <p:cNvSpPr/>
          <p:nvPr/>
        </p:nvSpPr>
        <p:spPr>
          <a:xfrm>
            <a:off x="2989385" y="1691640"/>
            <a:ext cx="0" cy="2926080"/>
          </a:xfrm>
          <a:prstGeom prst="line">
            <a:avLst/>
          </a:prstGeom>
          <a:noFill/>
          <a:ln w="6350">
            <a:solidFill>
              <a:srgbClr val="E4DED1"/>
            </a:solidFill>
            <a:prstDash val="solid"/>
          </a:ln>
        </p:spPr>
      </p:sp>
      <p:sp>
        <p:nvSpPr>
          <p:cNvPr id="12" name="Text 10"/>
          <p:cNvSpPr/>
          <p:nvPr/>
        </p:nvSpPr>
        <p:spPr>
          <a:xfrm>
            <a:off x="3464169"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3</a:t>
            </a:r>
            <a:endParaRPr lang="en-US" sz="800" dirty="0"/>
          </a:p>
        </p:txBody>
      </p:sp>
      <p:sp>
        <p:nvSpPr>
          <p:cNvPr id="13" name="Shape 11"/>
          <p:cNvSpPr/>
          <p:nvPr/>
        </p:nvSpPr>
        <p:spPr>
          <a:xfrm>
            <a:off x="3464169" y="1691640"/>
            <a:ext cx="0" cy="2926080"/>
          </a:xfrm>
          <a:prstGeom prst="line">
            <a:avLst/>
          </a:prstGeom>
          <a:noFill/>
          <a:ln w="6350">
            <a:solidFill>
              <a:srgbClr val="E4DED1"/>
            </a:solidFill>
            <a:prstDash val="solid"/>
          </a:ln>
        </p:spPr>
      </p:sp>
      <p:sp>
        <p:nvSpPr>
          <p:cNvPr id="14" name="Text 12"/>
          <p:cNvSpPr/>
          <p:nvPr/>
        </p:nvSpPr>
        <p:spPr>
          <a:xfrm>
            <a:off x="3938954"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4</a:t>
            </a:r>
            <a:endParaRPr lang="en-US" sz="800" dirty="0"/>
          </a:p>
        </p:txBody>
      </p:sp>
      <p:sp>
        <p:nvSpPr>
          <p:cNvPr id="15" name="Shape 13"/>
          <p:cNvSpPr/>
          <p:nvPr/>
        </p:nvSpPr>
        <p:spPr>
          <a:xfrm>
            <a:off x="3938954" y="1691640"/>
            <a:ext cx="0" cy="2926080"/>
          </a:xfrm>
          <a:prstGeom prst="line">
            <a:avLst/>
          </a:prstGeom>
          <a:noFill/>
          <a:ln w="6350">
            <a:solidFill>
              <a:srgbClr val="E4DED1"/>
            </a:solidFill>
            <a:prstDash val="solid"/>
          </a:ln>
        </p:spPr>
      </p:sp>
      <p:sp>
        <p:nvSpPr>
          <p:cNvPr id="16" name="Text 14"/>
          <p:cNvSpPr/>
          <p:nvPr/>
        </p:nvSpPr>
        <p:spPr>
          <a:xfrm>
            <a:off x="4413738"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5</a:t>
            </a:r>
            <a:endParaRPr lang="en-US" sz="800" dirty="0"/>
          </a:p>
        </p:txBody>
      </p:sp>
      <p:sp>
        <p:nvSpPr>
          <p:cNvPr id="17" name="Shape 15"/>
          <p:cNvSpPr/>
          <p:nvPr/>
        </p:nvSpPr>
        <p:spPr>
          <a:xfrm>
            <a:off x="4413738" y="1691640"/>
            <a:ext cx="0" cy="2926080"/>
          </a:xfrm>
          <a:prstGeom prst="line">
            <a:avLst/>
          </a:prstGeom>
          <a:noFill/>
          <a:ln w="6350">
            <a:solidFill>
              <a:srgbClr val="E4DED1"/>
            </a:solidFill>
            <a:prstDash val="solid"/>
          </a:ln>
        </p:spPr>
      </p:sp>
      <p:sp>
        <p:nvSpPr>
          <p:cNvPr id="18" name="Text 16"/>
          <p:cNvSpPr/>
          <p:nvPr/>
        </p:nvSpPr>
        <p:spPr>
          <a:xfrm>
            <a:off x="4888523"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6</a:t>
            </a:r>
            <a:endParaRPr lang="en-US" sz="800" dirty="0"/>
          </a:p>
        </p:txBody>
      </p:sp>
      <p:sp>
        <p:nvSpPr>
          <p:cNvPr id="19" name="Shape 17"/>
          <p:cNvSpPr/>
          <p:nvPr/>
        </p:nvSpPr>
        <p:spPr>
          <a:xfrm>
            <a:off x="4888523" y="1691640"/>
            <a:ext cx="0" cy="2926080"/>
          </a:xfrm>
          <a:prstGeom prst="line">
            <a:avLst/>
          </a:prstGeom>
          <a:noFill/>
          <a:ln w="6350">
            <a:solidFill>
              <a:srgbClr val="E4DED1"/>
            </a:solidFill>
            <a:prstDash val="solid"/>
          </a:ln>
        </p:spPr>
      </p:sp>
      <p:sp>
        <p:nvSpPr>
          <p:cNvPr id="20" name="Text 18"/>
          <p:cNvSpPr/>
          <p:nvPr/>
        </p:nvSpPr>
        <p:spPr>
          <a:xfrm>
            <a:off x="5363308"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7</a:t>
            </a:r>
            <a:endParaRPr lang="en-US" sz="800" dirty="0"/>
          </a:p>
        </p:txBody>
      </p:sp>
      <p:sp>
        <p:nvSpPr>
          <p:cNvPr id="21" name="Shape 19"/>
          <p:cNvSpPr/>
          <p:nvPr/>
        </p:nvSpPr>
        <p:spPr>
          <a:xfrm>
            <a:off x="5363308" y="1691640"/>
            <a:ext cx="0" cy="2926080"/>
          </a:xfrm>
          <a:prstGeom prst="line">
            <a:avLst/>
          </a:prstGeom>
          <a:noFill/>
          <a:ln w="6350">
            <a:solidFill>
              <a:srgbClr val="E4DED1"/>
            </a:solidFill>
            <a:prstDash val="solid"/>
          </a:ln>
        </p:spPr>
      </p:sp>
      <p:sp>
        <p:nvSpPr>
          <p:cNvPr id="22" name="Text 20"/>
          <p:cNvSpPr/>
          <p:nvPr/>
        </p:nvSpPr>
        <p:spPr>
          <a:xfrm>
            <a:off x="5838092"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8</a:t>
            </a:r>
            <a:endParaRPr lang="en-US" sz="800" dirty="0"/>
          </a:p>
        </p:txBody>
      </p:sp>
      <p:sp>
        <p:nvSpPr>
          <p:cNvPr id="23" name="Shape 21"/>
          <p:cNvSpPr/>
          <p:nvPr/>
        </p:nvSpPr>
        <p:spPr>
          <a:xfrm>
            <a:off x="5838092" y="1691640"/>
            <a:ext cx="0" cy="2926080"/>
          </a:xfrm>
          <a:prstGeom prst="line">
            <a:avLst/>
          </a:prstGeom>
          <a:noFill/>
          <a:ln w="6350">
            <a:solidFill>
              <a:srgbClr val="E4DED1"/>
            </a:solidFill>
            <a:prstDash val="solid"/>
          </a:ln>
        </p:spPr>
      </p:sp>
      <p:sp>
        <p:nvSpPr>
          <p:cNvPr id="24" name="Text 22"/>
          <p:cNvSpPr/>
          <p:nvPr/>
        </p:nvSpPr>
        <p:spPr>
          <a:xfrm>
            <a:off x="6312877"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9</a:t>
            </a:r>
            <a:endParaRPr lang="en-US" sz="800" dirty="0"/>
          </a:p>
        </p:txBody>
      </p:sp>
      <p:sp>
        <p:nvSpPr>
          <p:cNvPr id="25" name="Shape 23"/>
          <p:cNvSpPr/>
          <p:nvPr/>
        </p:nvSpPr>
        <p:spPr>
          <a:xfrm>
            <a:off x="6312877" y="1691640"/>
            <a:ext cx="0" cy="2926080"/>
          </a:xfrm>
          <a:prstGeom prst="line">
            <a:avLst/>
          </a:prstGeom>
          <a:noFill/>
          <a:ln w="6350">
            <a:solidFill>
              <a:srgbClr val="E4DED1"/>
            </a:solidFill>
            <a:prstDash val="solid"/>
          </a:ln>
        </p:spPr>
      </p:sp>
      <p:sp>
        <p:nvSpPr>
          <p:cNvPr id="26" name="Text 24"/>
          <p:cNvSpPr/>
          <p:nvPr/>
        </p:nvSpPr>
        <p:spPr>
          <a:xfrm>
            <a:off x="6787662"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10</a:t>
            </a:r>
            <a:endParaRPr lang="en-US" sz="800" dirty="0"/>
          </a:p>
        </p:txBody>
      </p:sp>
      <p:sp>
        <p:nvSpPr>
          <p:cNvPr id="27" name="Shape 25"/>
          <p:cNvSpPr/>
          <p:nvPr/>
        </p:nvSpPr>
        <p:spPr>
          <a:xfrm>
            <a:off x="6787662" y="1691640"/>
            <a:ext cx="0" cy="2926080"/>
          </a:xfrm>
          <a:prstGeom prst="line">
            <a:avLst/>
          </a:prstGeom>
          <a:noFill/>
          <a:ln w="6350">
            <a:solidFill>
              <a:srgbClr val="E4DED1"/>
            </a:solidFill>
            <a:prstDash val="solid"/>
          </a:ln>
        </p:spPr>
      </p:sp>
      <p:sp>
        <p:nvSpPr>
          <p:cNvPr id="28" name="Text 26"/>
          <p:cNvSpPr/>
          <p:nvPr/>
        </p:nvSpPr>
        <p:spPr>
          <a:xfrm>
            <a:off x="7262446"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11</a:t>
            </a:r>
            <a:endParaRPr lang="en-US" sz="800" dirty="0"/>
          </a:p>
        </p:txBody>
      </p:sp>
      <p:sp>
        <p:nvSpPr>
          <p:cNvPr id="29" name="Shape 27"/>
          <p:cNvSpPr/>
          <p:nvPr/>
        </p:nvSpPr>
        <p:spPr>
          <a:xfrm>
            <a:off x="7262446" y="1691640"/>
            <a:ext cx="0" cy="2926080"/>
          </a:xfrm>
          <a:prstGeom prst="line">
            <a:avLst/>
          </a:prstGeom>
          <a:noFill/>
          <a:ln w="6350">
            <a:solidFill>
              <a:srgbClr val="E4DED1"/>
            </a:solidFill>
            <a:prstDash val="solid"/>
          </a:ln>
        </p:spPr>
      </p:sp>
      <p:sp>
        <p:nvSpPr>
          <p:cNvPr id="30" name="Text 28"/>
          <p:cNvSpPr/>
          <p:nvPr/>
        </p:nvSpPr>
        <p:spPr>
          <a:xfrm>
            <a:off x="7737231"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12</a:t>
            </a:r>
            <a:endParaRPr lang="en-US" sz="800" dirty="0"/>
          </a:p>
        </p:txBody>
      </p:sp>
      <p:sp>
        <p:nvSpPr>
          <p:cNvPr id="31" name="Shape 29"/>
          <p:cNvSpPr/>
          <p:nvPr/>
        </p:nvSpPr>
        <p:spPr>
          <a:xfrm>
            <a:off x="7737231" y="1691640"/>
            <a:ext cx="0" cy="2926080"/>
          </a:xfrm>
          <a:prstGeom prst="line">
            <a:avLst/>
          </a:prstGeom>
          <a:noFill/>
          <a:ln w="6350">
            <a:solidFill>
              <a:srgbClr val="E4DED1"/>
            </a:solidFill>
            <a:prstDash val="solid"/>
          </a:ln>
        </p:spPr>
      </p:sp>
      <p:sp>
        <p:nvSpPr>
          <p:cNvPr id="32" name="Text 30"/>
          <p:cNvSpPr/>
          <p:nvPr/>
        </p:nvSpPr>
        <p:spPr>
          <a:xfrm>
            <a:off x="8212015" y="1417320"/>
            <a:ext cx="474785" cy="201168"/>
          </a:xfrm>
          <a:prstGeom prst="rect">
            <a:avLst/>
          </a:prstGeom>
          <a:noFill/>
          <a:ln/>
        </p:spPr>
        <p:txBody>
          <a:bodyPr wrap="square" lIns="0" tIns="0" rIns="0" bIns="0" rtlCol="0" anchor="t"/>
          <a:lstStyle/>
          <a:p>
            <a:pPr algn="ctr" indent="0" marL="0">
              <a:buNone/>
            </a:pPr>
            <a:r>
              <a:rPr lang="en-US" sz="800" dirty="0">
                <a:solidFill>
                  <a:srgbClr val="6B665C"/>
                </a:solidFill>
                <a:latin typeface="Courier New" pitchFamily="34" charset="0"/>
                <a:ea typeface="Courier New" pitchFamily="34" charset="-122"/>
                <a:cs typeface="Courier New" pitchFamily="34" charset="-120"/>
              </a:rPr>
              <a:t>13</a:t>
            </a:r>
            <a:endParaRPr lang="en-US" sz="800" dirty="0"/>
          </a:p>
        </p:txBody>
      </p:sp>
      <p:sp>
        <p:nvSpPr>
          <p:cNvPr id="33" name="Shape 31"/>
          <p:cNvSpPr/>
          <p:nvPr/>
        </p:nvSpPr>
        <p:spPr>
          <a:xfrm>
            <a:off x="8212015" y="1691640"/>
            <a:ext cx="0" cy="2926080"/>
          </a:xfrm>
          <a:prstGeom prst="line">
            <a:avLst/>
          </a:prstGeom>
          <a:noFill/>
          <a:ln w="6350">
            <a:solidFill>
              <a:srgbClr val="E4DED1"/>
            </a:solidFill>
            <a:prstDash val="solid"/>
          </a:ln>
        </p:spPr>
      </p:sp>
      <p:sp>
        <p:nvSpPr>
          <p:cNvPr id="34" name="Shape 32"/>
          <p:cNvSpPr/>
          <p:nvPr/>
        </p:nvSpPr>
        <p:spPr>
          <a:xfrm>
            <a:off x="8686800" y="1691640"/>
            <a:ext cx="0" cy="2926080"/>
          </a:xfrm>
          <a:prstGeom prst="line">
            <a:avLst/>
          </a:prstGeom>
          <a:noFill/>
          <a:ln w="6350">
            <a:solidFill>
              <a:srgbClr val="E4DED1"/>
            </a:solidFill>
            <a:prstDash val="solid"/>
          </a:ln>
        </p:spPr>
      </p:sp>
      <p:sp>
        <p:nvSpPr>
          <p:cNvPr id="35" name="Text 33"/>
          <p:cNvSpPr/>
          <p:nvPr/>
        </p:nvSpPr>
        <p:spPr>
          <a:xfrm>
            <a:off x="457200" y="1783080"/>
            <a:ext cx="2011680" cy="201168"/>
          </a:xfrm>
          <a:prstGeom prst="rect">
            <a:avLst/>
          </a:prstGeom>
          <a:noFill/>
          <a:ln/>
        </p:spPr>
        <p:txBody>
          <a:bodyPr wrap="square" lIns="0" tIns="0" rIns="0" bIns="0" rtlCol="0" anchor="t"/>
          <a:lstStyle/>
          <a:p>
            <a:pPr indent="0" marL="0">
              <a:buNone/>
            </a:pPr>
            <a:r>
              <a:rPr lang="en-US" sz="1150" dirty="0">
                <a:solidFill>
                  <a:srgbClr val="1C1B19"/>
                </a:solidFill>
                <a:latin typeface="Georgia" pitchFamily="34" charset="0"/>
                <a:ea typeface="Georgia" pitchFamily="34" charset="-122"/>
                <a:cs typeface="Georgia" pitchFamily="34" charset="-120"/>
              </a:rPr>
              <a:t>Setup</a:t>
            </a:r>
            <a:endParaRPr lang="en-US" sz="1150" dirty="0"/>
          </a:p>
        </p:txBody>
      </p:sp>
      <p:sp>
        <p:nvSpPr>
          <p:cNvPr id="36" name="Text 34"/>
          <p:cNvSpPr/>
          <p:nvPr/>
        </p:nvSpPr>
        <p:spPr>
          <a:xfrm>
            <a:off x="457200" y="1975104"/>
            <a:ext cx="2011680" cy="182880"/>
          </a:xfrm>
          <a:prstGeom prst="rect">
            <a:avLst/>
          </a:prstGeom>
          <a:noFill/>
          <a:ln/>
        </p:spPr>
        <p:txBody>
          <a:bodyPr wrap="square" lIns="0" tIns="0" rIns="0" bIns="0" rtlCol="0" anchor="t"/>
          <a:lstStyle/>
          <a:p>
            <a:pPr indent="0" marL="0">
              <a:buNone/>
            </a:pPr>
            <a:r>
              <a:rPr lang="en-US" sz="850" dirty="0">
                <a:solidFill>
                  <a:srgbClr val="6B665C"/>
                </a:solidFill>
                <a:latin typeface="Arial" pitchFamily="34" charset="0"/>
                <a:ea typeface="Arial" pitchFamily="34" charset="-122"/>
                <a:cs typeface="Arial" pitchFamily="34" charset="-120"/>
              </a:rPr>
              <a:t>checkpoints, env, protocol</a:t>
            </a:r>
            <a:endParaRPr lang="en-US" sz="850" dirty="0"/>
          </a:p>
        </p:txBody>
      </p:sp>
      <p:sp>
        <p:nvSpPr>
          <p:cNvPr id="37" name="Shape 35"/>
          <p:cNvSpPr/>
          <p:nvPr/>
        </p:nvSpPr>
        <p:spPr>
          <a:xfrm>
            <a:off x="2542032" y="1828800"/>
            <a:ext cx="894705" cy="274320"/>
          </a:xfrm>
          <a:prstGeom prst="rect">
            <a:avLst/>
          </a:prstGeom>
          <a:solidFill>
            <a:srgbClr val="1C1B19"/>
          </a:solidFill>
          <a:ln w="12700">
            <a:solidFill>
              <a:srgbClr val="1C1B19"/>
            </a:solidFill>
            <a:prstDash val="solid"/>
          </a:ln>
        </p:spPr>
      </p:sp>
      <p:sp>
        <p:nvSpPr>
          <p:cNvPr id="38" name="Text 36"/>
          <p:cNvSpPr/>
          <p:nvPr/>
        </p:nvSpPr>
        <p:spPr>
          <a:xfrm>
            <a:off x="457200" y="2240280"/>
            <a:ext cx="2011680" cy="201168"/>
          </a:xfrm>
          <a:prstGeom prst="rect">
            <a:avLst/>
          </a:prstGeom>
          <a:noFill/>
          <a:ln/>
        </p:spPr>
        <p:txBody>
          <a:bodyPr wrap="square" lIns="0" tIns="0" rIns="0" bIns="0" rtlCol="0" anchor="t"/>
          <a:lstStyle/>
          <a:p>
            <a:pPr indent="0" marL="0">
              <a:buNone/>
            </a:pPr>
            <a:r>
              <a:rPr lang="en-US" sz="1150" dirty="0">
                <a:solidFill>
                  <a:srgbClr val="1C1B19"/>
                </a:solidFill>
                <a:latin typeface="Georgia" pitchFamily="34" charset="0"/>
                <a:ea typeface="Georgia" pitchFamily="34" charset="-122"/>
                <a:cs typeface="Georgia" pitchFamily="34" charset="-120"/>
              </a:rPr>
              <a:t>Harness</a:t>
            </a:r>
            <a:endParaRPr lang="en-US" sz="1150" dirty="0"/>
          </a:p>
        </p:txBody>
      </p:sp>
      <p:sp>
        <p:nvSpPr>
          <p:cNvPr id="39" name="Text 37"/>
          <p:cNvSpPr/>
          <p:nvPr/>
        </p:nvSpPr>
        <p:spPr>
          <a:xfrm>
            <a:off x="457200" y="2432304"/>
            <a:ext cx="2011680" cy="182880"/>
          </a:xfrm>
          <a:prstGeom prst="rect">
            <a:avLst/>
          </a:prstGeom>
          <a:noFill/>
          <a:ln/>
        </p:spPr>
        <p:txBody>
          <a:bodyPr wrap="square" lIns="0" tIns="0" rIns="0" bIns="0" rtlCol="0" anchor="t"/>
          <a:lstStyle/>
          <a:p>
            <a:pPr indent="0" marL="0">
              <a:buNone/>
            </a:pPr>
            <a:r>
              <a:rPr lang="en-US" sz="850" dirty="0">
                <a:solidFill>
                  <a:srgbClr val="6B665C"/>
                </a:solidFill>
                <a:latin typeface="Arial" pitchFamily="34" charset="0"/>
                <a:ea typeface="Arial" pitchFamily="34" charset="-122"/>
                <a:cs typeface="Arial" pitchFamily="34" charset="-120"/>
              </a:rPr>
              <a:t>timing, memory, energy</a:t>
            </a:r>
            <a:endParaRPr lang="en-US" sz="850" dirty="0"/>
          </a:p>
        </p:txBody>
      </p:sp>
      <p:sp>
        <p:nvSpPr>
          <p:cNvPr id="40" name="Shape 38"/>
          <p:cNvSpPr/>
          <p:nvPr/>
        </p:nvSpPr>
        <p:spPr>
          <a:xfrm>
            <a:off x="3491601" y="2286000"/>
            <a:ext cx="894705" cy="274320"/>
          </a:xfrm>
          <a:prstGeom prst="rect">
            <a:avLst/>
          </a:prstGeom>
          <a:solidFill>
            <a:srgbClr val="1C1B19"/>
          </a:solidFill>
          <a:ln w="12700">
            <a:solidFill>
              <a:srgbClr val="1C1B19"/>
            </a:solidFill>
            <a:prstDash val="solid"/>
          </a:ln>
        </p:spPr>
      </p:sp>
      <p:sp>
        <p:nvSpPr>
          <p:cNvPr id="41" name="Text 39"/>
          <p:cNvSpPr/>
          <p:nvPr/>
        </p:nvSpPr>
        <p:spPr>
          <a:xfrm>
            <a:off x="457200" y="2697480"/>
            <a:ext cx="2011680" cy="201168"/>
          </a:xfrm>
          <a:prstGeom prst="rect">
            <a:avLst/>
          </a:prstGeom>
          <a:noFill/>
          <a:ln/>
        </p:spPr>
        <p:txBody>
          <a:bodyPr wrap="square" lIns="0" tIns="0" rIns="0" bIns="0" rtlCol="0" anchor="t"/>
          <a:lstStyle/>
          <a:p>
            <a:pPr indent="0" marL="0">
              <a:buNone/>
            </a:pPr>
            <a:r>
              <a:rPr lang="en-US" sz="1150" dirty="0">
                <a:solidFill>
                  <a:srgbClr val="1C1B19"/>
                </a:solidFill>
                <a:latin typeface="Georgia" pitchFamily="34" charset="0"/>
                <a:ea typeface="Georgia" pitchFamily="34" charset="-122"/>
                <a:cs typeface="Georgia" pitchFamily="34" charset="-120"/>
              </a:rPr>
              <a:t>Pilot</a:t>
            </a:r>
            <a:endParaRPr lang="en-US" sz="1150" dirty="0"/>
          </a:p>
        </p:txBody>
      </p:sp>
      <p:sp>
        <p:nvSpPr>
          <p:cNvPr id="42" name="Text 40"/>
          <p:cNvSpPr/>
          <p:nvPr/>
        </p:nvSpPr>
        <p:spPr>
          <a:xfrm>
            <a:off x="457200" y="2889504"/>
            <a:ext cx="2011680" cy="182880"/>
          </a:xfrm>
          <a:prstGeom prst="rect">
            <a:avLst/>
          </a:prstGeom>
          <a:noFill/>
          <a:ln/>
        </p:spPr>
        <p:txBody>
          <a:bodyPr wrap="square" lIns="0" tIns="0" rIns="0" bIns="0" rtlCol="0" anchor="t"/>
          <a:lstStyle/>
          <a:p>
            <a:pPr indent="0" marL="0">
              <a:buNone/>
            </a:pPr>
            <a:r>
              <a:rPr lang="en-US" sz="850" dirty="0">
                <a:solidFill>
                  <a:srgbClr val="6B665C"/>
                </a:solidFill>
                <a:latin typeface="Arial" pitchFamily="34" charset="0"/>
                <a:ea typeface="Arial" pitchFamily="34" charset="-122"/>
                <a:cs typeface="Arial" pitchFamily="34" charset="-120"/>
              </a:rPr>
              <a:t>2k images, FID, frontier</a:t>
            </a:r>
            <a:endParaRPr lang="en-US" sz="850" dirty="0"/>
          </a:p>
        </p:txBody>
      </p:sp>
      <p:sp>
        <p:nvSpPr>
          <p:cNvPr id="43" name="Shape 41"/>
          <p:cNvSpPr/>
          <p:nvPr/>
        </p:nvSpPr>
        <p:spPr>
          <a:xfrm>
            <a:off x="4441170" y="2743200"/>
            <a:ext cx="1369490" cy="274320"/>
          </a:xfrm>
          <a:prstGeom prst="rect">
            <a:avLst/>
          </a:prstGeom>
          <a:solidFill>
            <a:srgbClr val="2F5D62"/>
          </a:solidFill>
          <a:ln w="12700">
            <a:solidFill>
              <a:srgbClr val="2F5D62"/>
            </a:solidFill>
            <a:prstDash val="solid"/>
          </a:ln>
        </p:spPr>
      </p:sp>
      <p:sp>
        <p:nvSpPr>
          <p:cNvPr id="44" name="Text 42"/>
          <p:cNvSpPr/>
          <p:nvPr/>
        </p:nvSpPr>
        <p:spPr>
          <a:xfrm>
            <a:off x="457200" y="3154680"/>
            <a:ext cx="2011680" cy="201168"/>
          </a:xfrm>
          <a:prstGeom prst="rect">
            <a:avLst/>
          </a:prstGeom>
          <a:noFill/>
          <a:ln/>
        </p:spPr>
        <p:txBody>
          <a:bodyPr wrap="square" lIns="0" tIns="0" rIns="0" bIns="0" rtlCol="0" anchor="t"/>
          <a:lstStyle/>
          <a:p>
            <a:pPr indent="0" marL="0">
              <a:buNone/>
            </a:pPr>
            <a:r>
              <a:rPr lang="en-US" sz="1150" dirty="0">
                <a:solidFill>
                  <a:srgbClr val="1C1B19"/>
                </a:solidFill>
                <a:latin typeface="Georgia" pitchFamily="34" charset="0"/>
                <a:ea typeface="Georgia" pitchFamily="34" charset="-122"/>
                <a:cs typeface="Georgia" pitchFamily="34" charset="-120"/>
              </a:rPr>
              <a:t>Cross-device</a:t>
            </a:r>
            <a:endParaRPr lang="en-US" sz="1150" dirty="0"/>
          </a:p>
        </p:txBody>
      </p:sp>
      <p:sp>
        <p:nvSpPr>
          <p:cNvPr id="45" name="Text 43"/>
          <p:cNvSpPr/>
          <p:nvPr/>
        </p:nvSpPr>
        <p:spPr>
          <a:xfrm>
            <a:off x="457200" y="3346704"/>
            <a:ext cx="2011680" cy="182880"/>
          </a:xfrm>
          <a:prstGeom prst="rect">
            <a:avLst/>
          </a:prstGeom>
          <a:noFill/>
          <a:ln/>
        </p:spPr>
        <p:txBody>
          <a:bodyPr wrap="square" lIns="0" tIns="0" rIns="0" bIns="0" rtlCol="0" anchor="t"/>
          <a:lstStyle/>
          <a:p>
            <a:pPr indent="0" marL="0">
              <a:buNone/>
            </a:pPr>
            <a:r>
              <a:rPr lang="en-US" sz="850" dirty="0">
                <a:solidFill>
                  <a:srgbClr val="6B665C"/>
                </a:solidFill>
                <a:latin typeface="Arial" pitchFamily="34" charset="0"/>
                <a:ea typeface="Arial" pitchFamily="34" charset="-122"/>
                <a:cs typeface="Arial" pitchFamily="34" charset="-120"/>
              </a:rPr>
              <a:t>T4 + GH200 sweeps</a:t>
            </a:r>
            <a:endParaRPr lang="en-US" sz="850" dirty="0"/>
          </a:p>
        </p:txBody>
      </p:sp>
      <p:sp>
        <p:nvSpPr>
          <p:cNvPr id="46" name="Shape 44"/>
          <p:cNvSpPr/>
          <p:nvPr/>
        </p:nvSpPr>
        <p:spPr>
          <a:xfrm>
            <a:off x="5865524" y="3200400"/>
            <a:ext cx="894705" cy="274320"/>
          </a:xfrm>
          <a:prstGeom prst="rect">
            <a:avLst/>
          </a:prstGeom>
          <a:solidFill>
            <a:srgbClr val="D9482B"/>
          </a:solidFill>
          <a:ln w="12700">
            <a:solidFill>
              <a:srgbClr val="D9482B"/>
            </a:solidFill>
            <a:prstDash val="solid"/>
          </a:ln>
        </p:spPr>
      </p:sp>
      <p:sp>
        <p:nvSpPr>
          <p:cNvPr id="47" name="Text 45"/>
          <p:cNvSpPr/>
          <p:nvPr/>
        </p:nvSpPr>
        <p:spPr>
          <a:xfrm>
            <a:off x="457200" y="3611880"/>
            <a:ext cx="2011680" cy="201168"/>
          </a:xfrm>
          <a:prstGeom prst="rect">
            <a:avLst/>
          </a:prstGeom>
          <a:noFill/>
          <a:ln/>
        </p:spPr>
        <p:txBody>
          <a:bodyPr wrap="square" lIns="0" tIns="0" rIns="0" bIns="0" rtlCol="0" anchor="t"/>
          <a:lstStyle/>
          <a:p>
            <a:pPr indent="0" marL="0">
              <a:buNone/>
            </a:pPr>
            <a:r>
              <a:rPr lang="en-US" sz="1150" dirty="0">
                <a:solidFill>
                  <a:srgbClr val="1C1B19"/>
                </a:solidFill>
                <a:latin typeface="Georgia" pitchFamily="34" charset="0"/>
                <a:ea typeface="Georgia" pitchFamily="34" charset="-122"/>
                <a:cs typeface="Georgia" pitchFamily="34" charset="-120"/>
              </a:rPr>
              <a:t>Confirm</a:t>
            </a:r>
            <a:endParaRPr lang="en-US" sz="1150" dirty="0"/>
          </a:p>
        </p:txBody>
      </p:sp>
      <p:sp>
        <p:nvSpPr>
          <p:cNvPr id="48" name="Text 46"/>
          <p:cNvSpPr/>
          <p:nvPr/>
        </p:nvSpPr>
        <p:spPr>
          <a:xfrm>
            <a:off x="457200" y="3803904"/>
            <a:ext cx="2011680" cy="182880"/>
          </a:xfrm>
          <a:prstGeom prst="rect">
            <a:avLst/>
          </a:prstGeom>
          <a:noFill/>
          <a:ln/>
        </p:spPr>
        <p:txBody>
          <a:bodyPr wrap="square" lIns="0" tIns="0" rIns="0" bIns="0" rtlCol="0" anchor="t"/>
          <a:lstStyle/>
          <a:p>
            <a:pPr indent="0" marL="0">
              <a:buNone/>
            </a:pPr>
            <a:r>
              <a:rPr lang="en-US" sz="850" dirty="0">
                <a:solidFill>
                  <a:srgbClr val="6B665C"/>
                </a:solidFill>
                <a:latin typeface="Arial" pitchFamily="34" charset="0"/>
                <a:ea typeface="Arial" pitchFamily="34" charset="-122"/>
                <a:cs typeface="Arial" pitchFamily="34" charset="-120"/>
              </a:rPr>
              <a:t>10k × 3 seeds</a:t>
            </a:r>
            <a:endParaRPr lang="en-US" sz="850" dirty="0"/>
          </a:p>
        </p:txBody>
      </p:sp>
      <p:sp>
        <p:nvSpPr>
          <p:cNvPr id="49" name="Shape 47"/>
          <p:cNvSpPr/>
          <p:nvPr/>
        </p:nvSpPr>
        <p:spPr>
          <a:xfrm>
            <a:off x="6815094" y="3657600"/>
            <a:ext cx="894705" cy="274320"/>
          </a:xfrm>
          <a:prstGeom prst="rect">
            <a:avLst/>
          </a:prstGeom>
          <a:solidFill>
            <a:srgbClr val="2F5D62"/>
          </a:solidFill>
          <a:ln w="12700">
            <a:solidFill>
              <a:srgbClr val="2F5D62"/>
            </a:solidFill>
            <a:prstDash val="solid"/>
          </a:ln>
        </p:spPr>
      </p:sp>
      <p:sp>
        <p:nvSpPr>
          <p:cNvPr id="50" name="Text 48"/>
          <p:cNvSpPr/>
          <p:nvPr/>
        </p:nvSpPr>
        <p:spPr>
          <a:xfrm>
            <a:off x="457200" y="4069080"/>
            <a:ext cx="2011680" cy="201168"/>
          </a:xfrm>
          <a:prstGeom prst="rect">
            <a:avLst/>
          </a:prstGeom>
          <a:noFill/>
          <a:ln/>
        </p:spPr>
        <p:txBody>
          <a:bodyPr wrap="square" lIns="0" tIns="0" rIns="0" bIns="0" rtlCol="0" anchor="t"/>
          <a:lstStyle/>
          <a:p>
            <a:pPr indent="0" marL="0">
              <a:buNone/>
            </a:pPr>
            <a:r>
              <a:rPr lang="en-US" sz="1150" dirty="0">
                <a:solidFill>
                  <a:srgbClr val="1C1B19"/>
                </a:solidFill>
                <a:latin typeface="Georgia" pitchFamily="34" charset="0"/>
                <a:ea typeface="Georgia" pitchFamily="34" charset="-122"/>
                <a:cs typeface="Georgia" pitchFamily="34" charset="-120"/>
              </a:rPr>
              <a:t>Analyze</a:t>
            </a:r>
            <a:endParaRPr lang="en-US" sz="1150" dirty="0"/>
          </a:p>
        </p:txBody>
      </p:sp>
      <p:sp>
        <p:nvSpPr>
          <p:cNvPr id="51" name="Text 49"/>
          <p:cNvSpPr/>
          <p:nvPr/>
        </p:nvSpPr>
        <p:spPr>
          <a:xfrm>
            <a:off x="457200" y="4261104"/>
            <a:ext cx="2011680" cy="182880"/>
          </a:xfrm>
          <a:prstGeom prst="rect">
            <a:avLst/>
          </a:prstGeom>
          <a:noFill/>
          <a:ln/>
        </p:spPr>
        <p:txBody>
          <a:bodyPr wrap="square" lIns="0" tIns="0" rIns="0" bIns="0" rtlCol="0" anchor="t"/>
          <a:lstStyle/>
          <a:p>
            <a:pPr indent="0" marL="0">
              <a:buNone/>
            </a:pPr>
            <a:r>
              <a:rPr lang="en-US" sz="850" dirty="0">
                <a:solidFill>
                  <a:srgbClr val="6B665C"/>
                </a:solidFill>
                <a:latin typeface="Arial" pitchFamily="34" charset="0"/>
                <a:ea typeface="Arial" pitchFamily="34" charset="-122"/>
                <a:cs typeface="Arial" pitchFamily="34" charset="-120"/>
              </a:rPr>
              <a:t>NFE, Pareto, τ, report</a:t>
            </a:r>
            <a:endParaRPr lang="en-US" sz="850" dirty="0"/>
          </a:p>
        </p:txBody>
      </p:sp>
      <p:sp>
        <p:nvSpPr>
          <p:cNvPr id="52" name="Shape 50"/>
          <p:cNvSpPr/>
          <p:nvPr/>
        </p:nvSpPr>
        <p:spPr>
          <a:xfrm>
            <a:off x="7764663" y="4114800"/>
            <a:ext cx="894705" cy="274320"/>
          </a:xfrm>
          <a:prstGeom prst="rect">
            <a:avLst/>
          </a:prstGeom>
          <a:solidFill>
            <a:srgbClr val="1C1B19"/>
          </a:solidFill>
          <a:ln w="12700">
            <a:solidFill>
              <a:srgbClr val="1C1B19"/>
            </a:solidFill>
            <a:prstDash val="solid"/>
          </a:ln>
        </p:spPr>
      </p:sp>
      <p:sp>
        <p:nvSpPr>
          <p:cNvPr id="53" name="Shape 51"/>
          <p:cNvSpPr/>
          <p:nvPr/>
        </p:nvSpPr>
        <p:spPr>
          <a:xfrm>
            <a:off x="4340586" y="4206240"/>
            <a:ext cx="146304" cy="146304"/>
          </a:xfrm>
          <a:prstGeom prst="diamond">
            <a:avLst/>
          </a:prstGeom>
          <a:solidFill>
            <a:srgbClr val="D9482B"/>
          </a:solidFill>
          <a:ln w="12700">
            <a:solidFill>
              <a:srgbClr val="D9482B"/>
            </a:solidFill>
            <a:prstDash val="solid"/>
          </a:ln>
        </p:spPr>
      </p:sp>
      <p:sp>
        <p:nvSpPr>
          <p:cNvPr id="54" name="Text 52"/>
          <p:cNvSpPr/>
          <p:nvPr/>
        </p:nvSpPr>
        <p:spPr>
          <a:xfrm>
            <a:off x="3590778" y="4389120"/>
            <a:ext cx="1645920" cy="182880"/>
          </a:xfrm>
          <a:prstGeom prst="rect">
            <a:avLst/>
          </a:prstGeom>
          <a:noFill/>
          <a:ln/>
        </p:spPr>
        <p:txBody>
          <a:bodyPr wrap="square" lIns="0" tIns="0" rIns="0" bIns="0" rtlCol="0" anchor="t"/>
          <a:lstStyle/>
          <a:p>
            <a:pPr algn="ctr" indent="0" marL="0">
              <a:buNone/>
            </a:pPr>
            <a:r>
              <a:rPr lang="en-US" sz="750" dirty="0">
                <a:solidFill>
                  <a:srgbClr val="6B665C"/>
                </a:solidFill>
                <a:latin typeface="Courier New" pitchFamily="34" charset="0"/>
                <a:ea typeface="Courier New" pitchFamily="34" charset="-122"/>
                <a:cs typeface="Courier New" pitchFamily="34" charset="-120"/>
              </a:rPr>
              <a:t>harness validated</a:t>
            </a:r>
            <a:endParaRPr lang="en-US" sz="750" dirty="0"/>
          </a:p>
        </p:txBody>
      </p:sp>
      <p:sp>
        <p:nvSpPr>
          <p:cNvPr id="55" name="Shape 53"/>
          <p:cNvSpPr/>
          <p:nvPr/>
        </p:nvSpPr>
        <p:spPr>
          <a:xfrm>
            <a:off x="5764940" y="4206240"/>
            <a:ext cx="146304" cy="146304"/>
          </a:xfrm>
          <a:prstGeom prst="diamond">
            <a:avLst/>
          </a:prstGeom>
          <a:solidFill>
            <a:srgbClr val="D9482B"/>
          </a:solidFill>
          <a:ln w="12700">
            <a:solidFill>
              <a:srgbClr val="D9482B"/>
            </a:solidFill>
            <a:prstDash val="solid"/>
          </a:ln>
        </p:spPr>
      </p:sp>
      <p:sp>
        <p:nvSpPr>
          <p:cNvPr id="56" name="Text 54"/>
          <p:cNvSpPr/>
          <p:nvPr/>
        </p:nvSpPr>
        <p:spPr>
          <a:xfrm>
            <a:off x="5015132" y="4389120"/>
            <a:ext cx="1645920" cy="182880"/>
          </a:xfrm>
          <a:prstGeom prst="rect">
            <a:avLst/>
          </a:prstGeom>
          <a:noFill/>
          <a:ln/>
        </p:spPr>
        <p:txBody>
          <a:bodyPr wrap="square" lIns="0" tIns="0" rIns="0" bIns="0" rtlCol="0" anchor="t"/>
          <a:lstStyle/>
          <a:p>
            <a:pPr algn="ctr" indent="0" marL="0">
              <a:buNone/>
            </a:pPr>
            <a:r>
              <a:rPr lang="en-US" sz="750" dirty="0">
                <a:solidFill>
                  <a:srgbClr val="6B665C"/>
                </a:solidFill>
                <a:latin typeface="Courier New" pitchFamily="34" charset="0"/>
                <a:ea typeface="Courier New" pitchFamily="34" charset="-122"/>
                <a:cs typeface="Courier New" pitchFamily="34" charset="-120"/>
              </a:rPr>
              <a:t>pilot frontier</a:t>
            </a:r>
            <a:endParaRPr lang="en-US" sz="750" dirty="0"/>
          </a:p>
        </p:txBody>
      </p:sp>
      <p:sp>
        <p:nvSpPr>
          <p:cNvPr id="57" name="Shape 55"/>
          <p:cNvSpPr/>
          <p:nvPr/>
        </p:nvSpPr>
        <p:spPr>
          <a:xfrm>
            <a:off x="6714510" y="4206240"/>
            <a:ext cx="146304" cy="146304"/>
          </a:xfrm>
          <a:prstGeom prst="diamond">
            <a:avLst/>
          </a:prstGeom>
          <a:solidFill>
            <a:srgbClr val="D9482B"/>
          </a:solidFill>
          <a:ln w="12700">
            <a:solidFill>
              <a:srgbClr val="D9482B"/>
            </a:solidFill>
            <a:prstDash val="solid"/>
          </a:ln>
        </p:spPr>
      </p:sp>
      <p:sp>
        <p:nvSpPr>
          <p:cNvPr id="58" name="Text 56"/>
          <p:cNvSpPr/>
          <p:nvPr/>
        </p:nvSpPr>
        <p:spPr>
          <a:xfrm>
            <a:off x="6467622" y="4544568"/>
            <a:ext cx="1645920" cy="182880"/>
          </a:xfrm>
          <a:prstGeom prst="rect">
            <a:avLst/>
          </a:prstGeom>
          <a:noFill/>
          <a:ln/>
        </p:spPr>
        <p:txBody>
          <a:bodyPr wrap="square" lIns="0" tIns="0" rIns="0" bIns="0" rtlCol="0" anchor="t"/>
          <a:lstStyle/>
          <a:p>
            <a:pPr algn="ctr" indent="0" marL="0">
              <a:buNone/>
            </a:pPr>
            <a:r>
              <a:rPr lang="en-US" sz="750" dirty="0">
                <a:solidFill>
                  <a:srgbClr val="6B665C"/>
                </a:solidFill>
                <a:latin typeface="Courier New" pitchFamily="34" charset="0"/>
                <a:ea typeface="Courier New" pitchFamily="34" charset="-122"/>
                <a:cs typeface="Courier New" pitchFamily="34" charset="-120"/>
              </a:rPr>
              <a:t>cross-device data</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457200" y="411480"/>
            <a:ext cx="5486400" cy="201168"/>
          </a:xfrm>
          <a:prstGeom prst="rect">
            <a:avLst/>
          </a:prstGeom>
          <a:noFill/>
          <a:ln/>
        </p:spPr>
        <p:txBody>
          <a:bodyPr wrap="square" lIns="0" tIns="0" rIns="0" bIns="0" rtlCol="0" anchor="t"/>
          <a:lstStyle/>
          <a:p>
            <a:pPr indent="0" marL="0">
              <a:buNone/>
            </a:pPr>
            <a:r>
              <a:rPr lang="en-US" sz="900" dirty="0">
                <a:solidFill>
                  <a:srgbClr val="D9482B"/>
                </a:solidFill>
                <a:latin typeface="Courier New" pitchFamily="34" charset="0"/>
                <a:ea typeface="Courier New" pitchFamily="34" charset="-122"/>
                <a:cs typeface="Courier New" pitchFamily="34" charset="-120"/>
              </a:rPr>
              <a:t>10  /  EXPECTED CONTRIBUTION</a:t>
            </a:r>
            <a:endParaRPr lang="en-US" sz="900" dirty="0"/>
          </a:p>
        </p:txBody>
      </p:sp>
      <p:sp>
        <p:nvSpPr>
          <p:cNvPr id="3" name="Shape 1"/>
          <p:cNvSpPr/>
          <p:nvPr/>
        </p:nvSpPr>
        <p:spPr>
          <a:xfrm>
            <a:off x="457200" y="914400"/>
            <a:ext cx="8229600" cy="0"/>
          </a:xfrm>
          <a:prstGeom prst="line">
            <a:avLst/>
          </a:prstGeom>
          <a:noFill/>
          <a:ln w="6350">
            <a:solidFill>
              <a:srgbClr val="3A3833"/>
            </a:solidFill>
            <a:prstDash val="solid"/>
          </a:ln>
        </p:spPr>
      </p:sp>
      <p:sp>
        <p:nvSpPr>
          <p:cNvPr id="4" name="Text 2"/>
          <p:cNvSpPr/>
          <p:nvPr/>
        </p:nvSpPr>
        <p:spPr>
          <a:xfrm>
            <a:off x="457200" y="1042416"/>
            <a:ext cx="548640" cy="411480"/>
          </a:xfrm>
          <a:prstGeom prst="rect">
            <a:avLst/>
          </a:prstGeom>
          <a:noFill/>
          <a:ln/>
        </p:spPr>
        <p:txBody>
          <a:bodyPr wrap="square" lIns="0" tIns="0" rIns="0" bIns="0" rtlCol="0" anchor="t"/>
          <a:lstStyle/>
          <a:p>
            <a:pPr indent="0" marL="0">
              <a:buNone/>
            </a:pPr>
            <a:r>
              <a:rPr lang="en-US" sz="1800" i="1" dirty="0">
                <a:solidFill>
                  <a:srgbClr val="D9482B"/>
                </a:solidFill>
                <a:latin typeface="Georgia" pitchFamily="34" charset="0"/>
                <a:ea typeface="Georgia" pitchFamily="34" charset="-122"/>
                <a:cs typeface="Georgia" pitchFamily="34" charset="-120"/>
              </a:rPr>
              <a:t>i</a:t>
            </a:r>
            <a:endParaRPr lang="en-US" sz="1800" dirty="0"/>
          </a:p>
        </p:txBody>
      </p:sp>
      <p:sp>
        <p:nvSpPr>
          <p:cNvPr id="5" name="Text 3"/>
          <p:cNvSpPr/>
          <p:nvPr/>
        </p:nvSpPr>
        <p:spPr>
          <a:xfrm>
            <a:off x="1097280" y="1042416"/>
            <a:ext cx="7498080" cy="411480"/>
          </a:xfrm>
          <a:prstGeom prst="rect">
            <a:avLst/>
          </a:prstGeom>
          <a:noFill/>
          <a:ln/>
        </p:spPr>
        <p:txBody>
          <a:bodyPr wrap="square" lIns="0" tIns="0" rIns="0" bIns="0" rtlCol="0" anchor="t"/>
          <a:lstStyle/>
          <a:p>
            <a:pPr indent="0" marL="0">
              <a:buNone/>
            </a:pPr>
            <a:r>
              <a:rPr lang="en-US" sz="1800" dirty="0">
                <a:solidFill>
                  <a:srgbClr val="F3EFE6"/>
                </a:solidFill>
                <a:latin typeface="Georgia" pitchFamily="34" charset="0"/>
                <a:ea typeface="Georgia" pitchFamily="34" charset="-122"/>
                <a:cs typeface="Georgia" pitchFamily="34" charset="-120"/>
              </a:rPr>
              <a:t>A reproducible benchmark script and configuration manifest</a:t>
            </a:r>
            <a:endParaRPr lang="en-US" sz="1800" dirty="0"/>
          </a:p>
        </p:txBody>
      </p:sp>
      <p:sp>
        <p:nvSpPr>
          <p:cNvPr id="6" name="Shape 4"/>
          <p:cNvSpPr/>
          <p:nvPr/>
        </p:nvSpPr>
        <p:spPr>
          <a:xfrm>
            <a:off x="457200" y="1600200"/>
            <a:ext cx="8229600" cy="0"/>
          </a:xfrm>
          <a:prstGeom prst="line">
            <a:avLst/>
          </a:prstGeom>
          <a:noFill/>
          <a:ln w="6350">
            <a:solidFill>
              <a:srgbClr val="3A3833"/>
            </a:solidFill>
            <a:prstDash val="solid"/>
          </a:ln>
        </p:spPr>
      </p:sp>
      <p:sp>
        <p:nvSpPr>
          <p:cNvPr id="7" name="Text 5"/>
          <p:cNvSpPr/>
          <p:nvPr/>
        </p:nvSpPr>
        <p:spPr>
          <a:xfrm>
            <a:off x="457200" y="1728216"/>
            <a:ext cx="548640" cy="411480"/>
          </a:xfrm>
          <a:prstGeom prst="rect">
            <a:avLst/>
          </a:prstGeom>
          <a:noFill/>
          <a:ln/>
        </p:spPr>
        <p:txBody>
          <a:bodyPr wrap="square" lIns="0" tIns="0" rIns="0" bIns="0" rtlCol="0" anchor="t"/>
          <a:lstStyle/>
          <a:p>
            <a:pPr indent="0" marL="0">
              <a:buNone/>
            </a:pPr>
            <a:r>
              <a:rPr lang="en-US" sz="1800" i="1" dirty="0">
                <a:solidFill>
                  <a:srgbClr val="D9482B"/>
                </a:solidFill>
                <a:latin typeface="Georgia" pitchFamily="34" charset="0"/>
                <a:ea typeface="Georgia" pitchFamily="34" charset="-122"/>
                <a:cs typeface="Georgia" pitchFamily="34" charset="-120"/>
              </a:rPr>
              <a:t>ii</a:t>
            </a:r>
            <a:endParaRPr lang="en-US" sz="1800" dirty="0"/>
          </a:p>
        </p:txBody>
      </p:sp>
      <p:sp>
        <p:nvSpPr>
          <p:cNvPr id="8" name="Text 6"/>
          <p:cNvSpPr/>
          <p:nvPr/>
        </p:nvSpPr>
        <p:spPr>
          <a:xfrm>
            <a:off x="1097280" y="1728216"/>
            <a:ext cx="7498080" cy="411480"/>
          </a:xfrm>
          <a:prstGeom prst="rect">
            <a:avLst/>
          </a:prstGeom>
          <a:noFill/>
          <a:ln/>
        </p:spPr>
        <p:txBody>
          <a:bodyPr wrap="square" lIns="0" tIns="0" rIns="0" bIns="0" rtlCol="0" anchor="t"/>
          <a:lstStyle/>
          <a:p>
            <a:pPr indent="0" marL="0">
              <a:buNone/>
            </a:pPr>
            <a:r>
              <a:rPr lang="en-US" sz="1800" dirty="0">
                <a:solidFill>
                  <a:srgbClr val="F3EFE6"/>
                </a:solidFill>
                <a:latin typeface="Georgia" pitchFamily="34" charset="0"/>
                <a:ea typeface="Georgia" pitchFamily="34" charset="-122"/>
                <a:cs typeface="Georgia" pitchFamily="34" charset="-120"/>
              </a:rPr>
              <a:t>Hardware-specific Pareto plots and rank-agreement statistics</a:t>
            </a:r>
            <a:endParaRPr lang="en-US" sz="1800" dirty="0"/>
          </a:p>
        </p:txBody>
      </p:sp>
      <p:sp>
        <p:nvSpPr>
          <p:cNvPr id="9" name="Shape 7"/>
          <p:cNvSpPr/>
          <p:nvPr/>
        </p:nvSpPr>
        <p:spPr>
          <a:xfrm>
            <a:off x="457200" y="2286000"/>
            <a:ext cx="8229600" cy="0"/>
          </a:xfrm>
          <a:prstGeom prst="line">
            <a:avLst/>
          </a:prstGeom>
          <a:noFill/>
          <a:ln w="6350">
            <a:solidFill>
              <a:srgbClr val="3A3833"/>
            </a:solidFill>
            <a:prstDash val="solid"/>
          </a:ln>
        </p:spPr>
      </p:sp>
      <p:sp>
        <p:nvSpPr>
          <p:cNvPr id="10" name="Text 8"/>
          <p:cNvSpPr/>
          <p:nvPr/>
        </p:nvSpPr>
        <p:spPr>
          <a:xfrm>
            <a:off x="457200" y="2414016"/>
            <a:ext cx="548640" cy="411480"/>
          </a:xfrm>
          <a:prstGeom prst="rect">
            <a:avLst/>
          </a:prstGeom>
          <a:noFill/>
          <a:ln/>
        </p:spPr>
        <p:txBody>
          <a:bodyPr wrap="square" lIns="0" tIns="0" rIns="0" bIns="0" rtlCol="0" anchor="t"/>
          <a:lstStyle/>
          <a:p>
            <a:pPr indent="0" marL="0">
              <a:buNone/>
            </a:pPr>
            <a:r>
              <a:rPr lang="en-US" sz="1800" i="1" dirty="0">
                <a:solidFill>
                  <a:srgbClr val="D9482B"/>
                </a:solidFill>
                <a:latin typeface="Georgia" pitchFamily="34" charset="0"/>
                <a:ea typeface="Georgia" pitchFamily="34" charset="-122"/>
                <a:cs typeface="Georgia" pitchFamily="34" charset="-120"/>
              </a:rPr>
              <a:t>iii</a:t>
            </a:r>
            <a:endParaRPr lang="en-US" sz="1800" dirty="0"/>
          </a:p>
        </p:txBody>
      </p:sp>
      <p:sp>
        <p:nvSpPr>
          <p:cNvPr id="11" name="Text 9"/>
          <p:cNvSpPr/>
          <p:nvPr/>
        </p:nvSpPr>
        <p:spPr>
          <a:xfrm>
            <a:off x="1097280" y="2414016"/>
            <a:ext cx="7498080" cy="411480"/>
          </a:xfrm>
          <a:prstGeom prst="rect">
            <a:avLst/>
          </a:prstGeom>
          <a:noFill/>
          <a:ln/>
        </p:spPr>
        <p:txBody>
          <a:bodyPr wrap="square" lIns="0" tIns="0" rIns="0" bIns="0" rtlCol="0" anchor="t"/>
          <a:lstStyle/>
          <a:p>
            <a:pPr indent="0" marL="0">
              <a:buNone/>
            </a:pPr>
            <a:r>
              <a:rPr lang="en-US" sz="1800" dirty="0">
                <a:solidFill>
                  <a:srgbClr val="F3EFE6"/>
                </a:solidFill>
                <a:latin typeface="Georgia" pitchFamily="34" charset="0"/>
                <a:ea typeface="Georgia" pitchFamily="34" charset="-122"/>
                <a:cs typeface="Georgia" pitchFamily="34" charset="-120"/>
              </a:rPr>
              <a:t>Evidence-based guidance on when NFE is a trustworthy proxy</a:t>
            </a:r>
            <a:endParaRPr lang="en-US" sz="1800" dirty="0"/>
          </a:p>
        </p:txBody>
      </p:sp>
      <p:sp>
        <p:nvSpPr>
          <p:cNvPr id="12" name="Shape 10"/>
          <p:cNvSpPr/>
          <p:nvPr/>
        </p:nvSpPr>
        <p:spPr>
          <a:xfrm>
            <a:off x="457200" y="2971800"/>
            <a:ext cx="8229600" cy="0"/>
          </a:xfrm>
          <a:prstGeom prst="line">
            <a:avLst/>
          </a:prstGeom>
          <a:noFill/>
          <a:ln w="6350">
            <a:solidFill>
              <a:srgbClr val="3A3833"/>
            </a:solidFill>
            <a:prstDash val="solid"/>
          </a:ln>
        </p:spPr>
      </p:sp>
      <p:sp>
        <p:nvSpPr>
          <p:cNvPr id="13" name="Text 11"/>
          <p:cNvSpPr/>
          <p:nvPr/>
        </p:nvSpPr>
        <p:spPr>
          <a:xfrm>
            <a:off x="457200" y="3200400"/>
            <a:ext cx="7772400" cy="640080"/>
          </a:xfrm>
          <a:prstGeom prst="rect">
            <a:avLst/>
          </a:prstGeom>
          <a:noFill/>
          <a:ln/>
        </p:spPr>
        <p:txBody>
          <a:bodyPr wrap="square" lIns="0" tIns="0" rIns="0" bIns="0" rtlCol="0" anchor="t"/>
          <a:lstStyle/>
          <a:p>
            <a:pPr indent="0" marL="0">
              <a:buNone/>
            </a:pPr>
            <a:r>
              <a:rPr lang="en-US" sz="1250" dirty="0">
                <a:solidFill>
                  <a:srgbClr val="B8B2A6"/>
                </a:solidFill>
                <a:latin typeface="Arial" pitchFamily="34" charset="0"/>
                <a:ea typeface="Arial" pitchFamily="34" charset="-122"/>
                <a:cs typeface="Arial" pitchFamily="34" charset="-120"/>
              </a:rPr>
              <a:t>Either outcome is informative: stable rankings validate NFE; unstable ones mean efficiency claims need their hardware attached.</a:t>
            </a:r>
            <a:endParaRPr lang="en-US" sz="1250" dirty="0"/>
          </a:p>
        </p:txBody>
      </p:sp>
      <p:sp>
        <p:nvSpPr>
          <p:cNvPr id="14" name="Text 12"/>
          <p:cNvSpPr/>
          <p:nvPr/>
        </p:nvSpPr>
        <p:spPr>
          <a:xfrm>
            <a:off x="457200" y="4114800"/>
            <a:ext cx="4572000" cy="548640"/>
          </a:xfrm>
          <a:prstGeom prst="rect">
            <a:avLst/>
          </a:prstGeom>
          <a:noFill/>
          <a:ln/>
        </p:spPr>
        <p:txBody>
          <a:bodyPr wrap="square" lIns="0" tIns="0" rIns="0" bIns="0" rtlCol="0" anchor="t"/>
          <a:lstStyle/>
          <a:p>
            <a:pPr indent="0" marL="0">
              <a:buNone/>
            </a:pPr>
            <a:r>
              <a:rPr lang="en-US" sz="2800" i="1" dirty="0">
                <a:solidFill>
                  <a:srgbClr val="F3EFE6"/>
                </a:solidFill>
                <a:latin typeface="Georgia" pitchFamily="34" charset="0"/>
                <a:ea typeface="Georgia" pitchFamily="34" charset="-122"/>
                <a:cs typeface="Georgia" pitchFamily="34" charset="-120"/>
              </a:rPr>
              <a:t>Questions?</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Does Hardware Change Which Generative Model Is Efficient?</dc:title>
  <dc:subject>PptxGenJS Presentation</dc:subject>
  <dc:creator>Iason-Daniil Zakynthinos</dc:creator>
  <cp:lastModifiedBy>Iason-Daniil Zakynthinos</cp:lastModifiedBy>
  <cp:revision>1</cp:revision>
  <dcterms:created xsi:type="dcterms:W3CDTF">2026-10-27T11:08:59Z</dcterms:created>
  <dcterms:modified xsi:type="dcterms:W3CDTF">2026-10-27T11:08:59Z</dcterms:modified>
</cp:coreProperties>
</file>